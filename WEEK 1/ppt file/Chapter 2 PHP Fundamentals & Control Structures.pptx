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98" r:id="rId1"/>
  </p:sldMasterIdLst>
  <p:notesMasterIdLst>
    <p:notesMasterId r:id="rId45"/>
  </p:notesMasterIdLst>
  <p:sldIdLst>
    <p:sldId id="296" r:id="rId2"/>
    <p:sldId id="324" r:id="rId3"/>
    <p:sldId id="338" r:id="rId4"/>
    <p:sldId id="269" r:id="rId5"/>
    <p:sldId id="257" r:id="rId6"/>
    <p:sldId id="308" r:id="rId7"/>
    <p:sldId id="271" r:id="rId8"/>
    <p:sldId id="258" r:id="rId9"/>
    <p:sldId id="259" r:id="rId10"/>
    <p:sldId id="260" r:id="rId11"/>
    <p:sldId id="261" r:id="rId12"/>
    <p:sldId id="298" r:id="rId13"/>
    <p:sldId id="265" r:id="rId14"/>
    <p:sldId id="309" r:id="rId15"/>
    <p:sldId id="266" r:id="rId16"/>
    <p:sldId id="267" r:id="rId17"/>
    <p:sldId id="300" r:id="rId18"/>
    <p:sldId id="283" r:id="rId19"/>
    <p:sldId id="302" r:id="rId20"/>
    <p:sldId id="305" r:id="rId21"/>
    <p:sldId id="306" r:id="rId22"/>
    <p:sldId id="280" r:id="rId23"/>
    <p:sldId id="311" r:id="rId24"/>
    <p:sldId id="312" r:id="rId25"/>
    <p:sldId id="314" r:id="rId26"/>
    <p:sldId id="286" r:id="rId27"/>
    <p:sldId id="316" r:id="rId28"/>
    <p:sldId id="320" r:id="rId29"/>
    <p:sldId id="321" r:id="rId30"/>
    <p:sldId id="270" r:id="rId31"/>
    <p:sldId id="323" r:id="rId32"/>
    <p:sldId id="325" r:id="rId33"/>
    <p:sldId id="274" r:id="rId34"/>
    <p:sldId id="275" r:id="rId35"/>
    <p:sldId id="326" r:id="rId36"/>
    <p:sldId id="327" r:id="rId37"/>
    <p:sldId id="330" r:id="rId38"/>
    <p:sldId id="285" r:id="rId39"/>
    <p:sldId id="290" r:id="rId40"/>
    <p:sldId id="291" r:id="rId41"/>
    <p:sldId id="292" r:id="rId42"/>
    <p:sldId id="331" r:id="rId43"/>
    <p:sldId id="337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247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EE8E0B-6CD5-1707-14F1-22DF548AF0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8184A-AF6D-62AC-E07E-C0A6FC36F9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9F7C58B-C1DD-46CB-AA7C-40DC54EF062F}" type="datetimeFigureOut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EF222FD-0122-3349-86D2-37C8ABE08A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53F9B1F-6BAB-E55A-0408-E3865B0D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B786A-570B-1B71-0111-BAFA4D6130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C7030-81C5-2539-7E8A-54109A81C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21EBDE7-1F0F-4DAC-A8E6-5975C31B89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e43ea6668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ee43ea6668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You’ll learn basic PHP syntax, including case sensitivity, statements, and whitespaces.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5700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You’ll learn basic PHP syntax, including case sensitivity, statements, and whitespaces.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EBDE7-1F0F-4DAC-A8E6-5975C31B8996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8274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If a variable name must comprise more than one word, a good idea is to use Snake case ($</a:t>
            </a:r>
            <a:r>
              <a:rPr lang="en-US" sz="1200" dirty="0" err="1"/>
              <a:t>user_name</a:t>
            </a:r>
            <a:r>
              <a:rPr lang="en-US" sz="1200" dirty="0"/>
              <a:t>), Camel case ($</a:t>
            </a:r>
            <a:r>
              <a:rPr lang="en-US" sz="1200" dirty="0" err="1"/>
              <a:t>userName</a:t>
            </a:r>
            <a:r>
              <a:rPr lang="en-US" sz="1200" dirty="0"/>
              <a:t>), or Pascal case ($</a:t>
            </a:r>
            <a:r>
              <a:rPr lang="en-US" sz="1200" dirty="0" err="1"/>
              <a:t>UserName</a:t>
            </a:r>
            <a:r>
              <a:rPr lang="en-US" sz="1200" dirty="0"/>
              <a:t>). </a:t>
            </a:r>
            <a:r>
              <a:rPr lang="en-US" sz="1200" dirty="0">
                <a:solidFill>
                  <a:srgbClr val="C00000"/>
                </a:solidFill>
              </a:rPr>
              <a:t>Kebab case ($user-name) is not allowed in PHP</a:t>
            </a:r>
            <a:r>
              <a:rPr lang="en-US" sz="1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EBDE7-1F0F-4DAC-A8E6-5975C31B8996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211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4B49C7F-68D7-47E9-A89C-2FC5EC86D1D1}" type="slidenum">
              <a:rPr lang="en-US" altLang="en-US" smtClean="0">
                <a:latin typeface="Tw Cen MT" panose="020B06020201040206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>
              <a:latin typeface="Tw Cen MT" panose="020B0602020104020603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82816B-CA6D-4649-8AA6-D10C0850E1BC}" type="slidenum">
              <a:rPr lang="en-US" altLang="en-US" smtClean="0">
                <a:latin typeface="Tw Cen MT" panose="020B0602020104020603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en-US">
              <a:latin typeface="Tw Cen MT" panose="020B0602020104020603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3997533"/>
            <a:ext cx="12192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0600" y="2743200"/>
            <a:ext cx="10830800" cy="10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17189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600"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202399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397157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5455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25536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7300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497704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03894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15600" y="5649100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50840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321967"/>
            <a:ext cx="11360800" cy="25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8666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415600" y="4095067"/>
            <a:ext cx="113608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31066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745C288-7C20-4EE1-8BE9-D030656F442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214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CB2AB-CD2F-419F-BAF4-6E4E7489C21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5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33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33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33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33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33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33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33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33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EFF30467-A154-4FDC-AF04-92CCEF6540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04545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00" r:id="rId1"/>
    <p:sldLayoutId id="2147484101" r:id="rId2"/>
    <p:sldLayoutId id="2147484102" r:id="rId3"/>
    <p:sldLayoutId id="2147484103" r:id="rId4"/>
    <p:sldLayoutId id="2147484104" r:id="rId5"/>
    <p:sldLayoutId id="2147484105" r:id="rId6"/>
    <p:sldLayoutId id="2147484106" r:id="rId7"/>
    <p:sldLayoutId id="2147484107" r:id="rId8"/>
    <p:sldLayoutId id="2147484108" r:id="rId9"/>
    <p:sldLayoutId id="2147484109" r:id="rId10"/>
    <p:sldLayoutId id="214748411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693868" y="1993392"/>
            <a:ext cx="10804264" cy="204825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ctr"/>
            <a:r>
              <a:rPr lang="en-US" altLang="en-US" b="1" dirty="0"/>
              <a:t>CHAPTER 2</a:t>
            </a:r>
            <a:br>
              <a:rPr lang="en-US" altLang="en-US" b="1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708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D677833-06EE-63B8-DC97-BC4A2CDD65B1}"/>
              </a:ext>
            </a:extLst>
          </p:cNvPr>
          <p:cNvSpPr/>
          <p:nvPr/>
        </p:nvSpPr>
        <p:spPr>
          <a:xfrm>
            <a:off x="3348628" y="155107"/>
            <a:ext cx="4807974" cy="764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Popin"/>
              </a:rPr>
              <a:t>Chapter  2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EC203-7727-5745-742D-FE9C3DAF449F}"/>
              </a:ext>
            </a:extLst>
          </p:cNvPr>
          <p:cNvSpPr/>
          <p:nvPr/>
        </p:nvSpPr>
        <p:spPr>
          <a:xfrm>
            <a:off x="1828978" y="1164244"/>
            <a:ext cx="9384579" cy="1747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Popin"/>
              </a:rPr>
              <a:t>PHP Fundamentals &amp; Control Structures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03B7AB-EE0B-5FD7-F70A-D87FCF423C96}"/>
              </a:ext>
            </a:extLst>
          </p:cNvPr>
          <p:cNvSpPr/>
          <p:nvPr/>
        </p:nvSpPr>
        <p:spPr>
          <a:xfrm>
            <a:off x="155724" y="3095639"/>
            <a:ext cx="11731475" cy="11744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Popin"/>
              </a:rPr>
              <a:t>Lecturer. 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Popin"/>
              </a:rPr>
              <a:t>Yahye Ali Isse</a:t>
            </a:r>
          </a:p>
          <a:p>
            <a:pPr algn="ctr"/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Popin"/>
              </a:rPr>
              <a:t>MSc of science in data science</a:t>
            </a:r>
          </a:p>
          <a:p>
            <a:pPr algn="ctr"/>
            <a:endParaRPr lang="en-US" sz="2400" dirty="0">
              <a:solidFill>
                <a:schemeClr val="accent1">
                  <a:lumMod val="50000"/>
                </a:schemeClr>
              </a:solidFill>
              <a:latin typeface="Popi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266B86-F406-22C5-4D2B-A42654748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284" y="4638385"/>
            <a:ext cx="4237318" cy="1268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641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EC2E-4914-A913-6A81-1D1DA5A3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9B05-561F-DB76-E0F7-23BCD029C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637" y="1332722"/>
            <a:ext cx="6205917" cy="520579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Introduction to PHP Programming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PHP Syntax and Statements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PHP Output: echo and print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Comments and Coding Style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Variables and Variable Naming Rules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PHP Data Types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Constants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PHP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DD6A3-2A5A-F100-AFF9-70C80D8F54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AA8136C-AE4E-4D5A-8564-755E5B632BB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C36F31-6293-73A3-E8E3-83B785928749}"/>
              </a:ext>
            </a:extLst>
          </p:cNvPr>
          <p:cNvSpPr txBox="1">
            <a:spLocks/>
          </p:cNvSpPr>
          <p:nvPr/>
        </p:nvSpPr>
        <p:spPr bwMode="auto">
          <a:xfrm>
            <a:off x="6508243" y="1570136"/>
            <a:ext cx="5154168" cy="4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585" indent="-45718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-US" sz="3200" dirty="0">
                <a:solidFill>
                  <a:schemeClr val="accent3"/>
                </a:solidFill>
                <a:latin typeface="Proxima Nova"/>
                <a:sym typeface="Proxima Nova"/>
              </a:rPr>
              <a:t>Conditional Statements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-US" sz="3200" dirty="0">
                <a:solidFill>
                  <a:schemeClr val="accent3"/>
                </a:solidFill>
                <a:latin typeface="Proxima Nova"/>
                <a:sym typeface="Proxima Nova"/>
              </a:rPr>
              <a:t>Loop Control Structures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-US" sz="3200" dirty="0">
                <a:solidFill>
                  <a:schemeClr val="accent3"/>
                </a:solidFill>
                <a:latin typeface="Proxima Nova"/>
                <a:sym typeface="Proxima Nova"/>
              </a:rPr>
              <a:t>for Loop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-US" sz="3200" dirty="0">
                <a:solidFill>
                  <a:srgbClr val="0070C0"/>
                </a:solidFill>
              </a:rPr>
              <a:t>break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accent3"/>
                </a:solidFill>
                <a:latin typeface="Proxima Nova"/>
                <a:sym typeface="Proxima Nova"/>
              </a:rPr>
              <a:t>and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070C0"/>
                </a:solidFill>
              </a:rPr>
              <a:t>continue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accent3"/>
                </a:solidFill>
                <a:latin typeface="Proxima Nova"/>
                <a:sym typeface="Proxima Nova"/>
              </a:rPr>
              <a:t>Statements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-US" sz="3200" dirty="0">
                <a:solidFill>
                  <a:schemeClr val="accent3"/>
                </a:solidFill>
                <a:latin typeface="Proxima Nova"/>
                <a:sym typeface="Proxima Nova"/>
              </a:rPr>
              <a:t>Nested Loops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64ED24-4A63-E236-C975-7A932CE84FDF}"/>
              </a:ext>
            </a:extLst>
          </p:cNvPr>
          <p:cNvGrpSpPr/>
          <p:nvPr/>
        </p:nvGrpSpPr>
        <p:grpSpPr>
          <a:xfrm>
            <a:off x="0" y="0"/>
            <a:ext cx="12192000" cy="1135529"/>
            <a:chOff x="0" y="0"/>
            <a:chExt cx="12192000" cy="11355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F98598-BD9A-6838-B2A9-8D7F65653B1A}"/>
                </a:ext>
              </a:extLst>
            </p:cNvPr>
            <p:cNvSpPr/>
            <p:nvPr/>
          </p:nvSpPr>
          <p:spPr>
            <a:xfrm>
              <a:off x="0" y="0"/>
              <a:ext cx="12192000" cy="1135529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70F07B-311C-5A1F-A4B7-40E3E1DC5EA5}"/>
                </a:ext>
              </a:extLst>
            </p:cNvPr>
            <p:cNvSpPr txBox="1"/>
            <p:nvPr/>
          </p:nvSpPr>
          <p:spPr>
            <a:xfrm>
              <a:off x="3095810" y="233085"/>
              <a:ext cx="45899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kern="1200" spc="-5" dirty="0">
                  <a:solidFill>
                    <a:srgbClr val="FFC000"/>
                  </a:solidFill>
                  <a:latin typeface="Calibri" panose="020F0502020204030204"/>
                  <a:ea typeface="+mn-ea"/>
                  <a:cs typeface="+mn-cs"/>
                </a:rPr>
                <a:t>Chapter Outlines</a:t>
              </a:r>
            </a:p>
          </p:txBody>
        </p:sp>
        <p:pic>
          <p:nvPicPr>
            <p:cNvPr id="11" name="object 3">
              <a:extLst>
                <a:ext uri="{FF2B5EF4-FFF2-40B4-BE49-F238E27FC236}">
                  <a16:creationId xmlns:a16="http://schemas.microsoft.com/office/drawing/2014/main" id="{FC59E1A2-C85D-10C7-12D8-66856C5D40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7176" y="103356"/>
              <a:ext cx="1029430" cy="1020942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1034700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3E961C98-3C44-9E31-CE2A-123D67CCA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416" y="1286796"/>
            <a:ext cx="12105584" cy="467471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3600" dirty="0"/>
              <a:t>PHP borrows a bit of its syntax from other languages such as C and Java. It is really a hybrid language, taking the best features from other languages and creating an easy-to-use and powerful scripting language.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3600" dirty="0"/>
              <a:t>By default, PHP documents end with the extension .</a:t>
            </a:r>
            <a:r>
              <a:rPr lang="en-US" altLang="en-US" sz="3600" dirty="0" err="1"/>
              <a:t>php</a:t>
            </a:r>
            <a:endParaRPr lang="en-US" altLang="en-US" sz="3600" dirty="0"/>
          </a:p>
          <a:p>
            <a:pPr>
              <a:spcAft>
                <a:spcPts val="600"/>
              </a:spcAft>
            </a:pPr>
            <a:r>
              <a:rPr lang="en-GB" dirty="0"/>
              <a:t>When a web server encounters with documents ending with .</a:t>
            </a:r>
            <a:r>
              <a:rPr lang="en-GB" dirty="0" err="1"/>
              <a:t>php</a:t>
            </a:r>
            <a:r>
              <a:rPr lang="en-GB" dirty="0"/>
              <a:t> extension, it automatically passes it to the PHP processor.</a:t>
            </a:r>
          </a:p>
        </p:txBody>
      </p:sp>
      <p:sp>
        <p:nvSpPr>
          <p:cNvPr id="19460" name="Slide Number Placeholder 2">
            <a:extLst>
              <a:ext uri="{FF2B5EF4-FFF2-40B4-BE49-F238E27FC236}">
                <a16:creationId xmlns:a16="http://schemas.microsoft.com/office/drawing/2014/main" id="{B7235A7F-F765-8132-BDBC-01A68AC1021E}"/>
              </a:ext>
            </a:extLst>
          </p:cNvPr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9F3B5D7-48AF-42A9-8944-2280F27E8241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B296CC-BC20-70E2-3A8F-971A7135CA0D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F458D1-E8C7-2D20-0A66-0E3536CB1BFE}"/>
              </a:ext>
            </a:extLst>
          </p:cNvPr>
          <p:cNvSpPr txBox="1"/>
          <p:nvPr/>
        </p:nvSpPr>
        <p:spPr>
          <a:xfrm>
            <a:off x="3095810" y="233085"/>
            <a:ext cx="4589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BAA8480B-CE5C-CB4E-07CA-5EC4F56E8B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0" y="1257203"/>
            <a:ext cx="12192000" cy="4960420"/>
          </a:xfrm>
        </p:spPr>
        <p:txBody>
          <a:bodyPr>
            <a:normAutofit/>
          </a:bodyPr>
          <a:lstStyle/>
          <a:p>
            <a:r>
              <a:rPr lang="en-US" sz="3200" dirty="0"/>
              <a:t>PHP files are mixtures of three things, namely </a:t>
            </a:r>
            <a:r>
              <a:rPr lang="en-US" sz="3200" dirty="0">
                <a:solidFill>
                  <a:srgbClr val="0070C0"/>
                </a:solidFill>
              </a:rPr>
              <a:t>contents(Text)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C00000"/>
                </a:solidFill>
              </a:rPr>
              <a:t>HTML code</a:t>
            </a:r>
            <a:r>
              <a:rPr lang="en-US" sz="3200" dirty="0"/>
              <a:t>, and </a:t>
            </a:r>
            <a:r>
              <a:rPr lang="en-US" sz="3200" dirty="0">
                <a:solidFill>
                  <a:srgbClr val="00B050"/>
                </a:solidFill>
              </a:rPr>
              <a:t>PHP script</a:t>
            </a:r>
            <a:r>
              <a:rPr lang="en-US" sz="3200" dirty="0"/>
              <a:t>. </a:t>
            </a:r>
          </a:p>
          <a:p>
            <a:r>
              <a:rPr lang="en-US" sz="3200" dirty="0"/>
              <a:t>Files containing PHP script are different from files that contain only HTML, and in order to identify them to the PHP engine, </a:t>
            </a:r>
            <a:r>
              <a:rPr lang="en-US" sz="3200" dirty="0">
                <a:solidFill>
                  <a:srgbClr val="0070C0"/>
                </a:solidFill>
              </a:rPr>
              <a:t>they are saved with the </a:t>
            </a:r>
            <a:r>
              <a:rPr lang="en-US" sz="3200" b="1" dirty="0">
                <a:solidFill>
                  <a:srgbClr val="0070C0"/>
                </a:solidFill>
              </a:rPr>
              <a:t>.</a:t>
            </a:r>
            <a:r>
              <a:rPr lang="en-US" sz="3200" b="1" dirty="0" err="1">
                <a:solidFill>
                  <a:srgbClr val="0070C0"/>
                </a:solidFill>
              </a:rPr>
              <a:t>php</a:t>
            </a:r>
            <a:r>
              <a:rPr lang="en-US" sz="3200" dirty="0">
                <a:solidFill>
                  <a:srgbClr val="0070C0"/>
                </a:solidFill>
              </a:rPr>
              <a:t> suffix</a:t>
            </a:r>
            <a:r>
              <a:rPr lang="en-US" sz="3200" dirty="0"/>
              <a:t>. </a:t>
            </a:r>
          </a:p>
          <a:p>
            <a:r>
              <a:rPr lang="en-US" sz="3200" dirty="0"/>
              <a:t>A PHP file can’t be stored just anywhere. </a:t>
            </a:r>
            <a:r>
              <a:rPr lang="en-US" sz="3200" dirty="0">
                <a:solidFill>
                  <a:srgbClr val="0070C0"/>
                </a:solidFill>
              </a:rPr>
              <a:t>You need to place it under the root directory of your web server (C:/</a:t>
            </a:r>
            <a:r>
              <a:rPr lang="en-US" sz="3200" dirty="0" err="1">
                <a:solidFill>
                  <a:srgbClr val="0070C0"/>
                </a:solidFill>
              </a:rPr>
              <a:t>xampp</a:t>
            </a:r>
            <a:r>
              <a:rPr lang="en-US" sz="3200" dirty="0">
                <a:solidFill>
                  <a:srgbClr val="0070C0"/>
                </a:solidFill>
              </a:rPr>
              <a:t>/htdocs)</a:t>
            </a:r>
            <a:r>
              <a:rPr lang="en-US" sz="32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F84FE4-4626-8A3E-A790-2D0303FA3DEB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8DCBEA-9B37-F721-E85D-0EFE87DB8411}"/>
              </a:ext>
            </a:extLst>
          </p:cNvPr>
          <p:cNvSpPr txBox="1"/>
          <p:nvPr/>
        </p:nvSpPr>
        <p:spPr>
          <a:xfrm>
            <a:off x="3095810" y="233085"/>
            <a:ext cx="4589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E3812A7-C78E-F5E7-310B-1846D9AE65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872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27B58ED-2625-A2F4-0875-D7DCE728F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091" y="1238885"/>
            <a:ext cx="11360800" cy="4555200"/>
          </a:xfrm>
        </p:spPr>
        <p:txBody>
          <a:bodyPr/>
          <a:lstStyle/>
          <a:p>
            <a:pPr eaLnBrk="1" hangingPunct="1"/>
            <a:r>
              <a:rPr lang="en-US" altLang="en-US" dirty="0"/>
              <a:t>Save this as </a:t>
            </a:r>
            <a:r>
              <a:rPr lang="en-US" altLang="en-US" dirty="0" err="1"/>
              <a:t>Index.php</a:t>
            </a:r>
            <a:r>
              <a:rPr lang="en-US" altLang="en-US" dirty="0"/>
              <a:t>, change </a:t>
            </a:r>
            <a:r>
              <a:rPr lang="en-US" altLang="en-US" b="1" i="1" dirty="0"/>
              <a:t>Save as type</a:t>
            </a:r>
            <a:r>
              <a:rPr lang="en-US" altLang="en-US" dirty="0"/>
              <a:t> to </a:t>
            </a:r>
            <a:r>
              <a:rPr lang="en-US" altLang="en-US" b="1" i="1" dirty="0"/>
              <a:t>All Files</a:t>
            </a:r>
            <a:r>
              <a:rPr lang="en-US" altLang="en-US" dirty="0"/>
              <a:t>, in the root directory (C:\</a:t>
            </a:r>
            <a:r>
              <a:rPr lang="en-US" altLang="en-US" dirty="0" err="1"/>
              <a:t>xamp</a:t>
            </a:r>
            <a:r>
              <a:rPr lang="en-US" altLang="en-US" dirty="0"/>
              <a:t>\</a:t>
            </a:r>
            <a:r>
              <a:rPr lang="en-US" altLang="en-US" dirty="0" err="1"/>
              <a:t>htdocs</a:t>
            </a:r>
            <a:r>
              <a:rPr lang="en-US" altLang="en-US" dirty="0"/>
              <a:t>) or  (C:\</a:t>
            </a:r>
            <a:r>
              <a:rPr lang="en-US" altLang="en-US" dirty="0" err="1"/>
              <a:t>wamp</a:t>
            </a:r>
            <a:r>
              <a:rPr lang="en-US" altLang="en-US" dirty="0"/>
              <a:t>\www) of your web server.</a:t>
            </a:r>
          </a:p>
          <a:p>
            <a:pPr eaLnBrk="1" hangingPunct="1"/>
            <a:r>
              <a:rPr lang="en-US" altLang="en-US" dirty="0"/>
              <a:t>Next, ensure that the </a:t>
            </a:r>
            <a:r>
              <a:rPr lang="en-US" altLang="en-US" b="1" dirty="0"/>
              <a:t>server is running </a:t>
            </a:r>
            <a:r>
              <a:rPr lang="en-US" altLang="en-US" dirty="0"/>
              <a:t>and type in the full URL of your web server and web page, mine would be </a:t>
            </a:r>
            <a:r>
              <a:rPr lang="en-US" altLang="en-US" b="1" dirty="0"/>
              <a:t>http://localhost/Index.php</a:t>
            </a:r>
            <a:r>
              <a:rPr lang="en-US" altLang="en-US" dirty="0"/>
              <a:t>. </a:t>
            </a:r>
          </a:p>
        </p:txBody>
      </p:sp>
      <p:sp>
        <p:nvSpPr>
          <p:cNvPr id="22532" name="Slide Number Placeholder 2">
            <a:extLst>
              <a:ext uri="{FF2B5EF4-FFF2-40B4-BE49-F238E27FC236}">
                <a16:creationId xmlns:a16="http://schemas.microsoft.com/office/drawing/2014/main" id="{EDCE5234-D2EE-91EE-AB03-82AD2EA89F59}"/>
              </a:ext>
            </a:extLst>
          </p:cNvPr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77F012F-6794-453D-BD7B-54096067BE49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EEA261-C53A-E9BD-95C4-B7F9B1155715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CABC6F-8389-9903-AE69-75D879A625FE}"/>
              </a:ext>
            </a:extLst>
          </p:cNvPr>
          <p:cNvSpPr txBox="1"/>
          <p:nvPr/>
        </p:nvSpPr>
        <p:spPr>
          <a:xfrm>
            <a:off x="3095810" y="233085"/>
            <a:ext cx="4589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1D0791EA-9D01-BC44-4CED-B1F2BAF32B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3345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2B34E-9F4E-DBCB-A182-BA6C6FBFF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090" y="1357382"/>
            <a:ext cx="11875515" cy="5061705"/>
          </a:xfrm>
        </p:spPr>
        <p:txBody>
          <a:bodyPr rtlCol="0">
            <a:normAutofit fontScale="92500" lnSpcReduction="10000"/>
          </a:bodyPr>
          <a:lstStyle/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"en"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This page will print the following text: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2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print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 PHP!!! 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333"/>
              </a:lnSpc>
              <a:buNone/>
            </a:pP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5B5197A1-5787-00BD-BEFC-8D2D5824C111}"/>
              </a:ext>
            </a:extLst>
          </p:cNvPr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C5FD16C-338B-41F2-BBA1-B1550BD102BC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B208F5-1DBC-E90F-3601-403667440C28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38E3B7-DCCE-D9CE-5146-0A2F3453608E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Open Editor and write the following code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67C59519-7E98-8AE6-3F1E-8EC903CE06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128" y="1209076"/>
            <a:ext cx="12123872" cy="5415839"/>
          </a:xfrm>
        </p:spPr>
        <p:txBody>
          <a:bodyPr>
            <a:normAutofit/>
          </a:bodyPr>
          <a:lstStyle/>
          <a:p>
            <a:r>
              <a:rPr lang="en-US" sz="3200" dirty="0"/>
              <a:t>In the HTML part, </a:t>
            </a:r>
            <a:r>
              <a:rPr lang="en-US" sz="3200" dirty="0">
                <a:solidFill>
                  <a:srgbClr val="0070C0"/>
                </a:solidFill>
              </a:rPr>
              <a:t>you can use all html tags and attributes as usual</a:t>
            </a:r>
            <a:r>
              <a:rPr lang="en-US" sz="3200" dirty="0"/>
              <a:t>. </a:t>
            </a:r>
          </a:p>
          <a:p>
            <a:r>
              <a:rPr lang="en-US" sz="3200" dirty="0"/>
              <a:t>Also, in the PHP part you can embed html tags and attributes to the </a:t>
            </a:r>
            <a:r>
              <a:rPr lang="en-US" sz="3200" b="1" i="1" dirty="0">
                <a:solidFill>
                  <a:srgbClr val="0070C0"/>
                </a:solidFill>
              </a:rPr>
              <a:t>echo/print</a:t>
            </a:r>
            <a:r>
              <a:rPr lang="en-US" sz="3200" dirty="0"/>
              <a:t> statement but </a:t>
            </a:r>
            <a:r>
              <a:rPr lang="en-US" sz="3200" dirty="0">
                <a:solidFill>
                  <a:srgbClr val="0070C0"/>
                </a:solidFill>
              </a:rPr>
              <a:t>ensure to use single quotations with the attributes</a:t>
            </a:r>
            <a:r>
              <a:rPr lang="en-US" sz="3200" dirty="0"/>
              <a:t>. </a:t>
            </a:r>
          </a:p>
          <a:p>
            <a:r>
              <a:rPr lang="en-US" sz="3200" dirty="0"/>
              <a:t>The PHP part starts with </a:t>
            </a:r>
            <a:r>
              <a:rPr lang="en-US" sz="3200" b="1" dirty="0">
                <a:solidFill>
                  <a:srgbClr val="0070C0"/>
                </a:solidFill>
              </a:rPr>
              <a:t>&lt;?</a:t>
            </a:r>
            <a:r>
              <a:rPr lang="en-US" sz="3200" b="1" dirty="0" err="1">
                <a:solidFill>
                  <a:srgbClr val="0070C0"/>
                </a:solidFill>
              </a:rPr>
              <a:t>php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dirty="0"/>
              <a:t>and ends with </a:t>
            </a:r>
            <a:r>
              <a:rPr lang="en-US" sz="3200" b="1" dirty="0">
                <a:solidFill>
                  <a:srgbClr val="0070C0"/>
                </a:solidFill>
              </a:rPr>
              <a:t>?&gt;</a:t>
            </a:r>
            <a:r>
              <a:rPr lang="en-US" sz="3200" dirty="0"/>
              <a:t> and all PHP codes in between.</a:t>
            </a:r>
            <a:r>
              <a:rPr lang="en-US" altLang="en-US" sz="3200" b="1" dirty="0"/>
              <a:t> </a:t>
            </a:r>
          </a:p>
          <a:p>
            <a:r>
              <a:rPr lang="en-US" altLang="en-US" sz="3200" b="1" dirty="0"/>
              <a:t>Note:</a:t>
            </a:r>
            <a:r>
              <a:rPr lang="en-US" altLang="en-US" sz="3200" dirty="0"/>
              <a:t> PHP statements end with a semicolon (;).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66FDC5-62D7-16A7-543E-3ECEE564A56E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5AFAD-6DAD-78EE-3D0C-08CF81A5405D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Introduction (</a:t>
            </a:r>
            <a:r>
              <a:rPr lang="en-GB" sz="3600" b="1" kern="1200" spc="-5" dirty="0" err="1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cont</a:t>
            </a:r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…)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EEF7582-1C90-9ABF-3E01-F72DAF5DD9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9794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" y="1227653"/>
            <a:ext cx="12111454" cy="5514769"/>
          </a:xfrm>
        </p:spPr>
        <p:txBody>
          <a:bodyPr>
            <a:noAutofit/>
          </a:bodyPr>
          <a:lstStyle/>
          <a:p>
            <a:r>
              <a:rPr lang="en-US" sz="3200" b="1" i="1" dirty="0">
                <a:solidFill>
                  <a:srgbClr val="0070C0"/>
                </a:solidFill>
              </a:rPr>
              <a:t>Echo</a:t>
            </a:r>
            <a:r>
              <a:rPr lang="en-US" sz="3200" dirty="0"/>
              <a:t> statement is used to output text from the server to your browser. </a:t>
            </a:r>
          </a:p>
          <a:p>
            <a:r>
              <a:rPr lang="en-US" sz="3200" dirty="0"/>
              <a:t>You can also use </a:t>
            </a:r>
            <a:r>
              <a:rPr lang="en-US" sz="3200" b="1" i="1" dirty="0">
                <a:solidFill>
                  <a:srgbClr val="0070C0"/>
                </a:solidFill>
              </a:rPr>
              <a:t>print</a:t>
            </a:r>
            <a:r>
              <a:rPr lang="en-US" sz="3200" dirty="0"/>
              <a:t> statement to display text to the browser. </a:t>
            </a:r>
          </a:p>
          <a:p>
            <a:r>
              <a:rPr lang="en-US" sz="3200" dirty="0"/>
              <a:t>Because both commands are constructs, </a:t>
            </a:r>
            <a:r>
              <a:rPr lang="en-US" sz="3200" dirty="0">
                <a:solidFill>
                  <a:srgbClr val="0070C0"/>
                </a:solidFill>
              </a:rPr>
              <a:t>neither requires the use of parentheses- </a:t>
            </a:r>
            <a:r>
              <a:rPr lang="en-US" sz="3200" dirty="0"/>
              <a:t>are optional.</a:t>
            </a:r>
          </a:p>
          <a:p>
            <a:pPr lvl="1"/>
            <a:r>
              <a:rPr lang="en-US" sz="2400" dirty="0"/>
              <a:t>A </a:t>
            </a:r>
            <a:r>
              <a:rPr lang="en-US" sz="2400" b="1" dirty="0"/>
              <a:t>construct</a:t>
            </a:r>
            <a:r>
              <a:rPr lang="en-US" sz="2400" dirty="0"/>
              <a:t> means a built-in PHP language feature, not a normal function.</a:t>
            </a:r>
          </a:p>
          <a:p>
            <a:r>
              <a:rPr lang="en-US" sz="3200" dirty="0"/>
              <a:t>The difference between them is that </a:t>
            </a:r>
            <a:r>
              <a:rPr lang="en-US" sz="3200" b="1" i="1" dirty="0">
                <a:solidFill>
                  <a:srgbClr val="0070C0"/>
                </a:solidFill>
              </a:rPr>
              <a:t>print</a:t>
            </a:r>
            <a:r>
              <a:rPr lang="en-US" sz="3200" dirty="0">
                <a:solidFill>
                  <a:srgbClr val="0070C0"/>
                </a:solidFill>
              </a:rPr>
              <a:t> returns a value</a:t>
            </a:r>
            <a:r>
              <a:rPr lang="en-US" sz="3200" dirty="0"/>
              <a:t>, and </a:t>
            </a:r>
            <a:r>
              <a:rPr lang="en-US" sz="3200" b="1" i="1" dirty="0">
                <a:solidFill>
                  <a:srgbClr val="0070C0"/>
                </a:solidFill>
              </a:rPr>
              <a:t>echo</a:t>
            </a:r>
            <a:r>
              <a:rPr lang="en-US" sz="3200" dirty="0"/>
              <a:t> doesn’t (echo is faster). 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50EA2-AE92-5AE8-09E2-215F8575266A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923589-0697-A6CB-D1D0-23ECFB76DD04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Generating Output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722294FD-8132-AE7D-E025-CCCD93444A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503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0" y="1265258"/>
            <a:ext cx="12192000" cy="5006841"/>
          </a:xfrm>
        </p:spPr>
        <p:txBody>
          <a:bodyPr>
            <a:noAutofit/>
          </a:bodyPr>
          <a:lstStyle/>
          <a:p>
            <a:r>
              <a:rPr lang="en-US" sz="2800" dirty="0"/>
              <a:t>Also </a:t>
            </a:r>
            <a:r>
              <a:rPr lang="en-US" sz="2800" b="1" i="1" dirty="0">
                <a:solidFill>
                  <a:srgbClr val="0070C0"/>
                </a:solidFill>
              </a:rPr>
              <a:t>echo</a:t>
            </a:r>
            <a:r>
              <a:rPr lang="en-US" sz="2800" dirty="0"/>
              <a:t> can have more than one parameter (with no parentheses) but </a:t>
            </a:r>
            <a:r>
              <a:rPr lang="en-US" sz="2800" b="1" i="1" dirty="0">
                <a:solidFill>
                  <a:srgbClr val="0070C0"/>
                </a:solidFill>
              </a:rPr>
              <a:t>print</a:t>
            </a:r>
            <a:r>
              <a:rPr lang="en-US" sz="2800" dirty="0"/>
              <a:t> can only have one parameter.</a:t>
            </a:r>
          </a:p>
          <a:p>
            <a:pPr>
              <a:lnSpc>
                <a:spcPct val="113333"/>
              </a:lnSpc>
            </a:pP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Yahye Ali Isse"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dirty="0">
                <a:solidFill>
                  <a:srgbClr val="00B050"/>
                </a:solidFill>
              </a:rPr>
              <a:t>echo "Using echo with ", "two parameters"; // ok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print "Using print with ", "two parameters"; // error</a:t>
            </a:r>
            <a:endParaRPr lang="en-US" sz="2800" dirty="0"/>
          </a:p>
          <a:p>
            <a:r>
              <a:rPr lang="en-US" sz="2800" dirty="0"/>
              <a:t>Also </a:t>
            </a:r>
            <a:r>
              <a:rPr lang="en-US" sz="2800" b="1" i="1" dirty="0">
                <a:solidFill>
                  <a:srgbClr val="0070C0"/>
                </a:solidFill>
              </a:rPr>
              <a:t>echo</a:t>
            </a:r>
            <a:r>
              <a:rPr lang="en-US" sz="2800" dirty="0">
                <a:solidFill>
                  <a:srgbClr val="0070C0"/>
                </a:solidFill>
              </a:rPr>
              <a:t> cannot be used as part of a more complex expression (ternary)</a:t>
            </a:r>
            <a:r>
              <a:rPr lang="en-US" sz="2800" dirty="0"/>
              <a:t>, whereas </a:t>
            </a:r>
            <a:r>
              <a:rPr lang="en-US" sz="2800" b="1" i="1" dirty="0">
                <a:solidFill>
                  <a:srgbClr val="0070C0"/>
                </a:solidFill>
              </a:rPr>
              <a:t>print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can. </a:t>
            </a:r>
          </a:p>
          <a:p>
            <a:pPr lvl="1"/>
            <a:r>
              <a:rPr lang="en-US" sz="1600" dirty="0"/>
              <a:t>A </a:t>
            </a:r>
            <a:r>
              <a:rPr lang="en-US" sz="1600" b="1" dirty="0"/>
              <a:t>ternary operator</a:t>
            </a:r>
            <a:r>
              <a:rPr lang="en-US" sz="1600" dirty="0"/>
              <a:t> is a short form of an </a:t>
            </a:r>
            <a:r>
              <a:rPr lang="en-US" sz="3200" dirty="0"/>
              <a:t>if...else</a:t>
            </a:r>
            <a:r>
              <a:rPr lang="en-US" sz="1600" dirty="0"/>
              <a:t> statement. (condition ? </a:t>
            </a:r>
            <a:r>
              <a:rPr lang="en-US" sz="1600" dirty="0" err="1"/>
              <a:t>value_if_true</a:t>
            </a:r>
            <a:r>
              <a:rPr lang="en-US" sz="1600" dirty="0"/>
              <a:t> : </a:t>
            </a:r>
            <a:r>
              <a:rPr lang="en-US" sz="1600" dirty="0" err="1"/>
              <a:t>value_if_false</a:t>
            </a:r>
            <a:r>
              <a:rPr lang="en-US" sz="1600" dirty="0"/>
              <a:t>);</a:t>
            </a:r>
          </a:p>
          <a:p>
            <a:r>
              <a:rPr lang="en-US" sz="2800" dirty="0"/>
              <a:t>For example:</a:t>
            </a:r>
          </a:p>
          <a:p>
            <a:pPr marL="0" indent="0" fontAlgn="base" hangingPunct="0">
              <a:buNone/>
            </a:pPr>
            <a:r>
              <a:rPr lang="en-US" sz="2000" dirty="0">
                <a:solidFill>
                  <a:srgbClr val="00B0F0"/>
                </a:solidFill>
              </a:rPr>
              <a:t>($x &lt; $y) </a:t>
            </a:r>
            <a:r>
              <a:rPr lang="en-US" sz="2000" dirty="0"/>
              <a:t>?</a:t>
            </a:r>
            <a:r>
              <a:rPr lang="en-US" sz="2000" dirty="0">
                <a:solidFill>
                  <a:srgbClr val="00B050"/>
                </a:solidFill>
              </a:rPr>
              <a:t> print "$x is less than $y" </a:t>
            </a:r>
            <a:r>
              <a:rPr lang="en-US" sz="2000" dirty="0"/>
              <a:t>: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print "$x is greater than $y"</a:t>
            </a:r>
            <a:r>
              <a:rPr lang="en-US" sz="2000" dirty="0"/>
              <a:t>; // ok</a:t>
            </a:r>
          </a:p>
          <a:p>
            <a:pPr marL="0" indent="0" fontAlgn="base" hangingPunct="0">
              <a:buNone/>
            </a:pPr>
            <a:r>
              <a:rPr lang="en-US" sz="2000" dirty="0">
                <a:solidFill>
                  <a:srgbClr val="00B0F0"/>
                </a:solidFill>
              </a:rPr>
              <a:t>($x &lt; $y) </a:t>
            </a:r>
            <a:r>
              <a:rPr lang="en-US" sz="2000" dirty="0"/>
              <a:t>?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rgbClr val="00B050"/>
                </a:solidFill>
              </a:rPr>
              <a:t>echo "$x is less than $y" </a:t>
            </a:r>
            <a:r>
              <a:rPr lang="en-US" sz="2000" dirty="0"/>
              <a:t>:</a:t>
            </a:r>
            <a:r>
              <a:rPr lang="en-US" sz="2000" dirty="0">
                <a:solidFill>
                  <a:srgbClr val="C00000"/>
                </a:solidFill>
              </a:rPr>
              <a:t> echo "$x is greater than $y"</a:t>
            </a:r>
            <a:r>
              <a:rPr lang="en-US" sz="2000" dirty="0"/>
              <a:t>;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//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FBA211-E75A-BD49-698A-849C4E6014AB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84534-3999-F192-564C-78BD36C3D704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Generating Output (</a:t>
            </a:r>
            <a:r>
              <a:rPr lang="en-GB" sz="3600" b="1" kern="1200" spc="-5" dirty="0" err="1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cont</a:t>
            </a:r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…)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F5B3F464-E80A-CCEC-1834-28D0D06D02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7971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61090" y="1357383"/>
            <a:ext cx="12030909" cy="4503921"/>
          </a:xfrm>
        </p:spPr>
        <p:txBody>
          <a:bodyPr>
            <a:normAutofit/>
          </a:bodyPr>
          <a:lstStyle/>
          <a:p>
            <a:r>
              <a:rPr lang="en-US" sz="3200" dirty="0"/>
              <a:t>PHP is usually used with HTML code, and HTML code contains a lot of quote marks itself. </a:t>
            </a:r>
          </a:p>
          <a:p>
            <a:r>
              <a:rPr lang="en-US" sz="3200" b="1" dirty="0">
                <a:solidFill>
                  <a:srgbClr val="0070C0"/>
                </a:solidFill>
              </a:rPr>
              <a:t>Single quotes </a:t>
            </a:r>
            <a:r>
              <a:rPr lang="en-US" sz="3200" dirty="0">
                <a:solidFill>
                  <a:srgbClr val="0070C0"/>
                </a:solidFill>
              </a:rPr>
              <a:t>tell PHP to take everything inside the quotes exactly as it</a:t>
            </a:r>
            <a:r>
              <a:rPr lang="en-US" sz="3200" dirty="0"/>
              <a:t>. </a:t>
            </a:r>
          </a:p>
          <a:p>
            <a:r>
              <a:rPr lang="en-US" sz="3200" dirty="0"/>
              <a:t>For example,</a:t>
            </a:r>
          </a:p>
          <a:p>
            <a:pPr lvl="0">
              <a:lnSpc>
                <a:spcPct val="113333"/>
              </a:lnSpc>
              <a:buClr>
                <a:srgbClr val="616161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$a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3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echo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Hellow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$a'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>
              <a:lnSpc>
                <a:spcPct val="113333"/>
              </a:lnSpc>
              <a:buClr>
                <a:srgbClr val="616161"/>
              </a:buCl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D2F18B-C029-DE33-01AB-6E340649595F}"/>
              </a:ext>
            </a:extLst>
          </p:cNvPr>
          <p:cNvSpPr/>
          <p:nvPr/>
        </p:nvSpPr>
        <p:spPr>
          <a:xfrm>
            <a:off x="7455159" y="4310743"/>
            <a:ext cx="3898641" cy="765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Hellow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 $a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70DDA6-263E-62F0-04C4-20181DE70E6E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C76A4-814C-33E1-1942-5A7A1B9519F6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Coding with Quotation Marks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22BC5F9-4593-431E-3EFE-B8CFE37E01C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207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6416" y="1265258"/>
            <a:ext cx="11950190" cy="477892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Double quotes </a:t>
            </a:r>
            <a:r>
              <a:rPr lang="en-US" sz="3600" dirty="0">
                <a:solidFill>
                  <a:srgbClr val="0070C0"/>
                </a:solidFill>
              </a:rPr>
              <a:t>give PHP permission to analyze the text for special characters, like variables. </a:t>
            </a:r>
            <a:r>
              <a:rPr lang="en-US" sz="3600" dirty="0"/>
              <a:t>Single quotes do not allow for this behavior, which is why they are rarely used in PHP programming. </a:t>
            </a:r>
          </a:p>
          <a:p>
            <a:r>
              <a:rPr lang="en-US" sz="3200" dirty="0"/>
              <a:t>For example,</a:t>
            </a:r>
          </a:p>
          <a:p>
            <a:pPr>
              <a:lnSpc>
                <a:spcPct val="1133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$a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333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echo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Hellow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$a"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7C295-8F1A-2EF0-50F4-E2D8C838A4B2}"/>
              </a:ext>
            </a:extLst>
          </p:cNvPr>
          <p:cNvSpPr/>
          <p:nvPr/>
        </p:nvSpPr>
        <p:spPr>
          <a:xfrm>
            <a:off x="7455159" y="4534679"/>
            <a:ext cx="3898641" cy="765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rgbClr val="C00000"/>
                </a:solidFill>
              </a:rPr>
              <a:t>Hellow</a:t>
            </a:r>
            <a:r>
              <a:rPr lang="en-US" sz="2800" dirty="0">
                <a:solidFill>
                  <a:srgbClr val="C00000"/>
                </a:solidFill>
              </a:rPr>
              <a:t> 10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999896-0CD2-F289-FD24-A446BAE5E0F8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28B35-50DF-604C-48F6-E8F59E662AD3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Coding with Quotation Marks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B3454B0-465E-CAF0-8D8D-5D9C86FCA3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5160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7272" y="1265258"/>
            <a:ext cx="11959334" cy="4696252"/>
          </a:xfrm>
        </p:spPr>
        <p:txBody>
          <a:bodyPr>
            <a:noAutofit/>
          </a:bodyPr>
          <a:lstStyle/>
          <a:p>
            <a:pPr fontAlgn="base" hangingPunct="0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write comments in three different ways:</a:t>
            </a:r>
            <a:endParaRPr lang="en-US" sz="3200" b="1" dirty="0"/>
          </a:p>
          <a:p>
            <a:pPr fontAlgn="base" hangingPunct="0"/>
            <a:r>
              <a:rPr lang="en-US" sz="3200" b="1" dirty="0"/>
              <a:t>Multi-line comment</a:t>
            </a:r>
            <a:endParaRPr lang="en-US" sz="3200" dirty="0"/>
          </a:p>
          <a:p>
            <a:pPr marL="609585" lvl="1" indent="0" fontAlgn="base" hangingPunct="0">
              <a:buNone/>
            </a:pPr>
            <a:r>
              <a:rPr lang="en-US" sz="3000" dirty="0"/>
              <a:t>Use /* at the start and */ at the end. For example:</a:t>
            </a:r>
            <a:endParaRPr lang="en-US" sz="3000" i="1" dirty="0">
              <a:solidFill>
                <a:srgbClr val="00B050"/>
              </a:solidFill>
            </a:endParaRPr>
          </a:p>
          <a:p>
            <a:pPr marL="609585" lvl="1" indent="0">
              <a:buNone/>
            </a:pPr>
            <a:r>
              <a:rPr lang="en-GB" sz="3000" dirty="0"/>
              <a:t>&lt;?</a:t>
            </a:r>
            <a:r>
              <a:rPr lang="en-GB" sz="3000" dirty="0" err="1"/>
              <a:t>php</a:t>
            </a:r>
            <a:endParaRPr lang="en-GB" sz="3000" dirty="0"/>
          </a:p>
          <a:p>
            <a:pPr marL="609585" lvl="1" indent="0" fontAlgn="base" hangingPunct="0">
              <a:buNone/>
            </a:pPr>
            <a:r>
              <a:rPr lang="en-GB" sz="3000" i="1" dirty="0">
                <a:solidFill>
                  <a:srgbClr val="00B050"/>
                </a:solidFill>
              </a:rPr>
              <a:t>/* This is a section</a:t>
            </a:r>
          </a:p>
          <a:p>
            <a:pPr marL="609585" lvl="1" indent="0" fontAlgn="base" hangingPunct="0">
              <a:buNone/>
            </a:pPr>
            <a:r>
              <a:rPr lang="en-GB" sz="3000" i="1" dirty="0">
                <a:solidFill>
                  <a:srgbClr val="00B050"/>
                </a:solidFill>
              </a:rPr>
              <a:t>of multiline comments</a:t>
            </a:r>
          </a:p>
          <a:p>
            <a:pPr marL="609585" lvl="1" indent="0" fontAlgn="base" hangingPunct="0">
              <a:buNone/>
            </a:pPr>
            <a:r>
              <a:rPr lang="en-GB" sz="3000" i="1" dirty="0">
                <a:solidFill>
                  <a:srgbClr val="00B050"/>
                </a:solidFill>
              </a:rPr>
              <a:t>which will not be</a:t>
            </a:r>
          </a:p>
          <a:p>
            <a:pPr marL="609585" lvl="1" indent="0" fontAlgn="base" hangingPunct="0">
              <a:buNone/>
            </a:pPr>
            <a:r>
              <a:rPr lang="en-GB" sz="3000" i="1" dirty="0">
                <a:solidFill>
                  <a:srgbClr val="00B050"/>
                </a:solidFill>
              </a:rPr>
              <a:t>interpreted */</a:t>
            </a:r>
          </a:p>
          <a:p>
            <a:pPr marL="609585" lvl="1" indent="0">
              <a:buNone/>
            </a:pPr>
            <a:r>
              <a:rPr lang="en-GB" sz="3000" dirty="0"/>
              <a:t>?&gt;</a:t>
            </a:r>
            <a:endParaRPr lang="en-US" sz="3000" dirty="0"/>
          </a:p>
          <a:p>
            <a:pPr marL="0" indent="0" fontAlgn="base" hangingPunct="0">
              <a:buNone/>
            </a:pPr>
            <a:endParaRPr lang="en-US" sz="3200" i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13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C0F065-FD5D-9363-6BC6-5E36A5833306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1D8173-2EFA-063E-E5AB-022E56E1BA6B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Comments in PHP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0BCD2648-B062-F745-E26F-EC8F20FE8A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5934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61091" y="1406310"/>
            <a:ext cx="11867120" cy="4555200"/>
          </a:xfrm>
        </p:spPr>
        <p:txBody>
          <a:bodyPr>
            <a:noAutofit/>
          </a:bodyPr>
          <a:lstStyle/>
          <a:p>
            <a:pPr fontAlgn="base" hangingPunct="0"/>
            <a:r>
              <a:rPr lang="en-US" sz="3200" b="1" dirty="0"/>
              <a:t>Single line comment</a:t>
            </a:r>
            <a:endParaRPr lang="en-US" sz="3200" dirty="0"/>
          </a:p>
          <a:p>
            <a:pPr marL="609585" lvl="1" indent="0" fontAlgn="base" hangingPunct="0">
              <a:lnSpc>
                <a:spcPct val="125000"/>
              </a:lnSpc>
              <a:buNone/>
            </a:pPr>
            <a:r>
              <a:rPr lang="en-US" sz="3200" dirty="0"/>
              <a:t>Use double forward slash (//) at the beginning of a line or directly after a line of code to describe its action.</a:t>
            </a:r>
          </a:p>
          <a:p>
            <a:pPr marL="609585" lvl="1" indent="0" fontAlgn="base" hangingPunct="0">
              <a:lnSpc>
                <a:spcPct val="125000"/>
              </a:lnSpc>
              <a:buNone/>
            </a:pPr>
            <a:r>
              <a:rPr lang="en-US" sz="3200" i="1" dirty="0">
                <a:solidFill>
                  <a:srgbClr val="00B050"/>
                </a:solidFill>
              </a:rPr>
              <a:t>// This is a single line comment</a:t>
            </a:r>
          </a:p>
          <a:p>
            <a:pPr marL="609585" lvl="1" indent="0" fontAlgn="base" hangingPunct="0">
              <a:lnSpc>
                <a:spcPct val="125000"/>
              </a:lnSpc>
              <a:buNone/>
            </a:pPr>
            <a:r>
              <a:rPr lang="en-US" sz="3200" dirty="0"/>
              <a:t>$x += 10; </a:t>
            </a:r>
            <a:r>
              <a:rPr lang="en-US" sz="3200" dirty="0">
                <a:solidFill>
                  <a:srgbClr val="00B050"/>
                </a:solidFill>
              </a:rPr>
              <a:t>// Increment $x by 10</a:t>
            </a:r>
          </a:p>
          <a:p>
            <a:pPr marL="609585" lvl="1" indent="-457189" fontAlgn="base" hangingPunct="0">
              <a:buSzPts val="1800"/>
              <a:buFont typeface="Proxima Nova"/>
              <a:buChar char="●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also use pound or hash (#) symbol as single line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FB9DCC-C8F6-CF52-0448-3ACC0458BF6E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AEB79-3D3F-83D0-5411-94251DD6AF67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Comments in PHP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88C5CBC-95D6-09EB-65EE-E9D490351E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7084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00584" y="1254027"/>
            <a:ext cx="12024360" cy="45552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200" dirty="0"/>
              <a:t>A variable is a location in the computer's memory where a value can be stored for use by a program </a:t>
            </a:r>
            <a:r>
              <a:rPr lang="en-US" sz="3200" dirty="0">
                <a:solidFill>
                  <a:srgbClr val="0070C0"/>
                </a:solidFill>
              </a:rPr>
              <a:t>at the run time</a:t>
            </a:r>
            <a:r>
              <a:rPr lang="en-US" sz="3200" dirty="0"/>
              <a:t>. </a:t>
            </a:r>
          </a:p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070C0"/>
                </a:solidFill>
              </a:rPr>
              <a:t>You do not need to declare variables before using them, </a:t>
            </a:r>
            <a:r>
              <a:rPr lang="en-US" sz="3200" dirty="0">
                <a:solidFill>
                  <a:srgbClr val="C00000"/>
                </a:solidFill>
              </a:rPr>
              <a:t>you do not need to declare their type </a:t>
            </a:r>
            <a:r>
              <a:rPr lang="en-US" sz="3200" dirty="0">
                <a:solidFill>
                  <a:srgbClr val="0070C0"/>
                </a:solidFill>
              </a:rPr>
              <a:t>and </a:t>
            </a:r>
            <a:r>
              <a:rPr lang="en-US" sz="3200" dirty="0">
                <a:solidFill>
                  <a:srgbClr val="00B050"/>
                </a:solidFill>
              </a:rPr>
              <a:t>a variable can change the type of its value as much as you want</a:t>
            </a:r>
            <a:r>
              <a:rPr lang="en-US" sz="3200" dirty="0"/>
              <a:t>.</a:t>
            </a:r>
          </a:p>
          <a:p>
            <a:pPr>
              <a:lnSpc>
                <a:spcPct val="130000"/>
              </a:lnSpc>
            </a:pPr>
            <a:r>
              <a:rPr lang="en-US" sz="3200" dirty="0"/>
              <a:t>Variables in PHP are preceded with a dollar (</a:t>
            </a:r>
            <a:r>
              <a:rPr lang="en-US" sz="3200" dirty="0">
                <a:solidFill>
                  <a:srgbClr val="0070C0"/>
                </a:solidFill>
              </a:rPr>
              <a:t>$</a:t>
            </a:r>
            <a:r>
              <a:rPr lang="en-US" sz="3200" dirty="0"/>
              <a:t>) sign.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15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66EC86-A085-2406-3312-C25546A81743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A98CC-79DD-FE91-BF6F-890946F69E9A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Variables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B0336139-A649-541C-3E34-5E399917D5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6771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697" y="1238885"/>
            <a:ext cx="12186303" cy="4555200"/>
          </a:xfrm>
        </p:spPr>
        <p:txBody>
          <a:bodyPr>
            <a:noAutofit/>
          </a:bodyPr>
          <a:lstStyle/>
          <a:p>
            <a:pPr lvl="0" fontAlgn="base" hangingPunct="0">
              <a:lnSpc>
                <a:spcPct val="150000"/>
              </a:lnSpc>
            </a:pPr>
            <a:r>
              <a:rPr lang="en-US" sz="2700" dirty="0"/>
              <a:t>Variable names, after the dollar sign, must start with a letter of the alphabet or the underscore (_) character.</a:t>
            </a:r>
          </a:p>
          <a:p>
            <a:pPr lvl="0" fontAlgn="base" hangingPunct="0">
              <a:lnSpc>
                <a:spcPct val="150000"/>
              </a:lnSpc>
            </a:pPr>
            <a:r>
              <a:rPr lang="en-US" sz="2700" dirty="0"/>
              <a:t>Variable names can contain only alphanumeric and underscore (A-z, 0-9, and _ ).</a:t>
            </a:r>
          </a:p>
          <a:p>
            <a:pPr fontAlgn="base" hangingPunct="0">
              <a:lnSpc>
                <a:spcPct val="150000"/>
              </a:lnSpc>
            </a:pPr>
            <a:r>
              <a:rPr lang="en-US" sz="2700" dirty="0"/>
              <a:t>Variable names may not contain spaces. </a:t>
            </a:r>
          </a:p>
          <a:p>
            <a:r>
              <a:rPr lang="en-US" sz="2700" dirty="0"/>
              <a:t>Variable names 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are case-sensitive</a:t>
            </a:r>
            <a:r>
              <a:rPr lang="en-US" sz="2700" dirty="0"/>
              <a:t>. </a:t>
            </a:r>
          </a:p>
          <a:p>
            <a:r>
              <a:rPr lang="en-US" sz="2700" dirty="0"/>
              <a:t>Note that naming variables </a:t>
            </a:r>
            <a:r>
              <a:rPr lang="en-US" sz="2700" dirty="0">
                <a:solidFill>
                  <a:srgbClr val="0070C0"/>
                </a:solidFill>
              </a:rPr>
              <a:t>using keywords is not strictly illegal </a:t>
            </a:r>
            <a:r>
              <a:rPr lang="en-US" sz="2700" dirty="0"/>
              <a:t>in PHP. However, it is conventionally considered a </a:t>
            </a:r>
            <a:r>
              <a:rPr lang="en-US" sz="2700" dirty="0">
                <a:solidFill>
                  <a:srgbClr val="C00000"/>
                </a:solidFill>
              </a:rPr>
              <a:t>bad practice</a:t>
            </a:r>
            <a:r>
              <a:rPr lang="en-US" sz="2700" dirty="0"/>
              <a:t>.</a:t>
            </a:r>
          </a:p>
          <a:p>
            <a:r>
              <a:rPr lang="en-US" sz="2700" dirty="0"/>
              <a:t>In PHP, all keywords (e.g., if, else, while, echo, etc.), classes, functions, and user-defined functions 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are NOT case-sensitive</a:t>
            </a:r>
            <a:r>
              <a:rPr lang="en-US" sz="2700" dirty="0"/>
              <a:t>.</a:t>
            </a:r>
          </a:p>
          <a:p>
            <a:endParaRPr lang="en-US" sz="2700" dirty="0"/>
          </a:p>
          <a:p>
            <a:endParaRPr lang="en-US" sz="27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C264C1-725B-EF8D-A526-3938C731E205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2DF35-514E-4563-DD4C-9E3D2591CB4D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Variable-naming Rules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6865EE86-AA03-CCCE-5EC3-F1A732A802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0277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-1" y="1265258"/>
            <a:ext cx="12191999" cy="4005482"/>
          </a:xfrm>
        </p:spPr>
        <p:txBody>
          <a:bodyPr>
            <a:normAutofit lnSpcReduction="10000"/>
          </a:bodyPr>
          <a:lstStyle/>
          <a:p>
            <a:pPr fontAlgn="base" hangingPunct="0"/>
            <a:r>
              <a:rPr lang="en-US" sz="3200" dirty="0"/>
              <a:t>Variables can contain values of any of these data types without explicitly declaring their type. The variable “behaves” according to the data type it contains.</a:t>
            </a:r>
          </a:p>
          <a:p>
            <a:pPr lvl="1" fontAlgn="base" hangingPunct="0">
              <a:buFont typeface="Wingdings" panose="05000000000000000000" pitchFamily="2" charset="2"/>
              <a:buChar char="Ø"/>
            </a:pPr>
            <a:r>
              <a:rPr lang="en-US" sz="3200" dirty="0"/>
              <a:t>Integers</a:t>
            </a:r>
          </a:p>
          <a:p>
            <a:pPr lvl="1" fontAlgn="base" hangingPunct="0">
              <a:buFont typeface="Wingdings" panose="05000000000000000000" pitchFamily="2" charset="2"/>
              <a:buChar char="Ø"/>
            </a:pPr>
            <a:r>
              <a:rPr lang="en-US" sz="3200" dirty="0"/>
              <a:t>Floating-Point Numbers (real numbers)</a:t>
            </a:r>
          </a:p>
          <a:p>
            <a:pPr lvl="1" fontAlgn="base" hangingPunct="0">
              <a:buFont typeface="Wingdings" panose="05000000000000000000" pitchFamily="2" charset="2"/>
              <a:buChar char="Ø"/>
            </a:pPr>
            <a:r>
              <a:rPr lang="en-US" sz="3200" dirty="0"/>
              <a:t>Strings</a:t>
            </a:r>
          </a:p>
          <a:p>
            <a:pPr lvl="1" fontAlgn="base" hangingPunct="0">
              <a:buFont typeface="Wingdings" panose="05000000000000000000" pitchFamily="2" charset="2"/>
              <a:buChar char="Ø"/>
            </a:pPr>
            <a:r>
              <a:rPr lang="en-US" sz="3200" dirty="0"/>
              <a:t>Booleans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23622-70BE-A7AC-A2B7-FEDBA949DFE4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C6DD2-C17F-908B-6CCF-322064F3FE53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Basic Data Types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60F96F1E-6F76-EE21-11CF-ADD6C8F8DA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9597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0" y="1227653"/>
            <a:ext cx="12036606" cy="5397261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sz="3200" dirty="0"/>
              <a:t>A string is a sequence of letters, numbers, special characters and arithmetic values or combination of all. </a:t>
            </a:r>
          </a:p>
          <a:p>
            <a:pPr fontAlgn="base"/>
            <a:r>
              <a:rPr lang="en-US" sz="3200" dirty="0"/>
              <a:t>The simplest way to create a string is to enclose the string literal (i.e. string characters) in single quotation marks (‘) or double quotation marks ("), like this:</a:t>
            </a:r>
          </a:p>
          <a:p>
            <a:pPr fontAlgn="base"/>
            <a:r>
              <a:rPr lang="en-US" sz="3200" dirty="0"/>
              <a:t>For example = </a:t>
            </a: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$</a:t>
            </a:r>
            <a:r>
              <a:rPr lang="en-US" sz="3200" dirty="0" err="1">
                <a:solidFill>
                  <a:srgbClr val="0070C0"/>
                </a:solidFill>
                <a:cs typeface="Courier New" panose="02070309020205020404" pitchFamily="49" charset="0"/>
              </a:rPr>
              <a:t>my_string</a:t>
            </a: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 = 'Hello World’;</a:t>
            </a:r>
          </a:p>
          <a:p>
            <a:pPr>
              <a:lnSpc>
                <a:spcPct val="113333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	   $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my_str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'Welcome to PHP Republic'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333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echo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strlen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($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my_str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);  </a:t>
            </a: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Outputs: 23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en-US" sz="3200" dirty="0">
                <a:solidFill>
                  <a:srgbClr val="414141"/>
                </a:solidFill>
              </a:rPr>
              <a:t>The </a:t>
            </a:r>
            <a:r>
              <a:rPr lang="en-US" altLang="en-US" sz="3200" dirty="0" err="1">
                <a:solidFill>
                  <a:srgbClr val="333333"/>
                </a:solidFill>
              </a:rPr>
              <a:t>str_word_count</a:t>
            </a:r>
            <a:r>
              <a:rPr lang="en-US" altLang="en-US" sz="3200" dirty="0">
                <a:solidFill>
                  <a:srgbClr val="333333"/>
                </a:solidFill>
              </a:rPr>
              <a:t>()</a:t>
            </a:r>
            <a:r>
              <a:rPr lang="en-US" altLang="en-US" sz="3200" dirty="0">
                <a:solidFill>
                  <a:srgbClr val="414141"/>
                </a:solidFill>
              </a:rPr>
              <a:t> function counts the number of words in a string.</a:t>
            </a:r>
          </a:p>
          <a:p>
            <a:pPr>
              <a:lnSpc>
                <a:spcPct val="113333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	  $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my_str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'Welcome to PHP Republic'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333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echo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str_word_count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($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my_str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);  </a:t>
            </a: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Outputs: 4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en-US" sz="3200" b="1" dirty="0">
              <a:solidFill>
                <a:srgbClr val="262626"/>
              </a:solidFill>
            </a:endParaRPr>
          </a:p>
          <a:p>
            <a:endParaRPr lang="en-US" alt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CF9D72-11A9-95F8-5010-373D648538E5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47C50-087D-7031-A3F7-8F20D93023A6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What is String in PHP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426E7307-87B6-D855-2469-8DF797968D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8836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0" y="1227654"/>
            <a:ext cx="12192000" cy="5514769"/>
          </a:xfrm>
        </p:spPr>
        <p:txBody>
          <a:bodyPr>
            <a:noAutofit/>
          </a:bodyPr>
          <a:lstStyle/>
          <a:p>
            <a:r>
              <a:rPr lang="en-US" sz="1600" dirty="0"/>
              <a:t>Constants are similar to variables except that you cannot change their values in the program.</a:t>
            </a:r>
          </a:p>
          <a:p>
            <a:r>
              <a:rPr lang="en-US" sz="1600" dirty="0">
                <a:solidFill>
                  <a:srgbClr val="0070C0"/>
                </a:solidFill>
              </a:rPr>
              <a:t>The names for constants have the same rules as PHP variables except that they do not have the leading dollar sign ($). </a:t>
            </a:r>
          </a:p>
          <a:p>
            <a:pPr fontAlgn="base" hangingPunct="0"/>
            <a:r>
              <a:rPr lang="en-US" sz="1600" dirty="0"/>
              <a:t>The main two things you must remember about constants are: </a:t>
            </a:r>
          </a:p>
          <a:p>
            <a:pPr lvl="1" fontAlgn="base" hangingPunct="0">
              <a:buFont typeface="Wingdings" panose="05000000000000000000" pitchFamily="2" charset="2"/>
              <a:buChar char="Ø"/>
            </a:pPr>
            <a:r>
              <a:rPr lang="en-US" sz="1600" dirty="0"/>
              <a:t>They must not be prefaced with a $ (as with regular variables)</a:t>
            </a:r>
          </a:p>
          <a:p>
            <a:pPr lvl="2" fontAlgn="base" hangingPunct="0">
              <a:buFont typeface="Wingdings" panose="05000000000000000000" pitchFamily="2" charset="2"/>
              <a:buChar char="Ø"/>
            </a:pPr>
            <a:r>
              <a:rPr lang="en-US" sz="1600" b="1" dirty="0"/>
              <a:t>Constants</a:t>
            </a:r>
            <a:r>
              <a:rPr lang="en-US" sz="1600" dirty="0"/>
              <a:t> do </a:t>
            </a:r>
            <a:r>
              <a:rPr lang="en-US" sz="1600" b="1" dirty="0"/>
              <a:t>not</a:t>
            </a:r>
            <a:r>
              <a:rPr lang="en-US" sz="1600" dirty="0"/>
              <a:t> use the dollar sign.</a:t>
            </a:r>
          </a:p>
          <a:p>
            <a:pPr lvl="1" fontAlgn="base" hangingPunct="0">
              <a:buFont typeface="Wingdings" panose="05000000000000000000" pitchFamily="2" charset="2"/>
              <a:buChar char="Ø"/>
            </a:pPr>
            <a:r>
              <a:rPr lang="en-US" sz="1600" dirty="0"/>
              <a:t>You can define them only using the </a:t>
            </a:r>
            <a:r>
              <a:rPr lang="en-US" sz="1600" b="1" dirty="0">
                <a:solidFill>
                  <a:srgbClr val="0070C0"/>
                </a:solidFill>
              </a:rPr>
              <a:t>define</a:t>
            </a:r>
            <a:r>
              <a:rPr lang="en-US" sz="1600" dirty="0"/>
              <a:t> function.</a:t>
            </a:r>
          </a:p>
          <a:p>
            <a:pPr fontAlgn="base" hangingPunct="0"/>
            <a:r>
              <a:rPr lang="en-US" sz="2400" dirty="0"/>
              <a:t>To define a constant, use the following syntax:</a:t>
            </a:r>
          </a:p>
          <a:p>
            <a:pPr marL="0" indent="0" algn="ctr" fontAlgn="base" hangingPunc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define("CONSTANT_NAME", value)</a:t>
            </a:r>
          </a:p>
          <a:p>
            <a:pPr fontAlgn="base" hangingPunct="0"/>
            <a:r>
              <a:rPr lang="en-US" sz="2400" dirty="0"/>
              <a:t>Where:</a:t>
            </a:r>
          </a:p>
          <a:p>
            <a:pPr lvl="1" fontAlgn="base" hangingPunct="0"/>
            <a:r>
              <a:rPr lang="en-US" sz="2400" dirty="0"/>
              <a:t>"</a:t>
            </a:r>
            <a:r>
              <a:rPr lang="en-US" sz="2400" dirty="0">
                <a:solidFill>
                  <a:srgbClr val="0070C0"/>
                </a:solidFill>
              </a:rPr>
              <a:t>CONSTANT_NAME</a:t>
            </a:r>
            <a:r>
              <a:rPr lang="en-US" sz="2400" dirty="0"/>
              <a:t>" is a string.</a:t>
            </a:r>
          </a:p>
          <a:p>
            <a:pPr lvl="1" fontAlgn="base" hangingPunct="0"/>
            <a:r>
              <a:rPr lang="en-US" sz="2400" dirty="0">
                <a:solidFill>
                  <a:srgbClr val="0070C0"/>
                </a:solidFill>
              </a:rPr>
              <a:t>value</a:t>
            </a:r>
            <a:r>
              <a:rPr lang="en-US" sz="2400" dirty="0"/>
              <a:t> is any valid PHP expression excluding arrays and objects.</a:t>
            </a:r>
          </a:p>
          <a:p>
            <a:pPr marL="0" indent="0" fontAlgn="base" hangingPunct="0">
              <a:buNone/>
            </a:pPr>
            <a:r>
              <a:rPr lang="en-US" sz="2400" dirty="0">
                <a:solidFill>
                  <a:srgbClr val="0070C0"/>
                </a:solidFill>
              </a:rPr>
              <a:t>define("PI", 3.14); </a:t>
            </a:r>
          </a:p>
          <a:p>
            <a:pPr marL="0" indent="0" fontAlgn="base" hangingPunct="0">
              <a:buNone/>
            </a:pPr>
            <a:r>
              <a:rPr lang="en-US" sz="2400" dirty="0"/>
              <a:t>echo "Value of PI is: ", PI;  </a:t>
            </a:r>
            <a:r>
              <a:rPr lang="en-US" sz="2400" dirty="0">
                <a:solidFill>
                  <a:srgbClr val="00B050"/>
                </a:solidFill>
              </a:rPr>
              <a:t>// notice the use of 2 parameters</a:t>
            </a:r>
          </a:p>
          <a:p>
            <a:pPr>
              <a:lnSpc>
                <a:spcPct val="113333"/>
              </a:lnSpc>
              <a:buNone/>
            </a:pPr>
            <a:r>
              <a:rPr lang="en-US" sz="2400" dirty="0"/>
              <a:t>Note that it is generally considered a </a:t>
            </a:r>
            <a:r>
              <a:rPr lang="en-US" sz="2400" dirty="0">
                <a:solidFill>
                  <a:srgbClr val="00B050"/>
                </a:solidFill>
              </a:rPr>
              <a:t>good practice </a:t>
            </a:r>
            <a:r>
              <a:rPr lang="en-US" sz="2400" dirty="0"/>
              <a:t>to use only </a:t>
            </a:r>
            <a:r>
              <a:rPr lang="en-US" sz="2400" dirty="0">
                <a:solidFill>
                  <a:srgbClr val="0070C0"/>
                </a:solidFill>
              </a:rPr>
              <a:t>uppercase for constant names</a:t>
            </a:r>
            <a:endParaRPr lang="en-US" sz="2400" dirty="0"/>
          </a:p>
          <a:p>
            <a:pPr marL="795847" lvl="1" indent="0" fontAlgn="base" hangingPunct="0">
              <a:buNone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19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66B30-6C1E-081A-F3A9-961E9631E206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EA2997-9FAF-7D1A-CF54-9B40A52D24E5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Constants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7F7008FC-6B96-628A-E345-6DACE1EA1D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94B742-186B-E9AD-31E8-4953C105C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7749" y="3018368"/>
            <a:ext cx="3234251" cy="82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18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61091" y="1265258"/>
            <a:ext cx="11875515" cy="5092904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3200" dirty="0"/>
              <a:t>Operators let you specify mathematical, comparison, and logical operations.</a:t>
            </a:r>
          </a:p>
          <a:p>
            <a:r>
              <a:rPr lang="en-US" altLang="en-US" sz="3200" dirty="0"/>
              <a:t>Assignment operator ( = )</a:t>
            </a:r>
          </a:p>
          <a:p>
            <a:r>
              <a:rPr lang="en-US" altLang="en-US" sz="3200" dirty="0"/>
              <a:t>Arithmetic Operators (+, -, *, /, %)</a:t>
            </a:r>
          </a:p>
          <a:p>
            <a:r>
              <a:rPr lang="en-US" altLang="en-US" sz="3200" dirty="0"/>
              <a:t>Arithmetic Assignment Operators (+=, -=, *=, /=, %=)</a:t>
            </a:r>
          </a:p>
          <a:p>
            <a:r>
              <a:rPr lang="en-US" altLang="en-US" sz="3200" dirty="0"/>
              <a:t>Comparison Operators (&lt;, &lt;=, &gt;, &gt;=, ==, !=)</a:t>
            </a:r>
          </a:p>
          <a:p>
            <a:r>
              <a:rPr lang="en-US" altLang="en-US" sz="3200" dirty="0"/>
              <a:t>Logical Operators (&amp;&amp;, ||, </a:t>
            </a:r>
            <a:r>
              <a:rPr lang="en-US" altLang="en-US" sz="3200" dirty="0">
                <a:solidFill>
                  <a:srgbClr val="0070C0"/>
                </a:solidFill>
              </a:rPr>
              <a:t>!</a:t>
            </a:r>
            <a:r>
              <a:rPr lang="en-US" altLang="en-US" sz="3200" dirty="0"/>
              <a:t>)</a:t>
            </a:r>
          </a:p>
          <a:p>
            <a:r>
              <a:rPr lang="en-US" altLang="en-US" sz="3200" dirty="0"/>
              <a:t>Concatenation Operator (.) </a:t>
            </a:r>
          </a:p>
          <a:p>
            <a:r>
              <a:rPr lang="en-US" altLang="en-US" sz="3200" dirty="0"/>
              <a:t>Increment/Decrement Operators (</a:t>
            </a:r>
            <a:r>
              <a:rPr lang="en-US" altLang="en-US" sz="3200" dirty="0">
                <a:solidFill>
                  <a:srgbClr val="0070C0"/>
                </a:solidFill>
              </a:rPr>
              <a:t>++</a:t>
            </a:r>
            <a:r>
              <a:rPr lang="en-US" altLang="en-US" sz="3200" dirty="0"/>
              <a:t>, </a:t>
            </a:r>
            <a:r>
              <a:rPr lang="en-US" altLang="en-US" sz="3200" dirty="0">
                <a:solidFill>
                  <a:srgbClr val="0070C0"/>
                </a:solidFill>
              </a:rPr>
              <a:t>--</a:t>
            </a:r>
            <a:r>
              <a:rPr lang="en-US" altLang="en-US" sz="3200" dirty="0"/>
              <a:t>)</a:t>
            </a:r>
          </a:p>
          <a:p>
            <a:r>
              <a:rPr lang="en-US" altLang="en-US" sz="3200" dirty="0"/>
              <a:t>The One and Only Ternary Operator (</a:t>
            </a:r>
            <a:r>
              <a:rPr lang="en-US" altLang="en-US" sz="3200" dirty="0">
                <a:solidFill>
                  <a:srgbClr val="C00000"/>
                </a:solidFill>
              </a:rPr>
              <a:t>? :</a:t>
            </a:r>
            <a:r>
              <a:rPr lang="en-US" altLang="en-US" sz="32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20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6014A-43D9-CC50-B0AF-654216CA77B8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40102-D49D-9D7F-E166-F0970A1CE514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Operators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6F11B66F-25F2-B280-AD84-9146CF04F33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253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34898" y="2601011"/>
            <a:ext cx="11360800" cy="7636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8955" y="1238885"/>
            <a:ext cx="11949873" cy="5397261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en-US" sz="3000" dirty="0"/>
              <a:t>Each operator takes a different number of operands:</a:t>
            </a:r>
          </a:p>
          <a:p>
            <a:pPr lvl="1">
              <a:lnSpc>
                <a:spcPct val="125000"/>
              </a:lnSpc>
            </a:pPr>
            <a:r>
              <a:rPr lang="en-US" sz="3000" dirty="0">
                <a:solidFill>
                  <a:srgbClr val="0070C0"/>
                </a:solidFill>
              </a:rPr>
              <a:t>Unary operators</a:t>
            </a:r>
            <a:r>
              <a:rPr lang="en-US" sz="3000" dirty="0"/>
              <a:t>, such as increment/decrement ($a++ or $a--) or negation (!$a), take a single operand.</a:t>
            </a:r>
          </a:p>
          <a:p>
            <a:pPr lvl="1">
              <a:lnSpc>
                <a:spcPct val="125000"/>
              </a:lnSpc>
            </a:pPr>
            <a:r>
              <a:rPr lang="en-US" sz="3000" dirty="0">
                <a:solidFill>
                  <a:srgbClr val="0070C0"/>
                </a:solidFill>
              </a:rPr>
              <a:t>Binary operators</a:t>
            </a:r>
            <a:r>
              <a:rPr lang="en-US" sz="3000" dirty="0"/>
              <a:t>, which represent the bulk of PHP operators (including, arithmetic, comparison, logic), take two operands.</a:t>
            </a:r>
          </a:p>
          <a:p>
            <a:pPr lvl="1">
              <a:lnSpc>
                <a:spcPct val="125000"/>
              </a:lnSpc>
            </a:pPr>
            <a:r>
              <a:rPr lang="en-US" sz="3000" dirty="0">
                <a:solidFill>
                  <a:srgbClr val="0070C0"/>
                </a:solidFill>
              </a:rPr>
              <a:t>Ternary operator</a:t>
            </a:r>
            <a:r>
              <a:rPr lang="en-US" sz="3000" dirty="0"/>
              <a:t>, which takes the form </a:t>
            </a:r>
            <a:r>
              <a:rPr lang="en-US" sz="3000" dirty="0">
                <a:solidFill>
                  <a:srgbClr val="0070C0"/>
                </a:solidFill>
              </a:rPr>
              <a:t>expr</a:t>
            </a:r>
            <a:r>
              <a:rPr lang="en-US" sz="3000" dirty="0"/>
              <a:t> ? </a:t>
            </a:r>
            <a:r>
              <a:rPr lang="en-US" sz="3000" dirty="0">
                <a:solidFill>
                  <a:srgbClr val="C00000"/>
                </a:solidFill>
              </a:rPr>
              <a:t>x</a:t>
            </a:r>
            <a:r>
              <a:rPr lang="en-US" sz="3000" dirty="0"/>
              <a:t> : </a:t>
            </a:r>
            <a:r>
              <a:rPr lang="en-US" sz="3000" dirty="0">
                <a:solidFill>
                  <a:srgbClr val="00B050"/>
                </a:solidFill>
              </a:rPr>
              <a:t>y</a:t>
            </a:r>
            <a:r>
              <a:rPr lang="en-US" sz="3000" dirty="0"/>
              <a:t>, requires three operands. It’s a terse, single-line if statement that returns </a:t>
            </a:r>
            <a:r>
              <a:rPr lang="en-US" sz="3000" dirty="0">
                <a:solidFill>
                  <a:srgbClr val="C00000"/>
                </a:solidFill>
              </a:rPr>
              <a:t>x</a:t>
            </a:r>
            <a:r>
              <a:rPr lang="en-US" sz="3000" dirty="0"/>
              <a:t> if </a:t>
            </a:r>
            <a:r>
              <a:rPr lang="en-US" sz="3000" dirty="0">
                <a:solidFill>
                  <a:srgbClr val="0070C0"/>
                </a:solidFill>
              </a:rPr>
              <a:t>expr</a:t>
            </a:r>
            <a:r>
              <a:rPr lang="en-US" sz="3000" dirty="0"/>
              <a:t> is TRUE and </a:t>
            </a:r>
            <a:r>
              <a:rPr lang="en-US" sz="3000" dirty="0">
                <a:solidFill>
                  <a:srgbClr val="00B050"/>
                </a:solidFill>
              </a:rPr>
              <a:t>y</a:t>
            </a:r>
            <a:r>
              <a:rPr lang="en-US" sz="3000" dirty="0"/>
              <a:t> if </a:t>
            </a:r>
            <a:r>
              <a:rPr lang="en-US" sz="3000" dirty="0">
                <a:solidFill>
                  <a:srgbClr val="0070C0"/>
                </a:solidFill>
              </a:rPr>
              <a:t>expr</a:t>
            </a:r>
            <a:r>
              <a:rPr lang="en-US" sz="3000" dirty="0"/>
              <a:t> is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21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E29526-D9BD-A7AE-8386-FC250EEC49A0}"/>
              </a:ext>
            </a:extLst>
          </p:cNvPr>
          <p:cNvSpPr/>
          <p:nvPr/>
        </p:nvSpPr>
        <p:spPr>
          <a:xfrm>
            <a:off x="0" y="0"/>
            <a:ext cx="12192000" cy="11355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F12DA-10B2-5A9B-6B0F-977DA673802C}"/>
              </a:ext>
            </a:extLst>
          </p:cNvPr>
          <p:cNvSpPr txBox="1"/>
          <p:nvPr/>
        </p:nvSpPr>
        <p:spPr>
          <a:xfrm>
            <a:off x="393192" y="233085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Operators (</a:t>
            </a:r>
            <a:r>
              <a:rPr lang="en-GB" sz="3600" b="1" kern="1200" spc="-5" dirty="0" err="1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cont</a:t>
            </a:r>
            <a:r>
              <a:rPr lang="en-GB" sz="3600" b="1" kern="1200" spc="-5" dirty="0">
                <a:solidFill>
                  <a:srgbClr val="FFC000"/>
                </a:solidFill>
                <a:latin typeface="Calibri" panose="020F0502020204030204"/>
                <a:ea typeface="+mn-ea"/>
                <a:cs typeface="+mn-cs"/>
              </a:rPr>
              <a:t>…)   </a:t>
            </a:r>
            <a:endParaRPr lang="en-US" sz="3600" b="1" kern="1200" spc="-5" dirty="0">
              <a:solidFill>
                <a:srgbClr val="FFC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5C2116F-AB1E-58A8-72E4-9D31A5ADAD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7176" y="103356"/>
            <a:ext cx="1029430" cy="10209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38959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11" y="328338"/>
            <a:ext cx="11360800" cy="763600"/>
          </a:xfrm>
        </p:spPr>
        <p:txBody>
          <a:bodyPr/>
          <a:lstStyle/>
          <a:p>
            <a:r>
              <a:rPr lang="en-US" dirty="0"/>
              <a:t>Operator Precedence (high to low)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FC105A3-380D-4DF9-BECB-E7596FB3A7F8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B57E982-84A0-50DE-024C-EF13FF950AF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63460627"/>
              </p:ext>
            </p:extLst>
          </p:nvPr>
        </p:nvGraphicFramePr>
        <p:xfrm>
          <a:off x="415600" y="1203448"/>
          <a:ext cx="10515600" cy="5470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5016">
                  <a:extLst>
                    <a:ext uri="{9D8B030D-6E8A-4147-A177-3AD203B41FA5}">
                      <a16:colId xmlns:a16="http://schemas.microsoft.com/office/drawing/2014/main" val="2269532135"/>
                    </a:ext>
                  </a:extLst>
                </a:gridCol>
                <a:gridCol w="6380584">
                  <a:extLst>
                    <a:ext uri="{9D8B030D-6E8A-4147-A177-3AD203B41FA5}">
                      <a16:colId xmlns:a16="http://schemas.microsoft.com/office/drawing/2014/main" val="1342845217"/>
                    </a:ext>
                  </a:extLst>
                </a:gridCol>
              </a:tblGrid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Operator(s)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778565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Parentheses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931133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++ --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Increment/decrement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51364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Logical (not)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076565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* /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Arithmetic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870119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+ - 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Arithmetic and concatenation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66028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&lt; &lt;= &gt; 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Comparison (inequality)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98533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== 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Comparison (equality)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866508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Logical (and)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65155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Logical (or)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462011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= += -= *= /= .= %= &amp;= != &lt;&lt;= &gt;&gt;=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839626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Logical (and)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46334"/>
                  </a:ext>
                </a:extLst>
              </a:tr>
              <a:tr h="420837">
                <a:tc>
                  <a:txBody>
                    <a:bodyPr/>
                    <a:lstStyle/>
                    <a:p>
                      <a:r>
                        <a:rPr lang="en-US" sz="2000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Logical (or)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613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923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Control Structures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3200" dirty="0"/>
              <a:t>Sequential Control structure (default structure)</a:t>
            </a:r>
          </a:p>
          <a:p>
            <a:pPr marL="457200" lvl="1" indent="0">
              <a:buNone/>
            </a:pPr>
            <a:r>
              <a:rPr lang="en-US" altLang="en-US" sz="3200" dirty="0"/>
              <a:t>Execution by which statements are executed </a:t>
            </a:r>
            <a:r>
              <a:rPr lang="en-US" altLang="en-US" sz="3200" dirty="0">
                <a:solidFill>
                  <a:srgbClr val="0070C0"/>
                </a:solidFill>
              </a:rPr>
              <a:t>in the same order in which they appear in the program</a:t>
            </a:r>
            <a:r>
              <a:rPr lang="en-US" altLang="en-US" sz="3200" dirty="0">
                <a:solidFill>
                  <a:srgbClr val="002060"/>
                </a:solidFill>
              </a:rPr>
              <a:t>.</a:t>
            </a:r>
          </a:p>
          <a:p>
            <a:r>
              <a:rPr lang="en-US" altLang="en-US" sz="3200" dirty="0"/>
              <a:t>Conditional control structure</a:t>
            </a:r>
          </a:p>
          <a:p>
            <a:pPr marL="457200" lvl="1" indent="0">
              <a:buNone/>
            </a:pPr>
            <a:r>
              <a:rPr lang="en-US" altLang="en-US" sz="3200" dirty="0"/>
              <a:t>Affect the flow of the program and</a:t>
            </a:r>
            <a:r>
              <a:rPr lang="en-US" altLang="en-US" sz="3200" dirty="0">
                <a:solidFill>
                  <a:srgbClr val="002060"/>
                </a:solidFill>
              </a:rPr>
              <a:t> </a:t>
            </a:r>
            <a:r>
              <a:rPr lang="en-US" altLang="en-US" sz="3200" dirty="0">
                <a:solidFill>
                  <a:srgbClr val="0070C0"/>
                </a:solidFill>
              </a:rPr>
              <a:t>execute or skip certain code according to certain criteria</a:t>
            </a:r>
            <a:r>
              <a:rPr lang="en-US" altLang="en-US" sz="3200" dirty="0">
                <a:solidFill>
                  <a:srgbClr val="002060"/>
                </a:solidFill>
              </a:rPr>
              <a:t>.</a:t>
            </a:r>
          </a:p>
          <a:p>
            <a:r>
              <a:rPr lang="en-US" altLang="en-US" sz="3200" dirty="0"/>
              <a:t>Loop control structure</a:t>
            </a:r>
          </a:p>
          <a:p>
            <a:pPr marL="457200" lvl="1" indent="0">
              <a:buNone/>
            </a:pPr>
            <a:r>
              <a:rPr lang="en-US" altLang="en-US" sz="3200" dirty="0"/>
              <a:t>Execute certain code </a:t>
            </a:r>
            <a:r>
              <a:rPr lang="en-US" altLang="en-US" sz="3200" dirty="0">
                <a:solidFill>
                  <a:srgbClr val="0070C0"/>
                </a:solidFill>
              </a:rPr>
              <a:t>a number of times according to specified criteria</a:t>
            </a:r>
            <a:r>
              <a:rPr lang="en-US" altLang="en-US" sz="32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9738B39-9E1C-4FDB-9B6F-01F462B55B63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23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Conditional Control Structures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Conditional control structures </a:t>
            </a:r>
            <a:r>
              <a:rPr lang="en-US" altLang="en-US" sz="3200" dirty="0">
                <a:solidFill>
                  <a:srgbClr val="0070C0"/>
                </a:solidFill>
              </a:rPr>
              <a:t>allows your program to take different execution paths based on decisions it makes at runtime</a:t>
            </a:r>
            <a:r>
              <a:rPr lang="en-US" altLang="en-US" sz="3200" dirty="0"/>
              <a:t>. </a:t>
            </a:r>
          </a:p>
          <a:p>
            <a:r>
              <a:rPr lang="en-GB" sz="3200" dirty="0"/>
              <a:t>Conditionals alter program flow</a:t>
            </a:r>
            <a:r>
              <a:rPr lang="en-PK" sz="3200" dirty="0"/>
              <a:t>. </a:t>
            </a:r>
            <a:r>
              <a:rPr lang="en-GB" sz="3200" dirty="0"/>
              <a:t>T</a:t>
            </a:r>
            <a:r>
              <a:rPr lang="en-PK" sz="3200" dirty="0"/>
              <a:t>h</a:t>
            </a:r>
            <a:r>
              <a:rPr lang="en-GB" sz="3200" dirty="0"/>
              <a:t>e</a:t>
            </a:r>
            <a:r>
              <a:rPr lang="en-PK" sz="3200" dirty="0"/>
              <a:t>r</a:t>
            </a:r>
            <a:r>
              <a:rPr lang="en-GB" sz="3200" dirty="0"/>
              <a:t>e</a:t>
            </a:r>
            <a:r>
              <a:rPr lang="en-PK" sz="3200" dirty="0"/>
              <a:t> </a:t>
            </a:r>
            <a:r>
              <a:rPr lang="en-GB" sz="3200" dirty="0"/>
              <a:t>a</a:t>
            </a:r>
            <a:r>
              <a:rPr lang="en-PK" sz="3200" dirty="0"/>
              <a:t>r</a:t>
            </a:r>
            <a:r>
              <a:rPr lang="en-GB" sz="3200" dirty="0"/>
              <a:t>e</a:t>
            </a:r>
            <a:r>
              <a:rPr lang="en-PK" sz="3200" dirty="0"/>
              <a:t> </a:t>
            </a:r>
            <a:r>
              <a:rPr lang="en-GB" sz="3200" dirty="0"/>
              <a:t>three basic conditionals:</a:t>
            </a:r>
            <a:endParaRPr lang="en-US" altLang="en-US" sz="3200" dirty="0"/>
          </a:p>
          <a:p>
            <a:r>
              <a:rPr lang="en-US" altLang="en-US" sz="3200" dirty="0"/>
              <a:t>PHP supports </a:t>
            </a:r>
            <a:r>
              <a:rPr lang="en-US" altLang="en-US" sz="3200" b="1" dirty="0">
                <a:solidFill>
                  <a:srgbClr val="0070C0"/>
                </a:solidFill>
              </a:rPr>
              <a:t>if</a:t>
            </a:r>
            <a:r>
              <a:rPr lang="en-US" altLang="en-US" sz="3200" dirty="0"/>
              <a:t>, </a:t>
            </a:r>
            <a:r>
              <a:rPr lang="en-US" altLang="en-US" sz="3200" b="1" dirty="0">
                <a:solidFill>
                  <a:srgbClr val="0070C0"/>
                </a:solidFill>
              </a:rPr>
              <a:t>switch </a:t>
            </a:r>
            <a:r>
              <a:rPr lang="en-US" altLang="en-US" sz="3200" dirty="0"/>
              <a:t>and</a:t>
            </a:r>
            <a:r>
              <a:rPr lang="en-US" altLang="en-US" sz="3200" b="1" dirty="0">
                <a:solidFill>
                  <a:srgbClr val="0070C0"/>
                </a:solidFill>
              </a:rPr>
              <a:t> ternary (? Operator)</a:t>
            </a:r>
            <a:r>
              <a:rPr lang="en-US" altLang="en-US" sz="3200" dirty="0"/>
              <a:t> conditional control structures.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195A1C80-BC81-4C95-B18E-9A283F7CDB8D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24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0070C0"/>
                </a:solidFill>
              </a:rPr>
              <a:t>if</a:t>
            </a:r>
            <a:r>
              <a:rPr lang="en-US" altLang="en-US" sz="4000" dirty="0"/>
              <a:t> Statements Example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$month = "March";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 if ($month == "March") 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	echo "It's springtime";</a:t>
            </a:r>
          </a:p>
          <a:p>
            <a:pPr marL="0" indent="0">
              <a:buNone/>
            </a:pPr>
            <a:endParaRPr lang="en-US" altLang="en-US" sz="24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$a = 2; 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$b = 3;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 if ($a &gt; $b) 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    echo "$a is greater than $b";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BE6B458D-9C38-462C-B53C-6E44A7CEDC52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219A8E-22D2-ADFA-EC39-7A81A80932E9}"/>
              </a:ext>
            </a:extLst>
          </p:cNvPr>
          <p:cNvSpPr txBox="1">
            <a:spLocks/>
          </p:cNvSpPr>
          <p:nvPr/>
        </p:nvSpPr>
        <p:spPr bwMode="auto">
          <a:xfrm>
            <a:off x="6095999" y="1536633"/>
            <a:ext cx="5743933" cy="4518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altLang="en-US" sz="2400" dirty="0">
                <a:latin typeface="Proxima Nova"/>
                <a:ea typeface="Proxima Nova"/>
                <a:cs typeface="Courier New" panose="02070309020205020404" pitchFamily="49" charset="0"/>
                <a:sym typeface="Proxima Nova"/>
              </a:rPr>
              <a:t>if ($a &lt; $b)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altLang="en-US" sz="2400" dirty="0">
                <a:latin typeface="Proxima Nova"/>
                <a:ea typeface="Proxima Nova"/>
                <a:cs typeface="Courier New" panose="02070309020205020404" pitchFamily="49" charset="0"/>
                <a:sym typeface="Proxima Nova"/>
              </a:rPr>
              <a:t>echo "$a is less than $b";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endParaRPr lang="en-US" altLang="en-US" sz="2400" dirty="0">
              <a:latin typeface="Proxima Nova"/>
              <a:ea typeface="Proxima Nova"/>
              <a:cs typeface="Courier New" panose="02070309020205020404" pitchFamily="49" charset="0"/>
              <a:sym typeface="Proxima Nova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altLang="en-US" sz="2400" dirty="0">
                <a:latin typeface="Proxima Nova"/>
                <a:ea typeface="Proxima Nova"/>
                <a:cs typeface="Courier New" panose="02070309020205020404" pitchFamily="49" charset="0"/>
                <a:sym typeface="Proxima Nova"/>
              </a:rPr>
              <a:t>if ($a &gt;= $b)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altLang="en-US" sz="2400" dirty="0">
                <a:latin typeface="Proxima Nova"/>
                <a:ea typeface="Proxima Nova"/>
                <a:cs typeface="Courier New" panose="02070309020205020404" pitchFamily="49" charset="0"/>
                <a:sym typeface="Proxima Nova"/>
              </a:rPr>
              <a:t> echo "$a is greater than or equal to $b";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altLang="en-US" sz="2400" dirty="0">
                <a:latin typeface="Proxima Nova"/>
                <a:ea typeface="Proxima Nova"/>
                <a:cs typeface="Courier New" panose="02070309020205020404" pitchFamily="49" charset="0"/>
                <a:sym typeface="Proxima Nova"/>
              </a:rPr>
              <a:t>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altLang="en-US" sz="2400" dirty="0">
                <a:latin typeface="Proxima Nova"/>
                <a:ea typeface="Proxima Nova"/>
                <a:cs typeface="Courier New" panose="02070309020205020404" pitchFamily="49" charset="0"/>
                <a:sym typeface="Proxima Nova"/>
              </a:rPr>
              <a:t>if ($a &lt;= $b)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altLang="en-US" sz="2400" dirty="0">
                <a:latin typeface="Proxima Nova"/>
                <a:ea typeface="Proxima Nova"/>
                <a:cs typeface="Courier New" panose="02070309020205020404" pitchFamily="49" charset="0"/>
                <a:sym typeface="Proxima Nova"/>
              </a:rPr>
              <a:t>   echo "$a is less than or equal to $b";</a:t>
            </a:r>
          </a:p>
        </p:txBody>
      </p:sp>
    </p:spTree>
    <p:extLst>
      <p:ext uri="{BB962C8B-B14F-4D97-AF65-F5344CB8AC3E}">
        <p14:creationId xmlns:p14="http://schemas.microsoft.com/office/powerpoint/2010/main" val="259591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0070C0"/>
                </a:solidFill>
              </a:rPr>
              <a:t>if else </a:t>
            </a:r>
            <a:r>
              <a:rPr lang="en-US" altLang="en-US" sz="4000" dirty="0"/>
              <a:t>Statement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200" dirty="0"/>
              <a:t>You can add an </a:t>
            </a:r>
            <a:r>
              <a:rPr lang="en-US" altLang="en-US" sz="3200" i="1" dirty="0">
                <a:solidFill>
                  <a:srgbClr val="0070C0"/>
                </a:solidFill>
              </a:rPr>
              <a:t>else</a:t>
            </a:r>
            <a:r>
              <a:rPr lang="en-US" altLang="en-US" sz="3200" dirty="0"/>
              <a:t> branch to an </a:t>
            </a:r>
            <a:r>
              <a:rPr lang="en-US" altLang="en-US" sz="3200" dirty="0">
                <a:solidFill>
                  <a:srgbClr val="0070C0"/>
                </a:solidFill>
              </a:rPr>
              <a:t>if</a:t>
            </a:r>
            <a:r>
              <a:rPr lang="en-US" altLang="en-US" sz="3200" dirty="0"/>
              <a:t> statement to execute code only if the truth expression in the </a:t>
            </a:r>
            <a:r>
              <a:rPr lang="en-US" altLang="en-US" sz="3200" dirty="0">
                <a:solidFill>
                  <a:srgbClr val="0070C0"/>
                </a:solidFill>
              </a:rPr>
              <a:t>if</a:t>
            </a:r>
            <a:r>
              <a:rPr lang="en-US" altLang="en-US" sz="3200" dirty="0"/>
              <a:t> statement evaluated to false.</a:t>
            </a:r>
            <a:endParaRPr lang="en-US" altLang="en-US" sz="3200" dirty="0">
              <a:solidFill>
                <a:srgbClr val="002060"/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if (expression)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	statement(s)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else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	statement(s)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CE735D6-89E6-4B50-A1EF-8D528F3E6870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26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3A61A4-B4EA-FF4C-8431-18377F535589}"/>
              </a:ext>
            </a:extLst>
          </p:cNvPr>
          <p:cNvSpPr txBox="1">
            <a:spLocks/>
          </p:cNvSpPr>
          <p:nvPr/>
        </p:nvSpPr>
        <p:spPr>
          <a:xfrm>
            <a:off x="5554528" y="2810944"/>
            <a:ext cx="4942784" cy="3931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36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>
              <a:lnSpc>
                <a:spcPct val="150000"/>
              </a:lnSpc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 $marks = 48;</a:t>
            </a:r>
          </a:p>
          <a:p>
            <a:pPr marL="0" indent="0">
              <a:lnSpc>
                <a:spcPct val="150000"/>
              </a:lnSpc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if ($marks &gt;= 50) </a:t>
            </a:r>
          </a:p>
          <a:p>
            <a:pPr marL="457200" lvl="1" indent="0">
              <a:lnSpc>
                <a:spcPct val="150000"/>
              </a:lnSpc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echo "Pass";</a:t>
            </a:r>
          </a:p>
          <a:p>
            <a:pPr marL="0" indent="0">
              <a:lnSpc>
                <a:spcPct val="150000"/>
              </a:lnSpc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 else</a:t>
            </a:r>
          </a:p>
          <a:p>
            <a:pPr marL="457200" lvl="1" indent="0">
              <a:lnSpc>
                <a:spcPct val="150000"/>
              </a:lnSpc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 echo "Not pass";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0070C0"/>
                </a:solidFill>
              </a:rPr>
              <a:t>if </a:t>
            </a:r>
            <a:r>
              <a:rPr lang="en-US" altLang="en-US" sz="4000" dirty="0" err="1">
                <a:solidFill>
                  <a:srgbClr val="0070C0"/>
                </a:solidFill>
              </a:rPr>
              <a:t>elseif</a:t>
            </a:r>
            <a:r>
              <a:rPr lang="en-US" altLang="en-US" sz="4000" dirty="0">
                <a:solidFill>
                  <a:srgbClr val="0070C0"/>
                </a:solidFill>
              </a:rPr>
              <a:t> </a:t>
            </a:r>
            <a:r>
              <a:rPr lang="en-US" altLang="en-US" sz="4000" dirty="0"/>
              <a:t>statement (1 of 2)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4979360" cy="4555200"/>
          </a:xfrm>
        </p:spPr>
        <p:txBody>
          <a:bodyPr>
            <a:normAutofit lnSpcReduction="10000"/>
          </a:bodyPr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if (expression)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statement(s)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 err="1">
                <a:solidFill>
                  <a:srgbClr val="0070C0"/>
                </a:solidFill>
              </a:rPr>
              <a:t>elseif</a:t>
            </a:r>
            <a:r>
              <a:rPr lang="en-US" altLang="en-US" sz="3200" dirty="0">
                <a:solidFill>
                  <a:srgbClr val="0070C0"/>
                </a:solidFill>
              </a:rPr>
              <a:t> (expression)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	statement(s)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C00000"/>
                </a:solidFill>
              </a:rPr>
              <a:t>else if (expression)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C00000"/>
                </a:solidFill>
              </a:rPr>
              <a:t>	statement(s)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else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statement(s)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EEB3A32-BDD8-452E-95B7-055D94D9EDC3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27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3C891-88BD-D37E-00C0-51BEC16667BF}"/>
              </a:ext>
            </a:extLst>
          </p:cNvPr>
          <p:cNvSpPr txBox="1"/>
          <p:nvPr/>
        </p:nvSpPr>
        <p:spPr>
          <a:xfrm>
            <a:off x="4791456" y="1536633"/>
            <a:ext cx="6839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Also, it is a common practice by PHP developers to use </a:t>
            </a:r>
            <a:r>
              <a:rPr lang="en-US" altLang="en-US" sz="2400" dirty="0">
                <a:solidFill>
                  <a:srgbClr val="0070C0"/>
                </a:solidFill>
              </a:rPr>
              <a:t>else if </a:t>
            </a:r>
            <a:r>
              <a:rPr lang="en-US" altLang="en-US" sz="2400" dirty="0"/>
              <a:t>notation instead of </a:t>
            </a:r>
            <a:r>
              <a:rPr lang="en-US" altLang="en-US" sz="2400" dirty="0">
                <a:solidFill>
                  <a:srgbClr val="0070C0"/>
                </a:solidFill>
              </a:rPr>
              <a:t>elseif</a:t>
            </a:r>
            <a:r>
              <a:rPr lang="en-US" altLang="en-US" sz="2400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A7B301-C9FB-49F4-767A-BA1FF82B3D64}"/>
              </a:ext>
            </a:extLst>
          </p:cNvPr>
          <p:cNvSpPr txBox="1">
            <a:spLocks/>
          </p:cNvSpPr>
          <p:nvPr/>
        </p:nvSpPr>
        <p:spPr>
          <a:xfrm>
            <a:off x="5215850" y="2367630"/>
            <a:ext cx="5089088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36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828754" marR="0" lvl="2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438339" marR="0" lvl="3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047924" marR="0" lvl="4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3657509" marR="0" lvl="5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4267093" marR="0" lvl="6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4876678" marR="0" lvl="7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5486263" marR="0" lvl="8" indent="-423323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867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$marks = 87;</a:t>
            </a:r>
          </a:p>
          <a:p>
            <a:pPr marL="0" indent="0"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if ($marks &gt;= 90) </a:t>
            </a:r>
          </a:p>
          <a:p>
            <a:pPr marL="0" indent="0"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	echo "Excellent";</a:t>
            </a:r>
          </a:p>
          <a:p>
            <a:pPr marL="0" indent="0"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elseif ($marks &gt;= 80) </a:t>
            </a:r>
          </a:p>
          <a:p>
            <a:pPr marL="0" lvl="1" indent="0">
              <a:spcBef>
                <a:spcPts val="1000"/>
              </a:spcBef>
              <a:buFont typeface="Proxima Nova"/>
              <a:buNone/>
            </a:pP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	echo "Very good";</a:t>
            </a:r>
            <a:endParaRPr lang="en-US" sz="3200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0" indent="0">
              <a:buFont typeface="Proxima Nova"/>
              <a:buNone/>
            </a:pP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elseif ($marks &gt;= 50)</a:t>
            </a:r>
          </a:p>
          <a:p>
            <a:pPr marL="0" indent="0">
              <a:buFont typeface="Proxima Nova"/>
              <a:buNone/>
            </a:pP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	echo </a:t>
            </a: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"</a:t>
            </a: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minimal pass</a:t>
            </a: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"</a:t>
            </a: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Proxima Nova"/>
              <a:buNone/>
            </a:pP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else</a:t>
            </a:r>
          </a:p>
          <a:p>
            <a:pPr marL="0" indent="0">
              <a:buFont typeface="Proxima Nova"/>
              <a:buNone/>
            </a:pP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	echo </a:t>
            </a: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"</a:t>
            </a: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not pass</a:t>
            </a:r>
            <a:r>
              <a:rPr lang="en-US" alt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"</a:t>
            </a: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EF73-9A5F-49AD-ACA6-0E73218B7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The switch Statement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9635D-21E8-4136-98E5-F1FC8D96E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800" cy="4848125"/>
          </a:xfrm>
        </p:spPr>
        <p:txBody>
          <a:bodyPr numCol="2">
            <a:normAutofit/>
          </a:bodyPr>
          <a:lstStyle/>
          <a:p>
            <a:r>
              <a:rPr lang="en-GB" sz="3200" dirty="0">
                <a:solidFill>
                  <a:srgbClr val="0070C0"/>
                </a:solidFill>
              </a:rPr>
              <a:t>Example</a:t>
            </a:r>
            <a:r>
              <a:rPr lang="en-GB" sz="2400" i="1" dirty="0"/>
              <a:t>. </a:t>
            </a:r>
            <a:r>
              <a:rPr lang="en-GB" sz="2800" i="1" dirty="0"/>
              <a:t>A switch statement</a:t>
            </a:r>
            <a:endParaRPr lang="en-GB" sz="2400" i="1" dirty="0"/>
          </a:p>
          <a:p>
            <a:pPr marL="457200" lvl="1" indent="0">
              <a:buNone/>
            </a:pPr>
            <a:r>
              <a:rPr lang="en-GB" sz="2400" dirty="0"/>
              <a:t>&lt;?php</a:t>
            </a:r>
          </a:p>
          <a:p>
            <a:pPr marL="457200" lvl="1" indent="0">
              <a:buNone/>
            </a:pPr>
            <a:r>
              <a:rPr lang="en-GB" sz="2400" dirty="0"/>
              <a:t>switch ($page)</a:t>
            </a:r>
          </a:p>
          <a:p>
            <a:pPr marL="457200" lvl="1" indent="0">
              <a:buNone/>
            </a:pPr>
            <a:r>
              <a:rPr lang="en-PK" sz="2400" dirty="0"/>
              <a:t>{</a:t>
            </a:r>
          </a:p>
          <a:p>
            <a:pPr marL="457200" lvl="1" indent="0">
              <a:buNone/>
            </a:pPr>
            <a:r>
              <a:rPr lang="en-GB" sz="2400" dirty="0"/>
              <a:t>case "Home":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echo "You selected Home";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break;</a:t>
            </a:r>
          </a:p>
          <a:p>
            <a:pPr marL="457200" lvl="1" indent="0">
              <a:buNone/>
            </a:pPr>
            <a:r>
              <a:rPr lang="en-GB" sz="2400" dirty="0"/>
              <a:t>case "About":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echo "You selected About";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break;</a:t>
            </a:r>
          </a:p>
          <a:p>
            <a:pPr marL="457200" lvl="1" indent="0">
              <a:buNone/>
            </a:pPr>
            <a:r>
              <a:rPr lang="en-GB" sz="2400" dirty="0"/>
              <a:t>case "News":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echo "You selected News";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break;</a:t>
            </a:r>
          </a:p>
          <a:p>
            <a:pPr marL="457200" lvl="1" indent="0">
              <a:buNone/>
            </a:pPr>
            <a:r>
              <a:rPr lang="en-GB" sz="2400" dirty="0"/>
              <a:t>case "Login":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echo "You selected Login";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break;</a:t>
            </a:r>
          </a:p>
          <a:p>
            <a:pPr marL="457200" lvl="1" indent="0">
              <a:buNone/>
            </a:pPr>
            <a:r>
              <a:rPr lang="en-GB" sz="2400" dirty="0"/>
              <a:t>case "Links":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echo "You selected Links";</a:t>
            </a:r>
          </a:p>
          <a:p>
            <a:pPr marL="457200" lvl="1" indent="0">
              <a:buNone/>
            </a:pPr>
            <a:r>
              <a:rPr lang="en-PK" sz="2400" dirty="0"/>
              <a:t>	</a:t>
            </a:r>
            <a:r>
              <a:rPr lang="en-GB" sz="2400" dirty="0"/>
              <a:t>break;</a:t>
            </a:r>
          </a:p>
          <a:p>
            <a:pPr marL="457200" lvl="1" indent="0">
              <a:buNone/>
            </a:pPr>
            <a:r>
              <a:rPr lang="en-PK" sz="2400" dirty="0"/>
              <a:t>}</a:t>
            </a:r>
          </a:p>
          <a:p>
            <a:pPr marL="457200" lvl="1" indent="0">
              <a:buNone/>
            </a:pPr>
            <a:r>
              <a:rPr lang="en-PK" sz="2400" dirty="0"/>
              <a:t>?&gt;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384BB-7E79-4F1C-BDD1-BE7DF1D4B7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6D1DC9-C721-4D5F-A7A1-DF55DAF8C7D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6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switch Statements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960420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If no </a:t>
            </a:r>
            <a:r>
              <a:rPr lang="en-US" altLang="en-US" sz="3200" dirty="0">
                <a:solidFill>
                  <a:srgbClr val="0070C0"/>
                </a:solidFill>
              </a:rPr>
              <a:t>case</a:t>
            </a:r>
            <a:r>
              <a:rPr lang="en-US" altLang="en-US" sz="3200" dirty="0"/>
              <a:t> expression is met and the switch construct contains default, the </a:t>
            </a:r>
            <a:r>
              <a:rPr lang="en-US" altLang="en-US" sz="3200" dirty="0">
                <a:solidFill>
                  <a:srgbClr val="0070C0"/>
                </a:solidFill>
              </a:rPr>
              <a:t>default</a:t>
            </a:r>
            <a:r>
              <a:rPr lang="en-US" altLang="en-US" sz="3200" dirty="0"/>
              <a:t> statement list is executed. </a:t>
            </a:r>
          </a:p>
          <a:p>
            <a:r>
              <a:rPr lang="en-US" altLang="en-US" sz="3200" dirty="0"/>
              <a:t>Note that the </a:t>
            </a:r>
            <a:r>
              <a:rPr lang="en-US" altLang="en-US" sz="3200" dirty="0">
                <a:solidFill>
                  <a:srgbClr val="0070C0"/>
                </a:solidFill>
              </a:rPr>
              <a:t>default</a:t>
            </a:r>
            <a:r>
              <a:rPr lang="en-US" altLang="en-US" sz="3200" dirty="0"/>
              <a:t> case </a:t>
            </a:r>
            <a:r>
              <a:rPr lang="en-US" altLang="en-US" sz="3200" dirty="0">
                <a:solidFill>
                  <a:srgbClr val="0070C0"/>
                </a:solidFill>
              </a:rPr>
              <a:t>must appear last in the list of cases </a:t>
            </a:r>
            <a:r>
              <a:rPr lang="en-US" altLang="en-US" sz="3200" dirty="0"/>
              <a:t>or </a:t>
            </a:r>
            <a:r>
              <a:rPr lang="en-US" altLang="en-US" sz="3200" dirty="0">
                <a:solidFill>
                  <a:srgbClr val="C00000"/>
                </a:solidFill>
              </a:rPr>
              <a:t>not appear at all</a:t>
            </a:r>
            <a:r>
              <a:rPr lang="en-US" altLang="en-US" sz="3200" dirty="0"/>
              <a:t>.</a:t>
            </a:r>
          </a:p>
          <a:p>
            <a:r>
              <a:rPr lang="en-US" altLang="en-US" sz="3200" dirty="0"/>
              <a:t>A default statement to add in the Example</a:t>
            </a:r>
          </a:p>
          <a:p>
            <a:pPr marL="761981" lvl="1" indent="0">
              <a:buNone/>
            </a:pPr>
            <a:r>
              <a:rPr lang="en-US" altLang="en-US" sz="3267" dirty="0"/>
              <a:t>default:</a:t>
            </a:r>
          </a:p>
          <a:p>
            <a:pPr marL="761981" lvl="1" indent="0">
              <a:buNone/>
            </a:pPr>
            <a:r>
              <a:rPr lang="en-US" altLang="en-US" sz="3267" dirty="0"/>
              <a:t>echo "Unrecognized selection";</a:t>
            </a:r>
          </a:p>
          <a:p>
            <a:pPr marL="761981" lvl="1" indent="0">
              <a:buNone/>
            </a:pPr>
            <a:r>
              <a:rPr lang="en-US" altLang="en-US" sz="3267" dirty="0"/>
              <a:t>break;</a:t>
            </a:r>
          </a:p>
          <a:p>
            <a:endParaRPr lang="en-US" altLang="en-US" sz="3200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D83908D6-6CC4-48C1-B410-9AF0D34E1580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29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Example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$answer = 'N';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switch ( $answer ) {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case ( $answer == ‘y’ || $answer == 'Y' ):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	echo ("The answer was yes");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	break;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case ( $answer == 'n' or $answer == 'N' ):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	echo ("The answer was no");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	break;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default: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	echo ("Error: $answer is not valid");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}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141D25A-569D-493E-B486-CAF928AE781F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30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8A2F7-A92D-4240-84E6-38515171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The ? Operator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18D5-7B4B-4820-9725-26AB02BDF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789" y="1536633"/>
            <a:ext cx="11864422" cy="504063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One way of avoiding the verbosity of </a:t>
            </a:r>
            <a:r>
              <a:rPr lang="en-US" sz="3200" dirty="0">
                <a:solidFill>
                  <a:srgbClr val="0070C0"/>
                </a:solidFill>
              </a:rPr>
              <a:t>if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0070C0"/>
                </a:solidFill>
              </a:rPr>
              <a:t>else</a:t>
            </a:r>
            <a:r>
              <a:rPr lang="en-US" sz="3200" dirty="0"/>
              <a:t> statements is to use the more compact </a:t>
            </a:r>
            <a:r>
              <a:rPr lang="en-US" sz="3200" dirty="0">
                <a:solidFill>
                  <a:srgbClr val="0070C0"/>
                </a:solidFill>
              </a:rPr>
              <a:t>ternary operator</a:t>
            </a:r>
            <a:r>
              <a:rPr lang="en-US" sz="3200" dirty="0"/>
              <a:t>, </a:t>
            </a:r>
            <a:r>
              <a:rPr lang="en-US" sz="3200" b="1" dirty="0">
                <a:solidFill>
                  <a:srgbClr val="0070C0"/>
                </a:solidFill>
              </a:rPr>
              <a:t>?</a:t>
            </a:r>
          </a:p>
          <a:p>
            <a:r>
              <a:rPr lang="en-US" sz="3200" dirty="0"/>
              <a:t>The </a:t>
            </a:r>
            <a:r>
              <a:rPr lang="en-US" sz="3200" dirty="0">
                <a:solidFill>
                  <a:srgbClr val="0070C0"/>
                </a:solidFill>
              </a:rPr>
              <a:t>?</a:t>
            </a:r>
            <a:r>
              <a:rPr lang="en-US" sz="3200" dirty="0"/>
              <a:t> operator is passed an expression that it must evaluate, along with two statements to execute: one for when the expression evaluates to </a:t>
            </a:r>
            <a:r>
              <a:rPr lang="en-US" sz="3200" dirty="0">
                <a:solidFill>
                  <a:srgbClr val="0070C0"/>
                </a:solidFill>
              </a:rPr>
              <a:t>TRUE</a:t>
            </a:r>
            <a:r>
              <a:rPr lang="en-US" sz="3200" dirty="0"/>
              <a:t>, the other for when it is </a:t>
            </a:r>
            <a:r>
              <a:rPr lang="en-US" sz="3200" dirty="0">
                <a:solidFill>
                  <a:srgbClr val="0070C0"/>
                </a:solidFill>
              </a:rPr>
              <a:t>FALSE</a:t>
            </a:r>
            <a:r>
              <a:rPr lang="en-US" sz="3200" dirty="0"/>
              <a:t>.</a:t>
            </a:r>
          </a:p>
          <a:p>
            <a:r>
              <a:rPr lang="en-GB" dirty="0"/>
              <a:t>Example. Using the ? operator</a:t>
            </a:r>
          </a:p>
          <a:p>
            <a:pPr marL="457200" lvl="1" indent="0">
              <a:buNone/>
            </a:pPr>
            <a:r>
              <a:rPr lang="en-GB" sz="2800" dirty="0">
                <a:solidFill>
                  <a:srgbClr val="0070C0"/>
                </a:solidFill>
              </a:rPr>
              <a:t>&lt;?</a:t>
            </a:r>
            <a:r>
              <a:rPr lang="en-GB" sz="2800" dirty="0" err="1">
                <a:solidFill>
                  <a:srgbClr val="0070C0"/>
                </a:solidFill>
              </a:rPr>
              <a:t>php</a:t>
            </a:r>
            <a:endParaRPr lang="en-GB" sz="28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GB" sz="2800" dirty="0">
                <a:solidFill>
                  <a:srgbClr val="0070C0"/>
                </a:solidFill>
              </a:rPr>
              <a:t>echo $fuel &lt;= 1 ? "Fill tank now" : "There's enough fuel";</a:t>
            </a:r>
          </a:p>
          <a:p>
            <a:pPr marL="457200" lvl="1" indent="0">
              <a:buNone/>
            </a:pPr>
            <a:r>
              <a:rPr lang="en-GB" sz="2800" dirty="0">
                <a:solidFill>
                  <a:srgbClr val="0070C0"/>
                </a:solidFill>
              </a:rPr>
              <a:t>?&gt;</a:t>
            </a:r>
            <a:endParaRPr lang="en-US" sz="3200" dirty="0">
              <a:solidFill>
                <a:srgbClr val="0070C0"/>
              </a:solidFill>
            </a:endParaRPr>
          </a:p>
          <a:p>
            <a:endParaRPr lang="en-PK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71D04-F8DF-48AB-85E5-6C759EA7DA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6D1DC9-C721-4D5F-A7A1-DF55DAF8C7D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03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Loop Control Structures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sz="3200" dirty="0"/>
              <a:t>Loop control structures are </a:t>
            </a:r>
            <a:r>
              <a:rPr lang="en-US" altLang="en-US" sz="3200" dirty="0">
                <a:solidFill>
                  <a:srgbClr val="0070C0"/>
                </a:solidFill>
              </a:rPr>
              <a:t>used for repeating certain tasks in your program</a:t>
            </a:r>
            <a:r>
              <a:rPr lang="en-US" altLang="en-US" sz="3200" dirty="0"/>
              <a:t>, such as iterating over a database query result set.</a:t>
            </a:r>
          </a:p>
          <a:p>
            <a:r>
              <a:rPr lang="en-US" altLang="en-US" sz="3200" dirty="0"/>
              <a:t>Essentials of Loops</a:t>
            </a:r>
          </a:p>
          <a:p>
            <a:pPr lvl="1"/>
            <a:r>
              <a:rPr lang="en-US" altLang="en-US" sz="3200" dirty="0"/>
              <a:t>The </a:t>
            </a:r>
            <a:r>
              <a:rPr lang="en-US" altLang="en-US" sz="3200" i="1" dirty="0">
                <a:solidFill>
                  <a:srgbClr val="0070C0"/>
                </a:solidFill>
              </a:rPr>
              <a:t>name of a loop variable</a:t>
            </a:r>
            <a:r>
              <a:rPr lang="en-US" altLang="en-US" sz="3200" dirty="0"/>
              <a:t> (or loop counter)</a:t>
            </a:r>
          </a:p>
          <a:p>
            <a:pPr lvl="1"/>
            <a:r>
              <a:rPr lang="en-US" altLang="en-US" sz="3200" dirty="0"/>
              <a:t>The </a:t>
            </a:r>
            <a:r>
              <a:rPr lang="en-US" altLang="en-US" sz="3200" i="1" dirty="0">
                <a:solidFill>
                  <a:srgbClr val="0070C0"/>
                </a:solidFill>
              </a:rPr>
              <a:t>initial value </a:t>
            </a:r>
            <a:r>
              <a:rPr lang="en-US" altLang="en-US" sz="3200" dirty="0"/>
              <a:t>of the loop variable</a:t>
            </a:r>
          </a:p>
          <a:p>
            <a:pPr lvl="1"/>
            <a:r>
              <a:rPr lang="en-US" altLang="en-US" sz="3200" dirty="0"/>
              <a:t>The </a:t>
            </a:r>
            <a:r>
              <a:rPr lang="en-US" altLang="en-US" sz="3200" i="1" dirty="0">
                <a:solidFill>
                  <a:srgbClr val="0070C0"/>
                </a:solidFill>
              </a:rPr>
              <a:t>loop-continuation condition </a:t>
            </a:r>
            <a:r>
              <a:rPr lang="en-US" altLang="en-US" sz="3200" dirty="0"/>
              <a:t>that tests for the </a:t>
            </a:r>
            <a:r>
              <a:rPr lang="en-US" altLang="en-US" sz="3200" i="1" dirty="0">
                <a:solidFill>
                  <a:srgbClr val="0070C0"/>
                </a:solidFill>
              </a:rPr>
              <a:t>final value</a:t>
            </a:r>
            <a:r>
              <a:rPr lang="en-US" altLang="en-US" sz="3200" dirty="0">
                <a:solidFill>
                  <a:srgbClr val="0070C0"/>
                </a:solidFill>
              </a:rPr>
              <a:t> </a:t>
            </a:r>
            <a:r>
              <a:rPr lang="en-US" altLang="en-US" sz="3200" dirty="0"/>
              <a:t>of the loop variable</a:t>
            </a:r>
          </a:p>
          <a:p>
            <a:pPr lvl="1"/>
            <a:r>
              <a:rPr lang="en-US" altLang="en-US" sz="3200" dirty="0"/>
              <a:t>The </a:t>
            </a:r>
            <a:r>
              <a:rPr lang="en-US" altLang="en-US" sz="3200" dirty="0">
                <a:solidFill>
                  <a:srgbClr val="0070C0"/>
                </a:solidFill>
              </a:rPr>
              <a:t>progress (</a:t>
            </a:r>
            <a:r>
              <a:rPr lang="en-US" altLang="en-US" sz="3200" i="1" dirty="0">
                <a:solidFill>
                  <a:srgbClr val="0070C0"/>
                </a:solidFill>
              </a:rPr>
              <a:t>increment /decrement) </a:t>
            </a:r>
            <a:r>
              <a:rPr lang="en-US" altLang="en-US" sz="3200" dirty="0"/>
              <a:t>by which the loop variable is modified each time through the loop.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5E23A590-3BBE-4F1F-AAB1-B744FEC11F59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32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Types of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25821" y="1536633"/>
            <a:ext cx="11624441" cy="4906208"/>
          </a:xfrm>
        </p:spPr>
        <p:txBody>
          <a:bodyPr rtlCol="0">
            <a:normAutofit fontScale="85000" lnSpcReduction="10000"/>
          </a:bodyPr>
          <a:lstStyle/>
          <a:p>
            <a:pPr>
              <a:defRPr/>
            </a:pPr>
            <a:r>
              <a:rPr lang="en-US" sz="3100" b="1" dirty="0"/>
              <a:t>While </a:t>
            </a:r>
          </a:p>
          <a:p>
            <a:pPr marL="0" indent="0">
              <a:buNone/>
              <a:defRPr/>
            </a:pPr>
            <a:r>
              <a:rPr lang="en-US" sz="3100" dirty="0"/>
              <a:t>	Loops through a block of code as long as the specified condition is true.</a:t>
            </a:r>
          </a:p>
          <a:p>
            <a:pPr>
              <a:defRPr/>
            </a:pPr>
            <a:r>
              <a:rPr lang="en-US" sz="3100" b="1" dirty="0"/>
              <a:t>Do…while</a:t>
            </a:r>
          </a:p>
          <a:p>
            <a:pPr marL="0" indent="0">
              <a:buNone/>
              <a:defRPr/>
            </a:pPr>
            <a:r>
              <a:rPr lang="en-US" sz="3100" dirty="0"/>
              <a:t>	Loops through a block of code once, and then repeats the  loop as long as the specified condition is true.</a:t>
            </a:r>
          </a:p>
          <a:p>
            <a:pPr>
              <a:defRPr/>
            </a:pPr>
            <a:r>
              <a:rPr lang="en-US" sz="3100" b="1" dirty="0"/>
              <a:t>For</a:t>
            </a:r>
          </a:p>
          <a:p>
            <a:pPr marL="0" indent="0">
              <a:buNone/>
              <a:defRPr/>
            </a:pPr>
            <a:r>
              <a:rPr lang="en-US" sz="3100" dirty="0"/>
              <a:t>	Loops through a block of code a specified number of times.</a:t>
            </a:r>
          </a:p>
          <a:p>
            <a:pPr>
              <a:defRPr/>
            </a:pPr>
            <a:r>
              <a:rPr lang="en-US" sz="3100" b="1" dirty="0"/>
              <a:t>Foreach</a:t>
            </a:r>
          </a:p>
          <a:p>
            <a:pPr marL="0" indent="0">
              <a:buNone/>
              <a:defRPr/>
            </a:pPr>
            <a:r>
              <a:rPr lang="en-US" sz="3100" dirty="0"/>
              <a:t>	Loops through a block of code for each element in an array.</a:t>
            </a:r>
          </a:p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sz="3200" b="1" dirty="0">
                <a:solidFill>
                  <a:srgbClr val="0070C0"/>
                </a:solidFill>
              </a:rPr>
              <a:t>Differentiate between them</a:t>
            </a:r>
          </a:p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sz="3200" b="1" dirty="0">
                <a:solidFill>
                  <a:srgbClr val="C00000"/>
                </a:solidFill>
              </a:rPr>
              <a:t>Which one you most like to use in your program?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5A47D73C-52F4-41AC-ACCD-895FC78881E2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33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Example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 = 1;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while ( 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 &lt;= 15 )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{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echo "$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, ";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++;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}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3E4A0845-2682-47FC-9085-91FFAA677768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34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AD2B4F-A4C6-0712-9D17-A9A0A5CC21A4}"/>
              </a:ext>
            </a:extLst>
          </p:cNvPr>
          <p:cNvSpPr/>
          <p:nvPr/>
        </p:nvSpPr>
        <p:spPr>
          <a:xfrm>
            <a:off x="4614036" y="1482757"/>
            <a:ext cx="7254766" cy="3515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sz="3200" dirty="0">
                <a:solidFill>
                  <a:srgbClr val="002060"/>
                </a:solidFill>
                <a:latin typeface="+mn-lt"/>
                <a:cs typeface="Courier New" panose="02070309020205020404" pitchFamily="49" charset="0"/>
              </a:rPr>
              <a:t>$count = 1;</a:t>
            </a: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sz="3200" dirty="0">
                <a:solidFill>
                  <a:srgbClr val="002060"/>
                </a:solidFill>
                <a:latin typeface="+mn-lt"/>
                <a:cs typeface="Courier New" panose="02070309020205020404" pitchFamily="49" charset="0"/>
              </a:rPr>
              <a:t> while ($count &lt;= 12)</a:t>
            </a: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sz="3200" dirty="0">
                <a:solidFill>
                  <a:srgbClr val="002060"/>
                </a:solidFill>
                <a:latin typeface="+mn-lt"/>
                <a:cs typeface="Courier New" panose="02070309020205020404" pitchFamily="49" charset="0"/>
              </a:rPr>
              <a:t> {</a:t>
            </a:r>
          </a:p>
          <a:p>
            <a:pPr lvl="2">
              <a:lnSpc>
                <a:spcPct val="90000"/>
              </a:lnSpc>
              <a:spcBef>
                <a:spcPts val="500"/>
              </a:spcBef>
            </a:pPr>
            <a:r>
              <a:rPr lang="en-US" sz="3200" dirty="0">
                <a:solidFill>
                  <a:srgbClr val="002060"/>
                </a:solidFill>
                <a:latin typeface="+mn-lt"/>
                <a:cs typeface="Courier New" panose="02070309020205020404" pitchFamily="49" charset="0"/>
              </a:rPr>
              <a:t> echo "$count times 12 is ". $count * 12 . "&lt;</a:t>
            </a:r>
            <a:r>
              <a:rPr lang="en-US" sz="3200" dirty="0" err="1">
                <a:solidFill>
                  <a:srgbClr val="002060"/>
                </a:solidFill>
                <a:latin typeface="+mn-lt"/>
                <a:cs typeface="Courier New" panose="02070309020205020404" pitchFamily="49" charset="0"/>
              </a:rPr>
              <a:t>br</a:t>
            </a:r>
            <a:r>
              <a:rPr lang="en-US" sz="3200" dirty="0">
                <a:solidFill>
                  <a:srgbClr val="002060"/>
                </a:solidFill>
                <a:latin typeface="+mn-lt"/>
                <a:cs typeface="Courier New" panose="02070309020205020404" pitchFamily="49" charset="0"/>
              </a:rPr>
              <a:t>&gt;";</a:t>
            </a:r>
          </a:p>
          <a:p>
            <a:pPr lvl="2">
              <a:lnSpc>
                <a:spcPct val="90000"/>
              </a:lnSpc>
              <a:spcBef>
                <a:spcPts val="500"/>
              </a:spcBef>
            </a:pPr>
            <a:r>
              <a:rPr lang="en-US" sz="3200" dirty="0">
                <a:solidFill>
                  <a:srgbClr val="002060"/>
                </a:solidFill>
                <a:latin typeface="+mn-lt"/>
                <a:cs typeface="Courier New" panose="02070309020205020404" pitchFamily="49" charset="0"/>
              </a:rPr>
              <a:t> ++$count;</a:t>
            </a: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sz="3200" dirty="0">
                <a:solidFill>
                  <a:srgbClr val="002060"/>
                </a:solidFill>
                <a:latin typeface="+mn-lt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B592E-2C8A-5CDA-DF30-F0226EAB265F}"/>
              </a:ext>
            </a:extLst>
          </p:cNvPr>
          <p:cNvSpPr txBox="1">
            <a:spLocks/>
          </p:cNvSpPr>
          <p:nvPr/>
        </p:nvSpPr>
        <p:spPr bwMode="auto">
          <a:xfrm>
            <a:off x="163789" y="5217084"/>
            <a:ext cx="4465321" cy="1047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C00000"/>
                </a:solidFill>
                <a:latin typeface="Proxima Nova"/>
              </a:rPr>
              <a:t>Prints natural numbers from 1 to 15.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BD8335-03B3-92E2-1372-CA14870E14F7}"/>
              </a:ext>
            </a:extLst>
          </p:cNvPr>
          <p:cNvSpPr txBox="1">
            <a:spLocks/>
          </p:cNvSpPr>
          <p:nvPr/>
        </p:nvSpPr>
        <p:spPr bwMode="auto">
          <a:xfrm>
            <a:off x="4937941" y="5170074"/>
            <a:ext cx="6049838" cy="1047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C00000"/>
                </a:solidFill>
                <a:latin typeface="Proxima Nova"/>
              </a:rPr>
              <a:t>Multiplies numbers from 1 to 12 by 12 and prints the results.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do...while Loop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dirty="0"/>
              <a:t>The </a:t>
            </a:r>
            <a:r>
              <a:rPr lang="en-US" altLang="en-US" sz="3200" dirty="0">
                <a:solidFill>
                  <a:srgbClr val="0070C0"/>
                </a:solidFill>
              </a:rPr>
              <a:t>do...while </a:t>
            </a:r>
            <a:r>
              <a:rPr lang="en-US" altLang="en-US" sz="3200" dirty="0"/>
              <a:t>loop is similar to </a:t>
            </a:r>
            <a:r>
              <a:rPr lang="en-US" altLang="en-US" sz="3200" dirty="0">
                <a:solidFill>
                  <a:srgbClr val="0070C0"/>
                </a:solidFill>
              </a:rPr>
              <a:t>while</a:t>
            </a:r>
            <a:r>
              <a:rPr lang="en-US" altLang="en-US" sz="3200" dirty="0"/>
              <a:t> loop, </a:t>
            </a:r>
            <a:r>
              <a:rPr lang="en-US" altLang="en-US" sz="3200" dirty="0">
                <a:solidFill>
                  <a:srgbClr val="0070C0"/>
                </a:solidFill>
              </a:rPr>
              <a:t>except that the truth expression is checked at the end of each iteration </a:t>
            </a:r>
            <a:r>
              <a:rPr lang="en-US" altLang="en-US" sz="3200" dirty="0"/>
              <a:t>instead of at the beginning.</a:t>
            </a:r>
          </a:p>
          <a:p>
            <a:r>
              <a:rPr lang="en-US" altLang="en-US" sz="3200" dirty="0"/>
              <a:t>This means that </a:t>
            </a:r>
            <a:r>
              <a:rPr lang="en-US" altLang="en-US" sz="3200" dirty="0">
                <a:solidFill>
                  <a:srgbClr val="0070C0"/>
                </a:solidFill>
              </a:rPr>
              <a:t>the loop always runs at least once</a:t>
            </a:r>
            <a:r>
              <a:rPr lang="en-US" altLang="en-US" sz="3200" dirty="0"/>
              <a:t>.</a:t>
            </a:r>
          </a:p>
          <a:p>
            <a:r>
              <a:rPr lang="en-US" altLang="en-US" sz="3200" dirty="0"/>
              <a:t>, even if the condition is false.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5E336E0-AC63-4085-9F64-1050DE4F3BDB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35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do...while Loop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$result = 1;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$n = 5;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do {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$result *= $n;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</a:t>
            </a:r>
            <a:r>
              <a:rPr lang="en-US" altLang="en-US" dirty="0">
                <a:solidFill>
                  <a:srgbClr val="00B050"/>
                </a:solidFill>
              </a:rPr>
              <a:t>//$result = $result * $n;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$n--;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} while ($n &gt; 0);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echo $result;</a:t>
            </a:r>
            <a:endParaRPr lang="en-US" altLang="en-US" sz="3200" dirty="0">
              <a:solidFill>
                <a:srgbClr val="C00000"/>
              </a:solidFill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9A7BC52-2501-49DF-8DE7-88CDB1123738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36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30D7D-681D-DD52-540D-A9F8D3813074}"/>
              </a:ext>
            </a:extLst>
          </p:cNvPr>
          <p:cNvSpPr txBox="1">
            <a:spLocks/>
          </p:cNvSpPr>
          <p:nvPr/>
        </p:nvSpPr>
        <p:spPr bwMode="auto">
          <a:xfrm>
            <a:off x="4939732" y="2774770"/>
            <a:ext cx="6836667" cy="2078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 3" panose="05040102010807070707" pitchFamily="18" charset="2"/>
              <a:buNone/>
            </a:pPr>
            <a:r>
              <a:rPr lang="en-US" altLang="en-US" sz="3000" dirty="0">
                <a:solidFill>
                  <a:srgbClr val="C00000"/>
                </a:solidFill>
                <a:latin typeface="Proxima Nova"/>
              </a:rPr>
              <a:t>Calculate and prints factorial of 5 (5!).</a:t>
            </a:r>
          </a:p>
          <a:p>
            <a:pPr marL="0" indent="0" eaLnBrk="1" hangingPunct="1">
              <a:buFont typeface="Wingdings 3" panose="05040102010807070707" pitchFamily="18" charset="2"/>
              <a:buNone/>
            </a:pPr>
            <a:endParaRPr lang="en-US" altLang="en-US" sz="3200" dirty="0">
              <a:solidFill>
                <a:srgbClr val="C00000"/>
              </a:solidFill>
              <a:latin typeface="Proxima Nova"/>
            </a:endParaRPr>
          </a:p>
          <a:p>
            <a:pPr marL="0" indent="0" eaLnBrk="1" hangingPunct="1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C00000"/>
                </a:solidFill>
                <a:latin typeface="Proxima Nova"/>
              </a:rPr>
              <a:t>So, It will be: 5 * 4 * 3 * 2 *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for Loops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914400" lvl="2" indent="-914400" eaLnBrk="0" hangingPunct="0">
              <a:buNone/>
              <a:defRPr/>
            </a:pP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for ($count = 1 ; $count &lt;= 12 ; ++$count)</a:t>
            </a:r>
          </a:p>
          <a:p>
            <a:pPr marL="914400" lvl="2" indent="-914400" eaLnBrk="0" hangingPunct="0">
              <a:buNone/>
              <a:defRPr/>
            </a:pP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	echo "$count times 12 is " . $count * 12 . "&lt;</a:t>
            </a:r>
            <a:r>
              <a:rPr lang="en-US" sz="3200" dirty="0" err="1">
                <a:solidFill>
                  <a:srgbClr val="0070C0"/>
                </a:solidFill>
                <a:cs typeface="Courier New" panose="02070309020205020404" pitchFamily="49" charset="0"/>
              </a:rPr>
              <a:t>br</a:t>
            </a: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&gt;";</a:t>
            </a:r>
          </a:p>
          <a:p>
            <a:pPr marL="914400" lvl="2" indent="-914400" eaLnBrk="0" hangingPunct="0">
              <a:buNone/>
              <a:defRPr/>
            </a:pPr>
            <a:endParaRPr lang="en-US" sz="3200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914400" lvl="2" indent="-914400" eaLnBrk="0" hangingPunct="0">
              <a:buNone/>
              <a:defRPr/>
            </a:pP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for ($count = 1 ; $count &lt;= 15 ; $count++)</a:t>
            </a:r>
          </a:p>
          <a:p>
            <a:pPr marL="914400" lvl="2" indent="-914400" eaLnBrk="0" hangingPunct="0">
              <a:buNone/>
              <a:defRPr/>
            </a:pP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	echo "$count " . "&lt;</a:t>
            </a:r>
            <a:r>
              <a:rPr lang="en-US" sz="3200" dirty="0" err="1">
                <a:solidFill>
                  <a:srgbClr val="0070C0"/>
                </a:solidFill>
                <a:cs typeface="Courier New" panose="02070309020205020404" pitchFamily="49" charset="0"/>
              </a:rPr>
              <a:t>br</a:t>
            </a:r>
            <a:r>
              <a:rPr lang="en-US" sz="3200" dirty="0">
                <a:solidFill>
                  <a:srgbClr val="0070C0"/>
                </a:solidFill>
                <a:cs typeface="Courier New" panose="02070309020205020404" pitchFamily="49" charset="0"/>
              </a:rPr>
              <a:t>&gt;";</a:t>
            </a:r>
          </a:p>
          <a:p>
            <a:pPr marL="914400" lvl="2" indent="-914400" eaLnBrk="0" hangingPunct="0">
              <a:buNone/>
              <a:defRPr/>
            </a:pPr>
            <a:endParaRPr lang="en-US" sz="3200" dirty="0">
              <a:cs typeface="Courier New" panose="02070309020205020404" pitchFamily="49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75DC379F-6322-4C1B-B43B-C72111677E2B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37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47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/>
              <a:t>for ($</a:t>
            </a:r>
            <a:r>
              <a:rPr lang="en-US" altLang="en-US" sz="3200" dirty="0" err="1"/>
              <a:t>i</a:t>
            </a:r>
            <a:r>
              <a:rPr lang="en-US" altLang="en-US" sz="3200" dirty="0"/>
              <a:t> = 1; $</a:t>
            </a:r>
            <a:r>
              <a:rPr lang="en-US" altLang="en-US" sz="3200" dirty="0" err="1"/>
              <a:t>i</a:t>
            </a:r>
            <a:r>
              <a:rPr lang="en-US" altLang="en-US" sz="3200" dirty="0"/>
              <a:t> &lt;= 10; $</a:t>
            </a:r>
            <a:r>
              <a:rPr lang="en-US" altLang="en-US" sz="3200" dirty="0" err="1"/>
              <a:t>i</a:t>
            </a:r>
            <a:r>
              <a:rPr lang="en-US" altLang="en-US" sz="3200" dirty="0"/>
              <a:t>++) {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/>
              <a:t>	echo "The square of $</a:t>
            </a:r>
            <a:r>
              <a:rPr lang="en-US" altLang="en-US" sz="3200" dirty="0" err="1"/>
              <a:t>i</a:t>
            </a:r>
            <a:r>
              <a:rPr lang="en-US" altLang="en-US" sz="3200" dirty="0"/>
              <a:t> is ". $</a:t>
            </a:r>
            <a:r>
              <a:rPr lang="en-US" altLang="en-US" sz="3200" dirty="0" err="1"/>
              <a:t>i</a:t>
            </a:r>
            <a:r>
              <a:rPr lang="en-US" altLang="en-US" sz="3200" dirty="0"/>
              <a:t>*$</a:t>
            </a:r>
            <a:r>
              <a:rPr lang="en-US" altLang="en-US" sz="3200" dirty="0" err="1"/>
              <a:t>i</a:t>
            </a:r>
            <a:r>
              <a:rPr lang="en-US" altLang="en-US" sz="3200" dirty="0"/>
              <a:t> ."&lt;</a:t>
            </a:r>
            <a:r>
              <a:rPr lang="en-US" altLang="en-US" sz="3200" dirty="0" err="1"/>
              <a:t>br</a:t>
            </a:r>
            <a:r>
              <a:rPr lang="en-US" altLang="en-US" sz="3200" dirty="0"/>
              <a:t>&gt;";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/>
              <a:t>}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altLang="en-US" sz="3200" dirty="0"/>
          </a:p>
          <a:p>
            <a:r>
              <a:rPr lang="en-US" altLang="en-US" sz="3200" b="1" dirty="0">
                <a:solidFill>
                  <a:srgbClr val="002060"/>
                </a:solidFill>
              </a:rPr>
              <a:t>Notice the use of concatenation operator ( . ). 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75B3D16-6D0E-4E51-AA19-8A8075873F1F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38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0070C0"/>
                </a:solidFill>
              </a:rPr>
              <a:t>break</a:t>
            </a:r>
            <a:r>
              <a:rPr lang="en-US" altLang="en-US" sz="3600" dirty="0"/>
              <a:t> and </a:t>
            </a:r>
            <a:r>
              <a:rPr lang="en-US" altLang="en-US" sz="3600" b="1" dirty="0">
                <a:solidFill>
                  <a:srgbClr val="0070C0"/>
                </a:solidFill>
              </a:rPr>
              <a:t>continue</a:t>
            </a:r>
            <a:r>
              <a:rPr lang="en-US" altLang="en-US" sz="3600" dirty="0"/>
              <a:t> Statements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0070C0"/>
                </a:solidFill>
              </a:rPr>
              <a:t>break</a:t>
            </a:r>
            <a:r>
              <a:rPr lang="en-US" altLang="en-US" sz="3200" dirty="0"/>
              <a:t> statement is used to terminate the execution of a loop in the middle of iteration.</a:t>
            </a:r>
          </a:p>
          <a:p>
            <a:r>
              <a:rPr lang="en-US" altLang="en-US" sz="3200" b="1" dirty="0">
                <a:solidFill>
                  <a:srgbClr val="0070C0"/>
                </a:solidFill>
              </a:rPr>
              <a:t>continue</a:t>
            </a:r>
            <a:r>
              <a:rPr lang="en-US" altLang="en-US" sz="3200" dirty="0"/>
              <a:t> statement is used to stop the execution of specific loop iteration and begin executing the next one.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17A204E0-8B76-414A-A1C6-BE2A2033F842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39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66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</a:t>
            </a:r>
            <a:r>
              <a:rPr lang="en-US" altLang="en-US" dirty="0">
                <a:solidFill>
                  <a:srgbClr val="0070C0"/>
                </a:solidFill>
              </a:rPr>
              <a:t>break</a:t>
            </a:r>
            <a:r>
              <a:rPr lang="en-US" altLang="en-US" dirty="0"/>
              <a:t> statement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 = 1;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while ($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 &lt;= 15)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{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echo "$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, ";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++;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	</a:t>
            </a:r>
            <a:r>
              <a:rPr lang="en-US" altLang="en-US" sz="3200" dirty="0">
                <a:solidFill>
                  <a:srgbClr val="0070C0"/>
                </a:solidFill>
              </a:rPr>
              <a:t>if ( $</a:t>
            </a:r>
            <a:r>
              <a:rPr lang="en-US" altLang="en-US" sz="3200" dirty="0" err="1">
                <a:solidFill>
                  <a:srgbClr val="0070C0"/>
                </a:solidFill>
              </a:rPr>
              <a:t>i</a:t>
            </a:r>
            <a:r>
              <a:rPr lang="en-US" altLang="en-US" sz="3200" dirty="0">
                <a:solidFill>
                  <a:srgbClr val="0070C0"/>
                </a:solidFill>
              </a:rPr>
              <a:t> == 10 )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		break;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altLang="en-US" sz="3200" dirty="0">
                <a:solidFill>
                  <a:srgbClr val="002060"/>
                </a:solidFill>
              </a:rPr>
              <a:t>}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BF3C7FA6-4AE8-4499-9851-77C314B723F8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40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49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</a:t>
            </a:r>
            <a:r>
              <a:rPr lang="en-US" altLang="en-US" dirty="0">
                <a:solidFill>
                  <a:srgbClr val="0070C0"/>
                </a:solidFill>
              </a:rPr>
              <a:t>continue</a:t>
            </a:r>
            <a:r>
              <a:rPr lang="en-US" altLang="en-US" dirty="0"/>
              <a:t> statement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Autofit/>
          </a:bodyPr>
          <a:lstStyle/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altLang="en-US" sz="3200" dirty="0">
                <a:solidFill>
                  <a:srgbClr val="002060"/>
                </a:solidFill>
              </a:rPr>
              <a:t>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 = 0;</a:t>
            </a:r>
          </a:p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altLang="en-US" sz="3200" dirty="0">
                <a:solidFill>
                  <a:srgbClr val="002060"/>
                </a:solidFill>
              </a:rPr>
              <a:t>do {</a:t>
            </a:r>
          </a:p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altLang="en-US" sz="3200" dirty="0">
                <a:solidFill>
                  <a:srgbClr val="002060"/>
                </a:solidFill>
              </a:rPr>
              <a:t>	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++;</a:t>
            </a:r>
          </a:p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altLang="en-US" sz="3200" dirty="0">
                <a:solidFill>
                  <a:srgbClr val="002060"/>
                </a:solidFill>
              </a:rPr>
              <a:t>	</a:t>
            </a:r>
            <a:r>
              <a:rPr lang="en-US" altLang="en-US" sz="3200" dirty="0">
                <a:solidFill>
                  <a:srgbClr val="0070C0"/>
                </a:solidFill>
              </a:rPr>
              <a:t>if ( $</a:t>
            </a:r>
            <a:r>
              <a:rPr lang="en-US" altLang="en-US" sz="3200" dirty="0" err="1">
                <a:solidFill>
                  <a:srgbClr val="0070C0"/>
                </a:solidFill>
              </a:rPr>
              <a:t>i</a:t>
            </a:r>
            <a:r>
              <a:rPr lang="en-US" altLang="en-US" sz="3200" dirty="0">
                <a:solidFill>
                  <a:srgbClr val="0070C0"/>
                </a:solidFill>
              </a:rPr>
              <a:t> % 2 == 0 )</a:t>
            </a:r>
          </a:p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altLang="en-US" sz="3200" dirty="0">
                <a:solidFill>
                  <a:srgbClr val="0070C0"/>
                </a:solidFill>
              </a:rPr>
              <a:t>		continue;</a:t>
            </a:r>
          </a:p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altLang="en-US" sz="3200" dirty="0">
                <a:solidFill>
                  <a:srgbClr val="0070C0"/>
                </a:solidFill>
              </a:rPr>
              <a:t>	else</a:t>
            </a:r>
          </a:p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altLang="en-US" sz="3200" dirty="0">
                <a:solidFill>
                  <a:srgbClr val="002060"/>
                </a:solidFill>
              </a:rPr>
              <a:t>		echo "$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, ";</a:t>
            </a:r>
          </a:p>
          <a:p>
            <a:pPr marL="0" indent="0" fontAlgn="auto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en-US" altLang="en-US" sz="3200" dirty="0">
                <a:solidFill>
                  <a:srgbClr val="002060"/>
                </a:solidFill>
              </a:rPr>
              <a:t>} while ($</a:t>
            </a:r>
            <a:r>
              <a:rPr lang="en-US" altLang="en-US" sz="3200" dirty="0" err="1">
                <a:solidFill>
                  <a:srgbClr val="002060"/>
                </a:solidFill>
              </a:rPr>
              <a:t>i</a:t>
            </a:r>
            <a:r>
              <a:rPr lang="en-US" altLang="en-US" sz="3200" dirty="0">
                <a:solidFill>
                  <a:srgbClr val="002060"/>
                </a:solidFill>
              </a:rPr>
              <a:t> &lt;= 15);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EAD006A-F4BB-4D25-86EF-4318A1C89F6C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41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82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9EDA-0039-E874-26AE-E8EC5051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5A474-1226-F222-5050-172E87F1E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You can nest loops inside one another </a:t>
            </a:r>
            <a:r>
              <a:rPr lang="en-US" sz="3200" dirty="0"/>
              <a:t>(loop within another loop). The next example prints multiplication table using nested two loops (you can format the output in a table).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for ($</a:t>
            </a:r>
            <a:r>
              <a:rPr lang="en-US" sz="3200" dirty="0" err="1">
                <a:solidFill>
                  <a:srgbClr val="0070C0"/>
                </a:solidFill>
              </a:rPr>
              <a:t>i</a:t>
            </a:r>
            <a:r>
              <a:rPr lang="en-US" sz="3200" dirty="0">
                <a:solidFill>
                  <a:srgbClr val="0070C0"/>
                </a:solidFill>
              </a:rPr>
              <a:t> = 1; $</a:t>
            </a:r>
            <a:r>
              <a:rPr lang="en-US" sz="3200" dirty="0" err="1">
                <a:solidFill>
                  <a:srgbClr val="0070C0"/>
                </a:solidFill>
              </a:rPr>
              <a:t>i</a:t>
            </a:r>
            <a:r>
              <a:rPr lang="en-US" sz="3200" dirty="0">
                <a:solidFill>
                  <a:srgbClr val="0070C0"/>
                </a:solidFill>
              </a:rPr>
              <a:t> &lt;= 12; $</a:t>
            </a:r>
            <a:r>
              <a:rPr lang="en-US" sz="3200" dirty="0" err="1">
                <a:solidFill>
                  <a:srgbClr val="0070C0"/>
                </a:solidFill>
              </a:rPr>
              <a:t>i</a:t>
            </a:r>
            <a:r>
              <a:rPr lang="en-US" sz="3200" dirty="0">
                <a:solidFill>
                  <a:srgbClr val="0070C0"/>
                </a:solidFill>
              </a:rPr>
              <a:t>++) </a:t>
            </a:r>
            <a:r>
              <a:rPr lang="en-US" sz="3200" dirty="0">
                <a:solidFill>
                  <a:srgbClr val="00B050"/>
                </a:solidFill>
              </a:rPr>
              <a:t>//row loop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            for ($j = 1; $j &lt;= 12; $</a:t>
            </a:r>
            <a:r>
              <a:rPr lang="en-US" sz="3200" dirty="0" err="1">
                <a:solidFill>
                  <a:srgbClr val="0070C0"/>
                </a:solidFill>
              </a:rPr>
              <a:t>j++</a:t>
            </a:r>
            <a:r>
              <a:rPr lang="en-US" sz="3200" dirty="0">
                <a:solidFill>
                  <a:srgbClr val="0070C0"/>
                </a:solidFill>
              </a:rPr>
              <a:t>) </a:t>
            </a:r>
            <a:r>
              <a:rPr lang="en-US" sz="3200" dirty="0">
                <a:solidFill>
                  <a:srgbClr val="00B050"/>
                </a:solidFill>
              </a:rPr>
              <a:t>//column loop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</a:rPr>
              <a:t>                echo ($</a:t>
            </a:r>
            <a:r>
              <a:rPr lang="en-US" sz="3200" dirty="0" err="1">
                <a:solidFill>
                  <a:srgbClr val="0070C0"/>
                </a:solidFill>
              </a:rPr>
              <a:t>i</a:t>
            </a:r>
            <a:r>
              <a:rPr lang="en-US" sz="3200" dirty="0">
                <a:solidFill>
                  <a:srgbClr val="0070C0"/>
                </a:solidFill>
              </a:rPr>
              <a:t> * $j);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C715B-4B92-3F2C-4941-A43D9B186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AA8136C-AE4E-4D5A-8564-755E5B632BB9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5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Content Placeholder 2"/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800" cy="4555200"/>
          </a:xfrm>
        </p:spPr>
        <p:txBody>
          <a:bodyPr anchor="ctr">
            <a:normAutofit/>
          </a:bodyPr>
          <a:lstStyle/>
          <a:p>
            <a:pPr marL="0" indent="0" algn="ctr" fontAlgn="t">
              <a:buNone/>
            </a:pPr>
            <a:r>
              <a:rPr lang="en-US" sz="7200" b="1" dirty="0"/>
              <a:t>END CHAPTER</a:t>
            </a:r>
          </a:p>
        </p:txBody>
      </p:sp>
      <p:sp>
        <p:nvSpPr>
          <p:cNvPr id="61444" name="Slide Number Placeholder 4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6F710DB3-2E6C-4C84-B891-CE1C2AE549DA}" type="slidenum">
              <a:rPr lang="en-US" altLang="en-US" sz="1200">
                <a:solidFill>
                  <a:srgbClr val="FEFFFF"/>
                </a:solidFill>
                <a:latin typeface="Tw Cen MT" panose="020B0602020104020603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43</a:t>
            </a:fld>
            <a:endParaRPr lang="en-US" altLang="en-US" sz="1200">
              <a:solidFill>
                <a:srgbClr val="FEFFFF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theme/theme1.xml><?xml version="1.0" encoding="utf-8"?>
<a:theme xmlns:a="http://schemas.openxmlformats.org/drawingml/2006/main" name="Theme2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D2612592-04CC-4053-9B11-086E32D5ACB5}" vid="{648281CD-C754-4835-96AB-8141A78396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17485</TotalTime>
  <Words>3196</Words>
  <Application>Microsoft Office PowerPoint</Application>
  <PresentationFormat>Widescreen</PresentationFormat>
  <Paragraphs>421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-apple-system</vt:lpstr>
      <vt:lpstr>Arial</vt:lpstr>
      <vt:lpstr>Calibri</vt:lpstr>
      <vt:lpstr>Consolas</vt:lpstr>
      <vt:lpstr>Courier New</vt:lpstr>
      <vt:lpstr>Popin</vt:lpstr>
      <vt:lpstr>Proxima Nova</vt:lpstr>
      <vt:lpstr>Times New Roman</vt:lpstr>
      <vt:lpstr>Tw Cen MT</vt:lpstr>
      <vt:lpstr>Wingdings</vt:lpstr>
      <vt:lpstr>Wingdings 3</vt:lpstr>
      <vt:lpstr>Theme2</vt:lpstr>
      <vt:lpstr>CHAPTER 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Operator Precedence (high to low)</vt:lpstr>
      <vt:lpstr>Control Structures</vt:lpstr>
      <vt:lpstr>Conditional Control Structures</vt:lpstr>
      <vt:lpstr>if Statements Example</vt:lpstr>
      <vt:lpstr>if else Statement</vt:lpstr>
      <vt:lpstr>if elseif statement (1 of 2)</vt:lpstr>
      <vt:lpstr>The switch Statement</vt:lpstr>
      <vt:lpstr>switch Statements</vt:lpstr>
      <vt:lpstr>Example</vt:lpstr>
      <vt:lpstr>The ? Operator</vt:lpstr>
      <vt:lpstr>Loop Control Structures</vt:lpstr>
      <vt:lpstr>Types of Loop</vt:lpstr>
      <vt:lpstr>Example</vt:lpstr>
      <vt:lpstr>do...while Loop</vt:lpstr>
      <vt:lpstr>do...while Loop</vt:lpstr>
      <vt:lpstr>for Loops Example</vt:lpstr>
      <vt:lpstr>Example</vt:lpstr>
      <vt:lpstr>break and continue Statements</vt:lpstr>
      <vt:lpstr>Example of break statement</vt:lpstr>
      <vt:lpstr>Example of continue statement</vt:lpstr>
      <vt:lpstr>Nested Loops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&amp; MYSQL</dc:title>
  <dc:creator>JARANE</dc:creator>
  <cp:lastModifiedBy>Yahye Isse</cp:lastModifiedBy>
  <cp:revision>96</cp:revision>
  <dcterms:created xsi:type="dcterms:W3CDTF">2016-02-22T11:17:51Z</dcterms:created>
  <dcterms:modified xsi:type="dcterms:W3CDTF">2026-09-14T13:15:31Z</dcterms:modified>
</cp:coreProperties>
</file>