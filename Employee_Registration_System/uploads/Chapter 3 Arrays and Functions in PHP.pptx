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165" r:id="rId1"/>
  </p:sldMasterIdLst>
  <p:notesMasterIdLst>
    <p:notesMasterId r:id="rId53"/>
  </p:notesMasterIdLst>
  <p:handoutMasterIdLst>
    <p:handoutMasterId r:id="rId54"/>
  </p:handoutMasterIdLst>
  <p:sldIdLst>
    <p:sldId id="358" r:id="rId2"/>
    <p:sldId id="321" r:id="rId3"/>
    <p:sldId id="300" r:id="rId4"/>
    <p:sldId id="284" r:id="rId5"/>
    <p:sldId id="360" r:id="rId6"/>
    <p:sldId id="317" r:id="rId7"/>
    <p:sldId id="318" r:id="rId8"/>
    <p:sldId id="309" r:id="rId9"/>
    <p:sldId id="311" r:id="rId10"/>
    <p:sldId id="291" r:id="rId11"/>
    <p:sldId id="301" r:id="rId12"/>
    <p:sldId id="313" r:id="rId13"/>
    <p:sldId id="319" r:id="rId14"/>
    <p:sldId id="307" r:id="rId15"/>
    <p:sldId id="297" r:id="rId16"/>
    <p:sldId id="294" r:id="rId17"/>
    <p:sldId id="359" r:id="rId18"/>
    <p:sldId id="315" r:id="rId19"/>
    <p:sldId id="316" r:id="rId20"/>
    <p:sldId id="320" r:id="rId21"/>
    <p:sldId id="346" r:id="rId22"/>
    <p:sldId id="347" r:id="rId23"/>
    <p:sldId id="306" r:id="rId24"/>
    <p:sldId id="348" r:id="rId25"/>
    <p:sldId id="349" r:id="rId26"/>
    <p:sldId id="344" r:id="rId27"/>
    <p:sldId id="350" r:id="rId28"/>
    <p:sldId id="351" r:id="rId29"/>
    <p:sldId id="352" r:id="rId30"/>
    <p:sldId id="353" r:id="rId31"/>
    <p:sldId id="312" r:id="rId32"/>
    <p:sldId id="314" r:id="rId33"/>
    <p:sldId id="355" r:id="rId34"/>
    <p:sldId id="356" r:id="rId35"/>
    <p:sldId id="357" r:id="rId36"/>
    <p:sldId id="324" r:id="rId37"/>
    <p:sldId id="327" r:id="rId38"/>
    <p:sldId id="330" r:id="rId39"/>
    <p:sldId id="331" r:id="rId40"/>
    <p:sldId id="280" r:id="rId41"/>
    <p:sldId id="332" r:id="rId42"/>
    <p:sldId id="326" r:id="rId43"/>
    <p:sldId id="333" r:id="rId44"/>
    <p:sldId id="334" r:id="rId45"/>
    <p:sldId id="335" r:id="rId46"/>
    <p:sldId id="336" r:id="rId47"/>
    <p:sldId id="337" r:id="rId48"/>
    <p:sldId id="342" r:id="rId49"/>
    <p:sldId id="340" r:id="rId50"/>
    <p:sldId id="339" r:id="rId51"/>
    <p:sldId id="305" r:id="rId5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CA0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66" d="100"/>
          <a:sy n="66" d="100"/>
        </p:scale>
        <p:origin x="668" y="2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74E37DB-E87D-4A45-A7AC-6BC1E9A88A41}" type="datetime1">
              <a:rPr lang="en-US" smtClean="0"/>
              <a:t>9/21/2026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A2E7CE7-04E9-49A9-A7AA-31C13CA8A37D}" type="slidenum">
              <a:rPr lang="en-US" smtClean="0"/>
              <a:t>‹#›</a:t>
            </a:fld>
            <a:endParaRPr lang="en-US"/>
          </a:p>
        </p:txBody>
      </p:sp>
    </p:spTree>
    <p:extLst>
      <p:ext uri="{BB962C8B-B14F-4D97-AF65-F5344CB8AC3E}">
        <p14:creationId xmlns:p14="http://schemas.microsoft.com/office/powerpoint/2010/main" val="3309868169"/>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43EAB01F-FA99-4DD8-90F8-2202EF723662}" type="datetime1">
              <a:rPr lang="en-US" smtClean="0"/>
              <a:t>9/21/2026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CB69BB81-123E-4E7E-B45C-BE0311D74A57}" type="slidenum">
              <a:rPr lang="en-US"/>
              <a:pPr>
                <a:defRPr/>
              </a:pPr>
              <a:t>‹#›</a:t>
            </a:fld>
            <a:endParaRPr lang="en-US"/>
          </a:p>
        </p:txBody>
      </p:sp>
    </p:spTree>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solidFill>
          <a:schemeClr val="dk1"/>
        </a:solidFill>
        <a:effectLst/>
      </p:bgPr>
    </p:bg>
    <p:spTree>
      <p:nvGrpSpPr>
        <p:cNvPr id="1" name="Shape 14"/>
        <p:cNvGrpSpPr/>
        <p:nvPr/>
      </p:nvGrpSpPr>
      <p:grpSpPr>
        <a:xfrm>
          <a:off x="0" y="0"/>
          <a:ext cx="0" cy="0"/>
          <a:chOff x="0" y="0"/>
          <a:chExt cx="0" cy="0"/>
        </a:xfrm>
      </p:grpSpPr>
      <p:cxnSp>
        <p:nvCxnSpPr>
          <p:cNvPr id="15" name="Google Shape;15;p3"/>
          <p:cNvCxnSpPr/>
          <p:nvPr/>
        </p:nvCxnSpPr>
        <p:spPr>
          <a:xfrm>
            <a:off x="0" y="3997533"/>
            <a:ext cx="12192000" cy="0"/>
          </a:xfrm>
          <a:prstGeom prst="straightConnector1">
            <a:avLst/>
          </a:prstGeom>
          <a:noFill/>
          <a:ln w="19050" cap="flat" cmpd="sng">
            <a:solidFill>
              <a:schemeClr val="lt2"/>
            </a:solidFill>
            <a:prstDash val="solid"/>
            <a:round/>
            <a:headEnd type="none" w="sm" len="sm"/>
            <a:tailEnd type="none" w="sm" len="sm"/>
          </a:ln>
        </p:spPr>
      </p:cxnSp>
      <p:sp>
        <p:nvSpPr>
          <p:cNvPr id="16" name="Google Shape;16;p3"/>
          <p:cNvSpPr txBox="1">
            <a:spLocks noGrp="1"/>
          </p:cNvSpPr>
          <p:nvPr>
            <p:ph type="title"/>
          </p:nvPr>
        </p:nvSpPr>
        <p:spPr>
          <a:xfrm>
            <a:off x="680600" y="2743200"/>
            <a:ext cx="10830800" cy="10384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3600"/>
              <a:buNone/>
              <a:defRPr sz="4800">
                <a:solidFill>
                  <a:schemeClr val="lt1"/>
                </a:solidFill>
              </a:defRPr>
            </a:lvl1pPr>
            <a:lvl2pPr lvl="1">
              <a:spcBef>
                <a:spcPts val="0"/>
              </a:spcBef>
              <a:spcAft>
                <a:spcPts val="0"/>
              </a:spcAft>
              <a:buClr>
                <a:schemeClr val="lt1"/>
              </a:buClr>
              <a:buSzPts val="3600"/>
              <a:buNone/>
              <a:defRPr sz="4800">
                <a:solidFill>
                  <a:schemeClr val="lt1"/>
                </a:solidFill>
              </a:defRPr>
            </a:lvl2pPr>
            <a:lvl3pPr lvl="2">
              <a:spcBef>
                <a:spcPts val="0"/>
              </a:spcBef>
              <a:spcAft>
                <a:spcPts val="0"/>
              </a:spcAft>
              <a:buClr>
                <a:schemeClr val="lt1"/>
              </a:buClr>
              <a:buSzPts val="3600"/>
              <a:buNone/>
              <a:defRPr sz="4800">
                <a:solidFill>
                  <a:schemeClr val="lt1"/>
                </a:solidFill>
              </a:defRPr>
            </a:lvl3pPr>
            <a:lvl4pPr lvl="3">
              <a:spcBef>
                <a:spcPts val="0"/>
              </a:spcBef>
              <a:spcAft>
                <a:spcPts val="0"/>
              </a:spcAft>
              <a:buClr>
                <a:schemeClr val="lt1"/>
              </a:buClr>
              <a:buSzPts val="3600"/>
              <a:buNone/>
              <a:defRPr sz="4800">
                <a:solidFill>
                  <a:schemeClr val="lt1"/>
                </a:solidFill>
              </a:defRPr>
            </a:lvl4pPr>
            <a:lvl5pPr lvl="4">
              <a:spcBef>
                <a:spcPts val="0"/>
              </a:spcBef>
              <a:spcAft>
                <a:spcPts val="0"/>
              </a:spcAft>
              <a:buClr>
                <a:schemeClr val="lt1"/>
              </a:buClr>
              <a:buSzPts val="3600"/>
              <a:buNone/>
              <a:defRPr sz="4800">
                <a:solidFill>
                  <a:schemeClr val="lt1"/>
                </a:solidFill>
              </a:defRPr>
            </a:lvl5pPr>
            <a:lvl6pPr lvl="5">
              <a:spcBef>
                <a:spcPts val="0"/>
              </a:spcBef>
              <a:spcAft>
                <a:spcPts val="0"/>
              </a:spcAft>
              <a:buClr>
                <a:schemeClr val="lt1"/>
              </a:buClr>
              <a:buSzPts val="3600"/>
              <a:buNone/>
              <a:defRPr sz="4800">
                <a:solidFill>
                  <a:schemeClr val="lt1"/>
                </a:solidFill>
              </a:defRPr>
            </a:lvl6pPr>
            <a:lvl7pPr lvl="6">
              <a:spcBef>
                <a:spcPts val="0"/>
              </a:spcBef>
              <a:spcAft>
                <a:spcPts val="0"/>
              </a:spcAft>
              <a:buClr>
                <a:schemeClr val="lt1"/>
              </a:buClr>
              <a:buSzPts val="3600"/>
              <a:buNone/>
              <a:defRPr sz="4800">
                <a:solidFill>
                  <a:schemeClr val="lt1"/>
                </a:solidFill>
              </a:defRPr>
            </a:lvl7pPr>
            <a:lvl8pPr lvl="7">
              <a:spcBef>
                <a:spcPts val="0"/>
              </a:spcBef>
              <a:spcAft>
                <a:spcPts val="0"/>
              </a:spcAft>
              <a:buClr>
                <a:schemeClr val="lt1"/>
              </a:buClr>
              <a:buSzPts val="3600"/>
              <a:buNone/>
              <a:defRPr sz="4800">
                <a:solidFill>
                  <a:schemeClr val="lt1"/>
                </a:solidFill>
              </a:defRPr>
            </a:lvl8pPr>
            <a:lvl9pPr lvl="8">
              <a:spcBef>
                <a:spcPts val="0"/>
              </a:spcBef>
              <a:spcAft>
                <a:spcPts val="0"/>
              </a:spcAft>
              <a:buClr>
                <a:schemeClr val="lt1"/>
              </a:buClr>
              <a:buSzPts val="3600"/>
              <a:buNone/>
              <a:defRPr sz="4800">
                <a:solidFill>
                  <a:schemeClr val="lt1"/>
                </a:solidFill>
              </a:defRPr>
            </a:lvl9pPr>
          </a:lstStyle>
          <a:p>
            <a:r>
              <a:rPr lang="en-US"/>
              <a:t>Click to edit Master title style</a:t>
            </a:r>
            <a:endParaRPr/>
          </a:p>
        </p:txBody>
      </p:sp>
      <p:sp>
        <p:nvSpPr>
          <p:cNvPr id="17" name="Google Shape;17;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a:defRPr/>
            </a:pPr>
            <a:fld id="{4716B21C-4A26-4CFD-920A-1CD4A66544B7}" type="slidenum">
              <a:rPr lang="en-US" smtClean="0"/>
              <a:pPr>
                <a:defRPr/>
              </a:pPr>
              <a:t>‹#›</a:t>
            </a:fld>
            <a:endParaRPr lang="en-US"/>
          </a:p>
        </p:txBody>
      </p:sp>
    </p:spTree>
    <p:extLst>
      <p:ext uri="{BB962C8B-B14F-4D97-AF65-F5344CB8AC3E}">
        <p14:creationId xmlns:p14="http://schemas.microsoft.com/office/powerpoint/2010/main" val="99295554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p:nvPr/>
        </p:nvSpPr>
        <p:spPr>
          <a:xfrm>
            <a:off x="0" y="6727600"/>
            <a:ext cx="12192000" cy="13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0" name="Google Shape;20;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sz="3600"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21" name="Google Shape;21;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pPr lvl="0"/>
            <a:r>
              <a:rPr lang="en-US"/>
              <a:t>Click to edit Master text styles</a:t>
            </a:r>
          </a:p>
        </p:txBody>
      </p:sp>
      <p:sp>
        <p:nvSpPr>
          <p:cNvPr id="22" name="Google Shape;22;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4716B21C-4A26-4CFD-920A-1CD4A66544B7}" type="slidenum">
              <a:rPr lang="en-US" smtClean="0"/>
              <a:pPr>
                <a:defRPr/>
              </a:pPr>
              <a:t>‹#›</a:t>
            </a:fld>
            <a:endParaRPr lang="en-US"/>
          </a:p>
        </p:txBody>
      </p:sp>
    </p:spTree>
    <p:extLst>
      <p:ext uri="{BB962C8B-B14F-4D97-AF65-F5344CB8AC3E}">
        <p14:creationId xmlns:p14="http://schemas.microsoft.com/office/powerpoint/2010/main" val="171715273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25" name="Google Shape;25;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pPr lvl="0"/>
            <a:r>
              <a:rPr lang="en-US"/>
              <a:t>Click to edit Master text styles</a:t>
            </a:r>
          </a:p>
        </p:txBody>
      </p:sp>
      <p:sp>
        <p:nvSpPr>
          <p:cNvPr id="26" name="Google Shape;26;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pPr lvl="0"/>
            <a:r>
              <a:rPr lang="en-US"/>
              <a:t>Click to edit Master text styles</a:t>
            </a:r>
          </a:p>
        </p:txBody>
      </p:sp>
      <p:sp>
        <p:nvSpPr>
          <p:cNvPr id="27" name="Google Shape;27;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4716B21C-4A26-4CFD-920A-1CD4A66544B7}" type="slidenum">
              <a:rPr lang="en-US" smtClean="0"/>
              <a:pPr>
                <a:defRPr/>
              </a:pPr>
              <a:t>‹#›</a:t>
            </a:fld>
            <a:endParaRPr lang="en-US"/>
          </a:p>
        </p:txBody>
      </p:sp>
    </p:spTree>
    <p:extLst>
      <p:ext uri="{BB962C8B-B14F-4D97-AF65-F5344CB8AC3E}">
        <p14:creationId xmlns:p14="http://schemas.microsoft.com/office/powerpoint/2010/main" val="53906146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30" name="Google Shape;30;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4716B21C-4A26-4CFD-920A-1CD4A66544B7}" type="slidenum">
              <a:rPr lang="en-US" smtClean="0"/>
              <a:pPr>
                <a:defRPr/>
              </a:pPr>
              <a:t>‹#›</a:t>
            </a:fld>
            <a:endParaRPr lang="en-US"/>
          </a:p>
        </p:txBody>
      </p:sp>
    </p:spTree>
    <p:extLst>
      <p:ext uri="{BB962C8B-B14F-4D97-AF65-F5344CB8AC3E}">
        <p14:creationId xmlns:p14="http://schemas.microsoft.com/office/powerpoint/2010/main" val="116266360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r>
              <a:rPr lang="en-US"/>
              <a:t>Click to edit Master title style</a:t>
            </a:r>
            <a:endParaRPr/>
          </a:p>
        </p:txBody>
      </p:sp>
      <p:sp>
        <p:nvSpPr>
          <p:cNvPr id="33" name="Google Shape;33;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pPr lvl="0"/>
            <a:r>
              <a:rPr lang="en-US"/>
              <a:t>Click to edit Master text styles</a:t>
            </a:r>
          </a:p>
        </p:txBody>
      </p:sp>
      <p:sp>
        <p:nvSpPr>
          <p:cNvPr id="34" name="Google Shape;34;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4716B21C-4A26-4CFD-920A-1CD4A66544B7}" type="slidenum">
              <a:rPr lang="en-US" smtClean="0"/>
              <a:pPr>
                <a:defRPr/>
              </a:pPr>
              <a:t>‹#›</a:t>
            </a:fld>
            <a:endParaRPr lang="en-US"/>
          </a:p>
        </p:txBody>
      </p:sp>
    </p:spTree>
    <p:extLst>
      <p:ext uri="{BB962C8B-B14F-4D97-AF65-F5344CB8AC3E}">
        <p14:creationId xmlns:p14="http://schemas.microsoft.com/office/powerpoint/2010/main" val="217916163"/>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lt2"/>
        </a:solidFill>
        <a:effectLst/>
      </p:bgPr>
    </p:bg>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653667" y="701800"/>
            <a:ext cx="77300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a:p>
        </p:txBody>
      </p:sp>
      <p:sp>
        <p:nvSpPr>
          <p:cNvPr id="37" name="Google Shape;37;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4716B21C-4A26-4CFD-920A-1CD4A66544B7}" type="slidenum">
              <a:rPr lang="en-US" smtClean="0"/>
              <a:pPr>
                <a:defRPr/>
              </a:pPr>
              <a:t>‹#›</a:t>
            </a:fld>
            <a:endParaRPr lang="en-US"/>
          </a:p>
        </p:txBody>
      </p:sp>
    </p:spTree>
    <p:extLst>
      <p:ext uri="{BB962C8B-B14F-4D97-AF65-F5344CB8AC3E}">
        <p14:creationId xmlns:p14="http://schemas.microsoft.com/office/powerpoint/2010/main" val="784778108"/>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8"/>
        <p:cNvGrpSpPr/>
        <p:nvPr/>
      </p:nvGrpSpPr>
      <p:grpSpPr>
        <a:xfrm>
          <a:off x="0" y="0"/>
          <a:ext cx="0" cy="0"/>
          <a:chOff x="0" y="0"/>
          <a:chExt cx="0" cy="0"/>
        </a:xfrm>
      </p:grpSpPr>
      <p:sp>
        <p:nvSpPr>
          <p:cNvPr id="39" name="Google Shape;39;p9"/>
          <p:cNvSpPr/>
          <p:nvPr/>
        </p:nvSpPr>
        <p:spPr>
          <a:xfrm>
            <a:off x="6096000" y="100"/>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cxnSp>
        <p:nvCxnSpPr>
          <p:cNvPr id="40" name="Google Shape;40;p9"/>
          <p:cNvCxnSpPr/>
          <p:nvPr/>
        </p:nvCxnSpPr>
        <p:spPr>
          <a:xfrm>
            <a:off x="6706233" y="5994000"/>
            <a:ext cx="624400" cy="0"/>
          </a:xfrm>
          <a:prstGeom prst="straightConnector1">
            <a:avLst/>
          </a:prstGeom>
          <a:noFill/>
          <a:ln w="19050" cap="flat" cmpd="sng">
            <a:solidFill>
              <a:schemeClr val="lt2"/>
            </a:solidFill>
            <a:prstDash val="solid"/>
            <a:round/>
            <a:headEnd type="none" w="sm" len="sm"/>
            <a:tailEnd type="none" w="sm" len="sm"/>
          </a:ln>
        </p:spPr>
      </p:cxnSp>
      <p:sp>
        <p:nvSpPr>
          <p:cNvPr id="41" name="Google Shape;41;p9"/>
          <p:cNvSpPr txBox="1">
            <a:spLocks noGrp="1"/>
          </p:cNvSpPr>
          <p:nvPr>
            <p:ph type="title"/>
          </p:nvPr>
        </p:nvSpPr>
        <p:spPr>
          <a:xfrm>
            <a:off x="354000" y="1607767"/>
            <a:ext cx="5393600" cy="20128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r>
              <a:rPr lang="en-US"/>
              <a:t>Click to edit Master title style</a:t>
            </a:r>
            <a:endParaRPr/>
          </a:p>
        </p:txBody>
      </p:sp>
      <p:sp>
        <p:nvSpPr>
          <p:cNvPr id="42" name="Google Shape;42;p9"/>
          <p:cNvSpPr txBox="1">
            <a:spLocks noGrp="1"/>
          </p:cNvSpPr>
          <p:nvPr>
            <p:ph type="subTitle" idx="1"/>
          </p:nvPr>
        </p:nvSpPr>
        <p:spPr>
          <a:xfrm>
            <a:off x="354000" y="3692001"/>
            <a:ext cx="5393600" cy="17940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r>
              <a:rPr lang="en-US"/>
              <a:t>Click to edit Master subtitle style</a:t>
            </a:r>
            <a:endParaRPr/>
          </a:p>
        </p:txBody>
      </p:sp>
      <p:sp>
        <p:nvSpPr>
          <p:cNvPr id="43" name="Google Shape;43;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Clr>
                <a:schemeClr val="lt1"/>
              </a:buClr>
              <a:buSzPts val="1800"/>
              <a:buChar char="●"/>
              <a:defRPr>
                <a:solidFill>
                  <a:schemeClr val="lt1"/>
                </a:solidFill>
              </a:defRPr>
            </a:lvl1pPr>
            <a:lvl2pPr marL="1219170" lvl="1" indent="-423323">
              <a:spcBef>
                <a:spcPts val="0"/>
              </a:spcBef>
              <a:spcAft>
                <a:spcPts val="0"/>
              </a:spcAft>
              <a:buClr>
                <a:schemeClr val="lt1"/>
              </a:buClr>
              <a:buSzPts val="1400"/>
              <a:buChar char="○"/>
              <a:defRPr>
                <a:solidFill>
                  <a:schemeClr val="lt1"/>
                </a:solidFill>
              </a:defRPr>
            </a:lvl2pPr>
            <a:lvl3pPr marL="1828754" lvl="2" indent="-423323">
              <a:spcBef>
                <a:spcPts val="0"/>
              </a:spcBef>
              <a:spcAft>
                <a:spcPts val="0"/>
              </a:spcAft>
              <a:buClr>
                <a:schemeClr val="lt1"/>
              </a:buClr>
              <a:buSzPts val="1400"/>
              <a:buChar char="■"/>
              <a:defRPr>
                <a:solidFill>
                  <a:schemeClr val="lt1"/>
                </a:solidFill>
              </a:defRPr>
            </a:lvl3pPr>
            <a:lvl4pPr marL="2438339" lvl="3" indent="-423323">
              <a:spcBef>
                <a:spcPts val="0"/>
              </a:spcBef>
              <a:spcAft>
                <a:spcPts val="0"/>
              </a:spcAft>
              <a:buClr>
                <a:schemeClr val="lt1"/>
              </a:buClr>
              <a:buSzPts val="1400"/>
              <a:buChar char="●"/>
              <a:defRPr>
                <a:solidFill>
                  <a:schemeClr val="lt1"/>
                </a:solidFill>
              </a:defRPr>
            </a:lvl4pPr>
            <a:lvl5pPr marL="3047924" lvl="4" indent="-423323">
              <a:spcBef>
                <a:spcPts val="0"/>
              </a:spcBef>
              <a:spcAft>
                <a:spcPts val="0"/>
              </a:spcAft>
              <a:buClr>
                <a:schemeClr val="lt1"/>
              </a:buClr>
              <a:buSzPts val="1400"/>
              <a:buChar char="○"/>
              <a:defRPr>
                <a:solidFill>
                  <a:schemeClr val="lt1"/>
                </a:solidFill>
              </a:defRPr>
            </a:lvl5pPr>
            <a:lvl6pPr marL="3657509" lvl="5" indent="-423323">
              <a:spcBef>
                <a:spcPts val="0"/>
              </a:spcBef>
              <a:spcAft>
                <a:spcPts val="0"/>
              </a:spcAft>
              <a:buClr>
                <a:schemeClr val="lt1"/>
              </a:buClr>
              <a:buSzPts val="1400"/>
              <a:buChar char="■"/>
              <a:defRPr>
                <a:solidFill>
                  <a:schemeClr val="lt1"/>
                </a:solidFill>
              </a:defRPr>
            </a:lvl6pPr>
            <a:lvl7pPr marL="4267093" lvl="6" indent="-423323">
              <a:spcBef>
                <a:spcPts val="0"/>
              </a:spcBef>
              <a:spcAft>
                <a:spcPts val="0"/>
              </a:spcAft>
              <a:buClr>
                <a:schemeClr val="lt1"/>
              </a:buClr>
              <a:buSzPts val="1400"/>
              <a:buChar char="●"/>
              <a:defRPr>
                <a:solidFill>
                  <a:schemeClr val="lt1"/>
                </a:solidFill>
              </a:defRPr>
            </a:lvl7pPr>
            <a:lvl8pPr marL="4876678" lvl="7" indent="-423323">
              <a:spcBef>
                <a:spcPts val="0"/>
              </a:spcBef>
              <a:spcAft>
                <a:spcPts val="0"/>
              </a:spcAft>
              <a:buClr>
                <a:schemeClr val="lt1"/>
              </a:buClr>
              <a:buSzPts val="1400"/>
              <a:buChar char="○"/>
              <a:defRPr>
                <a:solidFill>
                  <a:schemeClr val="lt1"/>
                </a:solidFill>
              </a:defRPr>
            </a:lvl8pPr>
            <a:lvl9pPr marL="5486263" lvl="8" indent="-423323">
              <a:spcBef>
                <a:spcPts val="0"/>
              </a:spcBef>
              <a:spcAft>
                <a:spcPts val="0"/>
              </a:spcAft>
              <a:buClr>
                <a:schemeClr val="lt1"/>
              </a:buClr>
              <a:buSzPts val="1400"/>
              <a:buChar char="■"/>
              <a:defRPr>
                <a:solidFill>
                  <a:schemeClr val="lt1"/>
                </a:solidFill>
              </a:defRPr>
            </a:lvl9pPr>
          </a:lstStyle>
          <a:p>
            <a:pPr lvl="0"/>
            <a:r>
              <a:rPr lang="en-US"/>
              <a:t>Click to edit Master text styles</a:t>
            </a:r>
          </a:p>
        </p:txBody>
      </p:sp>
      <p:sp>
        <p:nvSpPr>
          <p:cNvPr id="44" name="Google Shape;44;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a:defRPr/>
            </a:pPr>
            <a:fld id="{4716B21C-4A26-4CFD-920A-1CD4A66544B7}" type="slidenum">
              <a:rPr lang="en-US" smtClean="0"/>
              <a:pPr>
                <a:defRPr/>
              </a:pPr>
              <a:t>‹#›</a:t>
            </a:fld>
            <a:endParaRPr lang="en-US"/>
          </a:p>
        </p:txBody>
      </p:sp>
    </p:spTree>
    <p:extLst>
      <p:ext uri="{BB962C8B-B14F-4D97-AF65-F5344CB8AC3E}">
        <p14:creationId xmlns:p14="http://schemas.microsoft.com/office/powerpoint/2010/main" val="2429447502"/>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5"/>
        <p:cNvGrpSpPr/>
        <p:nvPr/>
      </p:nvGrpSpPr>
      <p:grpSpPr>
        <a:xfrm>
          <a:off x="0" y="0"/>
          <a:ext cx="0" cy="0"/>
          <a:chOff x="0" y="0"/>
          <a:chExt cx="0" cy="0"/>
        </a:xfrm>
      </p:grpSpPr>
      <p:sp>
        <p:nvSpPr>
          <p:cNvPr id="46" name="Google Shape;46;p10"/>
          <p:cNvSpPr txBox="1">
            <a:spLocks noGrp="1"/>
          </p:cNvSpPr>
          <p:nvPr>
            <p:ph type="body" idx="1"/>
          </p:nvPr>
        </p:nvSpPr>
        <p:spPr>
          <a:xfrm>
            <a:off x="415600" y="5649100"/>
            <a:ext cx="7998400" cy="7984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2100"/>
              <a:buNone/>
              <a:defRPr sz="2800"/>
            </a:lvl1pPr>
          </a:lstStyle>
          <a:p>
            <a:pPr lvl="0"/>
            <a:r>
              <a:rPr lang="en-US"/>
              <a:t>Click to edit Master text styles</a:t>
            </a:r>
          </a:p>
        </p:txBody>
      </p:sp>
      <p:sp>
        <p:nvSpPr>
          <p:cNvPr id="47" name="Google Shape;47;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4716B21C-4A26-4CFD-920A-1CD4A66544B7}" type="slidenum">
              <a:rPr lang="en-US" smtClean="0"/>
              <a:pPr>
                <a:defRPr/>
              </a:pPr>
              <a:t>‹#›</a:t>
            </a:fld>
            <a:endParaRPr lang="en-US"/>
          </a:p>
        </p:txBody>
      </p:sp>
    </p:spTree>
    <p:extLst>
      <p:ext uri="{BB962C8B-B14F-4D97-AF65-F5344CB8AC3E}">
        <p14:creationId xmlns:p14="http://schemas.microsoft.com/office/powerpoint/2010/main" val="2237922854"/>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8"/>
        <p:cNvGrpSpPr/>
        <p:nvPr/>
      </p:nvGrpSpPr>
      <p:grpSpPr>
        <a:xfrm>
          <a:off x="0" y="0"/>
          <a:ext cx="0" cy="0"/>
          <a:chOff x="0" y="0"/>
          <a:chExt cx="0" cy="0"/>
        </a:xfrm>
      </p:grpSpPr>
      <p:sp>
        <p:nvSpPr>
          <p:cNvPr id="49" name="Google Shape;49;p11"/>
          <p:cNvSpPr/>
          <p:nvPr/>
        </p:nvSpPr>
        <p:spPr>
          <a:xfrm>
            <a:off x="0" y="6727600"/>
            <a:ext cx="12192000" cy="13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50" name="Google Shape;50;p11"/>
          <p:cNvSpPr txBox="1">
            <a:spLocks noGrp="1"/>
          </p:cNvSpPr>
          <p:nvPr>
            <p:ph type="title" hasCustomPrompt="1"/>
          </p:nvPr>
        </p:nvSpPr>
        <p:spPr>
          <a:xfrm>
            <a:off x="415600" y="1321967"/>
            <a:ext cx="11360800" cy="25572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14000"/>
              <a:buNone/>
              <a:defRPr sz="18666" b="1"/>
            </a:lvl1pPr>
            <a:lvl2pPr lvl="1" algn="ctr">
              <a:spcBef>
                <a:spcPts val="0"/>
              </a:spcBef>
              <a:spcAft>
                <a:spcPts val="0"/>
              </a:spcAft>
              <a:buSzPts val="14000"/>
              <a:buNone/>
              <a:defRPr sz="18666" b="1"/>
            </a:lvl2pPr>
            <a:lvl3pPr lvl="2" algn="ctr">
              <a:spcBef>
                <a:spcPts val="0"/>
              </a:spcBef>
              <a:spcAft>
                <a:spcPts val="0"/>
              </a:spcAft>
              <a:buSzPts val="14000"/>
              <a:buNone/>
              <a:defRPr sz="18666" b="1"/>
            </a:lvl3pPr>
            <a:lvl4pPr lvl="3" algn="ctr">
              <a:spcBef>
                <a:spcPts val="0"/>
              </a:spcBef>
              <a:spcAft>
                <a:spcPts val="0"/>
              </a:spcAft>
              <a:buSzPts val="14000"/>
              <a:buNone/>
              <a:defRPr sz="18666" b="1"/>
            </a:lvl4pPr>
            <a:lvl5pPr lvl="4" algn="ctr">
              <a:spcBef>
                <a:spcPts val="0"/>
              </a:spcBef>
              <a:spcAft>
                <a:spcPts val="0"/>
              </a:spcAft>
              <a:buSzPts val="14000"/>
              <a:buNone/>
              <a:defRPr sz="18666" b="1"/>
            </a:lvl5pPr>
            <a:lvl6pPr lvl="5" algn="ctr">
              <a:spcBef>
                <a:spcPts val="0"/>
              </a:spcBef>
              <a:spcAft>
                <a:spcPts val="0"/>
              </a:spcAft>
              <a:buSzPts val="14000"/>
              <a:buNone/>
              <a:defRPr sz="18666" b="1"/>
            </a:lvl6pPr>
            <a:lvl7pPr lvl="6" algn="ctr">
              <a:spcBef>
                <a:spcPts val="0"/>
              </a:spcBef>
              <a:spcAft>
                <a:spcPts val="0"/>
              </a:spcAft>
              <a:buSzPts val="14000"/>
              <a:buNone/>
              <a:defRPr sz="18666" b="1"/>
            </a:lvl7pPr>
            <a:lvl8pPr lvl="7" algn="ctr">
              <a:spcBef>
                <a:spcPts val="0"/>
              </a:spcBef>
              <a:spcAft>
                <a:spcPts val="0"/>
              </a:spcAft>
              <a:buSzPts val="14000"/>
              <a:buNone/>
              <a:defRPr sz="18666" b="1"/>
            </a:lvl8pPr>
            <a:lvl9pPr lvl="8" algn="ctr">
              <a:spcBef>
                <a:spcPts val="0"/>
              </a:spcBef>
              <a:spcAft>
                <a:spcPts val="0"/>
              </a:spcAft>
              <a:buSzPts val="14000"/>
              <a:buNone/>
              <a:defRPr sz="18666" b="1"/>
            </a:lvl9pPr>
          </a:lstStyle>
          <a:p>
            <a:r>
              <a:t>xx%</a:t>
            </a:r>
          </a:p>
        </p:txBody>
      </p:sp>
      <p:sp>
        <p:nvSpPr>
          <p:cNvPr id="51" name="Google Shape;51;p11"/>
          <p:cNvSpPr txBox="1">
            <a:spLocks noGrp="1"/>
          </p:cNvSpPr>
          <p:nvPr>
            <p:ph type="body" idx="1"/>
          </p:nvPr>
        </p:nvSpPr>
        <p:spPr>
          <a:xfrm>
            <a:off x="415600" y="4095067"/>
            <a:ext cx="11360800" cy="12024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pPr lvl="0"/>
            <a:r>
              <a:rPr lang="en-US"/>
              <a:t>Click to edit Master text styles</a:t>
            </a:r>
          </a:p>
        </p:txBody>
      </p:sp>
      <p:sp>
        <p:nvSpPr>
          <p:cNvPr id="52" name="Google Shape;52;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4716B21C-4A26-4CFD-920A-1CD4A66544B7}" type="slidenum">
              <a:rPr lang="en-US" smtClean="0"/>
              <a:pPr>
                <a:defRPr/>
              </a:pPr>
              <a:t>‹#›</a:t>
            </a:fld>
            <a:endParaRPr lang="en-US"/>
          </a:p>
        </p:txBody>
      </p:sp>
    </p:spTree>
    <p:extLst>
      <p:ext uri="{BB962C8B-B14F-4D97-AF65-F5344CB8AC3E}">
        <p14:creationId xmlns:p14="http://schemas.microsoft.com/office/powerpoint/2010/main" val="286713775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5B4065AF-4B85-4F34-98EF-DB99DE68DE4E}" type="slidenum">
              <a:rPr lang="en-US" smtClean="0"/>
              <a:pPr>
                <a:defRPr/>
              </a:pPr>
              <a:t>‹#›</a:t>
            </a:fld>
            <a:endParaRPr lang="en-US"/>
          </a:p>
        </p:txBody>
      </p:sp>
    </p:spTree>
    <p:extLst>
      <p:ext uri="{BB962C8B-B14F-4D97-AF65-F5344CB8AC3E}">
        <p14:creationId xmlns:p14="http://schemas.microsoft.com/office/powerpoint/2010/main" val="3015113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8435E74-C0C9-4C51-9C9A-77989A5B42AF}" type="datetime1">
              <a:rPr lang="en-US" smtClean="0"/>
              <a:t>9/21/2026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DFD1671-737C-44E1-8E5C-EC48A34B655F}" type="slidenum">
              <a:rPr lang="en-US"/>
              <a:pPr>
                <a:defRPr/>
              </a:pPr>
              <a:t>‹#›</a:t>
            </a:fld>
            <a:endParaRPr lang="en-US"/>
          </a:p>
        </p:txBody>
      </p:sp>
    </p:spTree>
    <p:extLst>
      <p:ext uri="{BB962C8B-B14F-4D97-AF65-F5344CB8AC3E}">
        <p14:creationId xmlns:p14="http://schemas.microsoft.com/office/powerpoint/2010/main" val="1193398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marL="914400" lvl="1"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marL="1371600" lvl="2"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marL="1828800" lvl="3"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marL="2286000" lvl="4"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marL="2743200" lvl="5"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marL="3200400" lvl="6"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marL="3657600" lvl="7"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marL="4114800" lvl="8"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1"/>
                </a:solidFill>
                <a:latin typeface="Proxima Nova"/>
                <a:ea typeface="Proxima Nova"/>
                <a:cs typeface="Proxima Nova"/>
                <a:sym typeface="Proxima Nova"/>
              </a:defRPr>
            </a:lvl1pPr>
            <a:lvl2pPr lvl="1" algn="r">
              <a:buNone/>
              <a:defRPr sz="1333">
                <a:solidFill>
                  <a:schemeClr val="dk1"/>
                </a:solidFill>
                <a:latin typeface="Proxima Nova"/>
                <a:ea typeface="Proxima Nova"/>
                <a:cs typeface="Proxima Nova"/>
                <a:sym typeface="Proxima Nova"/>
              </a:defRPr>
            </a:lvl2pPr>
            <a:lvl3pPr lvl="2" algn="r">
              <a:buNone/>
              <a:defRPr sz="1333">
                <a:solidFill>
                  <a:schemeClr val="dk1"/>
                </a:solidFill>
                <a:latin typeface="Proxima Nova"/>
                <a:ea typeface="Proxima Nova"/>
                <a:cs typeface="Proxima Nova"/>
                <a:sym typeface="Proxima Nova"/>
              </a:defRPr>
            </a:lvl3pPr>
            <a:lvl4pPr lvl="3" algn="r">
              <a:buNone/>
              <a:defRPr sz="1333">
                <a:solidFill>
                  <a:schemeClr val="dk1"/>
                </a:solidFill>
                <a:latin typeface="Proxima Nova"/>
                <a:ea typeface="Proxima Nova"/>
                <a:cs typeface="Proxima Nova"/>
                <a:sym typeface="Proxima Nova"/>
              </a:defRPr>
            </a:lvl4pPr>
            <a:lvl5pPr lvl="4" algn="r">
              <a:buNone/>
              <a:defRPr sz="1333">
                <a:solidFill>
                  <a:schemeClr val="dk1"/>
                </a:solidFill>
                <a:latin typeface="Proxima Nova"/>
                <a:ea typeface="Proxima Nova"/>
                <a:cs typeface="Proxima Nova"/>
                <a:sym typeface="Proxima Nova"/>
              </a:defRPr>
            </a:lvl5pPr>
            <a:lvl6pPr lvl="5" algn="r">
              <a:buNone/>
              <a:defRPr sz="1333">
                <a:solidFill>
                  <a:schemeClr val="dk1"/>
                </a:solidFill>
                <a:latin typeface="Proxima Nova"/>
                <a:ea typeface="Proxima Nova"/>
                <a:cs typeface="Proxima Nova"/>
                <a:sym typeface="Proxima Nova"/>
              </a:defRPr>
            </a:lvl6pPr>
            <a:lvl7pPr lvl="6" algn="r">
              <a:buNone/>
              <a:defRPr sz="1333">
                <a:solidFill>
                  <a:schemeClr val="dk1"/>
                </a:solidFill>
                <a:latin typeface="Proxima Nova"/>
                <a:ea typeface="Proxima Nova"/>
                <a:cs typeface="Proxima Nova"/>
                <a:sym typeface="Proxima Nova"/>
              </a:defRPr>
            </a:lvl7pPr>
            <a:lvl8pPr lvl="7" algn="r">
              <a:buNone/>
              <a:defRPr sz="1333">
                <a:solidFill>
                  <a:schemeClr val="dk1"/>
                </a:solidFill>
                <a:latin typeface="Proxima Nova"/>
                <a:ea typeface="Proxima Nova"/>
                <a:cs typeface="Proxima Nova"/>
                <a:sym typeface="Proxima Nova"/>
              </a:defRPr>
            </a:lvl8pPr>
            <a:lvl9pPr lvl="8" algn="r">
              <a:buNone/>
              <a:defRPr sz="1333">
                <a:solidFill>
                  <a:schemeClr val="dk1"/>
                </a:solidFill>
                <a:latin typeface="Proxima Nova"/>
                <a:ea typeface="Proxima Nova"/>
                <a:cs typeface="Proxima Nova"/>
                <a:sym typeface="Proxima Nova"/>
              </a:defRPr>
            </a:lvl9pPr>
          </a:lstStyle>
          <a:p>
            <a:pPr>
              <a:defRPr/>
            </a:pPr>
            <a:fld id="{4716B21C-4A26-4CFD-920A-1CD4A66544B7}" type="slidenum">
              <a:rPr lang="en-US" smtClean="0"/>
              <a:pPr>
                <a:defRPr/>
              </a:pPr>
              <a:t>‹#›</a:t>
            </a:fld>
            <a:endParaRPr lang="en-US"/>
          </a:p>
        </p:txBody>
      </p:sp>
    </p:spTree>
    <p:extLst>
      <p:ext uri="{BB962C8B-B14F-4D97-AF65-F5344CB8AC3E}">
        <p14:creationId xmlns:p14="http://schemas.microsoft.com/office/powerpoint/2010/main" val="3001423737"/>
      </p:ext>
    </p:extLst>
  </p:cSld>
  <p:clrMap bg1="lt1" tx1="dk1" bg2="dk2" tx2="lt2" accent1="accent1" accent2="accent2" accent3="accent3" accent4="accent4" accent5="accent5" accent6="accent6" hlink="hlink" folHlink="folHlink"/>
  <p:sldLayoutIdLst>
    <p:sldLayoutId id="2147484167" r:id="rId1"/>
    <p:sldLayoutId id="2147484168" r:id="rId2"/>
    <p:sldLayoutId id="2147484169" r:id="rId3"/>
    <p:sldLayoutId id="2147484170" r:id="rId4"/>
    <p:sldLayoutId id="2147484171" r:id="rId5"/>
    <p:sldLayoutId id="2147484172" r:id="rId6"/>
    <p:sldLayoutId id="2147484173" r:id="rId7"/>
    <p:sldLayoutId id="2147484174" r:id="rId8"/>
    <p:sldLayoutId id="2147484175" r:id="rId9"/>
    <p:sldLayoutId id="2147484176" r:id="rId10"/>
    <p:sldLayoutId id="2147484177" r:id="rId11"/>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D677833-06EE-63B8-DC97-BC4A2CDD65B1}"/>
              </a:ext>
            </a:extLst>
          </p:cNvPr>
          <p:cNvSpPr/>
          <p:nvPr/>
        </p:nvSpPr>
        <p:spPr>
          <a:xfrm>
            <a:off x="3348628" y="155107"/>
            <a:ext cx="4807974" cy="7649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000" b="1" i="0" u="none" strike="noStrike" kern="0" cap="none" spc="0" normalizeH="0" baseline="0" noProof="0" dirty="0">
                <a:ln>
                  <a:noFill/>
                </a:ln>
                <a:solidFill>
                  <a:srgbClr val="353744">
                    <a:lumMod val="50000"/>
                  </a:srgbClr>
                </a:solidFill>
                <a:effectLst/>
                <a:uLnTx/>
                <a:uFillTx/>
                <a:latin typeface="Popin"/>
                <a:ea typeface="+mn-ea"/>
                <a:cs typeface="+mn-cs"/>
                <a:sym typeface="Arial"/>
              </a:rPr>
              <a:t>Chapter  3 </a:t>
            </a:r>
          </a:p>
        </p:txBody>
      </p:sp>
      <p:sp>
        <p:nvSpPr>
          <p:cNvPr id="7" name="Rectangle 6">
            <a:extLst>
              <a:ext uri="{FF2B5EF4-FFF2-40B4-BE49-F238E27FC236}">
                <a16:creationId xmlns:a16="http://schemas.microsoft.com/office/drawing/2014/main" id="{667EC203-7727-5745-742D-FE9C3DAF449F}"/>
              </a:ext>
            </a:extLst>
          </p:cNvPr>
          <p:cNvSpPr/>
          <p:nvPr/>
        </p:nvSpPr>
        <p:spPr>
          <a:xfrm>
            <a:off x="1828978" y="1164244"/>
            <a:ext cx="9384579" cy="17472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4000" b="1" i="0" u="none" strike="noStrike" kern="0" cap="none" spc="0" normalizeH="0" baseline="0" noProof="0" dirty="0">
                <a:ln>
                  <a:noFill/>
                </a:ln>
                <a:solidFill>
                  <a:srgbClr val="FF0000"/>
                </a:solidFill>
                <a:effectLst/>
                <a:uLnTx/>
                <a:uFillTx/>
                <a:latin typeface="Popin"/>
                <a:ea typeface="+mn-ea"/>
                <a:cs typeface="+mn-cs"/>
                <a:sym typeface="Arial"/>
              </a:rPr>
              <a:t>Arrays and Functions in PHP</a:t>
            </a:r>
          </a:p>
        </p:txBody>
      </p:sp>
      <p:sp>
        <p:nvSpPr>
          <p:cNvPr id="8" name="Rectangle 7">
            <a:extLst>
              <a:ext uri="{FF2B5EF4-FFF2-40B4-BE49-F238E27FC236}">
                <a16:creationId xmlns:a16="http://schemas.microsoft.com/office/drawing/2014/main" id="{2403B7AB-EE0B-5FD7-F70A-D87FCF423C96}"/>
              </a:ext>
            </a:extLst>
          </p:cNvPr>
          <p:cNvSpPr/>
          <p:nvPr/>
        </p:nvSpPr>
        <p:spPr>
          <a:xfrm>
            <a:off x="155724" y="3095639"/>
            <a:ext cx="11731475" cy="11744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dirty="0">
                <a:ln>
                  <a:noFill/>
                </a:ln>
                <a:solidFill>
                  <a:srgbClr val="353744">
                    <a:lumMod val="50000"/>
                  </a:srgbClr>
                </a:solidFill>
                <a:effectLst/>
                <a:uLnTx/>
                <a:uFillTx/>
                <a:latin typeface="Popin"/>
                <a:ea typeface="+mn-ea"/>
                <a:cs typeface="+mn-cs"/>
                <a:sym typeface="Arial"/>
              </a:rPr>
              <a:t>Lecturer. </a:t>
            </a:r>
            <a:r>
              <a:rPr kumimoji="0" lang="en-GB" sz="2400" b="0" i="0" u="none" strike="noStrike" kern="0" cap="none" spc="0" normalizeH="0" baseline="0" noProof="0" dirty="0">
                <a:ln>
                  <a:noFill/>
                </a:ln>
                <a:solidFill>
                  <a:srgbClr val="353744">
                    <a:lumMod val="50000"/>
                  </a:srgbClr>
                </a:solidFill>
                <a:effectLst/>
                <a:uLnTx/>
                <a:uFillTx/>
                <a:latin typeface="Popin"/>
                <a:ea typeface="+mn-ea"/>
                <a:cs typeface="+mn-cs"/>
                <a:sym typeface="Arial"/>
              </a:rPr>
              <a:t>Yahye Ali Isse</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2400" b="0" i="0" u="none" strike="noStrike" kern="0" cap="none" spc="0" normalizeH="0" baseline="0" noProof="0" dirty="0">
                <a:ln>
                  <a:noFill/>
                </a:ln>
                <a:solidFill>
                  <a:srgbClr val="353744">
                    <a:lumMod val="50000"/>
                  </a:srgbClr>
                </a:solidFill>
                <a:effectLst/>
                <a:uLnTx/>
                <a:uFillTx/>
                <a:latin typeface="Popin"/>
                <a:ea typeface="+mn-ea"/>
                <a:cs typeface="+mn-cs"/>
                <a:sym typeface="Arial"/>
              </a:rPr>
              <a:t>MSc of science in data science</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2400" b="0" i="0" u="none" strike="noStrike" kern="0" cap="none" spc="0" normalizeH="0" baseline="0" noProof="0" dirty="0">
              <a:ln>
                <a:noFill/>
              </a:ln>
              <a:solidFill>
                <a:srgbClr val="353744">
                  <a:lumMod val="50000"/>
                </a:srgbClr>
              </a:solidFill>
              <a:effectLst/>
              <a:uLnTx/>
              <a:uFillTx/>
              <a:latin typeface="Popin"/>
              <a:ea typeface="+mn-ea"/>
              <a:cs typeface="+mn-cs"/>
              <a:sym typeface="Arial"/>
            </a:endParaRPr>
          </a:p>
        </p:txBody>
      </p:sp>
      <p:pic>
        <p:nvPicPr>
          <p:cNvPr id="14" name="Picture 13">
            <a:extLst>
              <a:ext uri="{FF2B5EF4-FFF2-40B4-BE49-F238E27FC236}">
                <a16:creationId xmlns:a16="http://schemas.microsoft.com/office/drawing/2014/main" id="{80266B86-F406-22C5-4D2B-A426547488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9284" y="4638385"/>
            <a:ext cx="4237318" cy="126810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36414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89ABC4-627A-2D4D-DA17-8BA94E405A28}"/>
              </a:ext>
            </a:extLst>
          </p:cNvPr>
          <p:cNvSpPr>
            <a:spLocks noGrp="1"/>
          </p:cNvSpPr>
          <p:nvPr>
            <p:ph idx="1"/>
          </p:nvPr>
        </p:nvSpPr>
        <p:spPr>
          <a:xfrm>
            <a:off x="0" y="1139197"/>
            <a:ext cx="5926347" cy="5718803"/>
          </a:xfrm>
        </p:spPr>
        <p:txBody>
          <a:bodyPr>
            <a:normAutofit lnSpcReduction="10000"/>
          </a:bodyPr>
          <a:lstStyle/>
          <a:p>
            <a:r>
              <a:rPr lang="en-US" sz="3200" dirty="0"/>
              <a:t>Introduction to Arrays</a:t>
            </a:r>
          </a:p>
          <a:p>
            <a:r>
              <a:rPr lang="en-US" sz="3200" dirty="0"/>
              <a:t>Numerically Indexed Arrays</a:t>
            </a:r>
          </a:p>
          <a:p>
            <a:r>
              <a:rPr lang="en-US" sz="3200" dirty="0"/>
              <a:t>The foreach...as Loop</a:t>
            </a:r>
          </a:p>
          <a:p>
            <a:r>
              <a:rPr lang="en-US" sz="3200" dirty="0"/>
              <a:t>Associative Arrays</a:t>
            </a:r>
          </a:p>
          <a:p>
            <a:r>
              <a:rPr lang="en-US" sz="3200" dirty="0"/>
              <a:t>Access mechanism operator (=&gt;)</a:t>
            </a:r>
          </a:p>
          <a:p>
            <a:pPr eaLnBrk="1" hangingPunct="1"/>
            <a:r>
              <a:rPr lang="en-US" sz="3200" dirty="0"/>
              <a:t>Multi-dimensional Arrays</a:t>
            </a:r>
          </a:p>
          <a:p>
            <a:pPr eaLnBrk="1" hangingPunct="1"/>
            <a:r>
              <a:rPr lang="en-US" sz="3200" dirty="0"/>
              <a:t>Two-dimensional Numerical Indexed Array</a:t>
            </a:r>
          </a:p>
          <a:p>
            <a:pPr eaLnBrk="1" hangingPunct="1"/>
            <a:r>
              <a:rPr lang="en-US" sz="3200" dirty="0"/>
              <a:t>Using Array Functions</a:t>
            </a:r>
          </a:p>
        </p:txBody>
      </p:sp>
      <p:sp>
        <p:nvSpPr>
          <p:cNvPr id="4" name="Slide Number Placeholder 3">
            <a:extLst>
              <a:ext uri="{FF2B5EF4-FFF2-40B4-BE49-F238E27FC236}">
                <a16:creationId xmlns:a16="http://schemas.microsoft.com/office/drawing/2014/main" id="{5314A440-F0C5-B4E3-D081-19D84C107256}"/>
              </a:ext>
            </a:extLst>
          </p:cNvPr>
          <p:cNvSpPr>
            <a:spLocks noGrp="1"/>
          </p:cNvSpPr>
          <p:nvPr>
            <p:ph type="sldNum" sz="quarter" idx="12"/>
          </p:nvPr>
        </p:nvSpPr>
        <p:spPr/>
        <p:txBody>
          <a:bodyPr/>
          <a:lstStyle/>
          <a:p>
            <a:pPr>
              <a:defRPr/>
            </a:pPr>
            <a:fld id="{1DFD1671-737C-44E1-8E5C-EC48A34B655F}" type="slidenum">
              <a:rPr lang="en-US" smtClean="0"/>
              <a:pPr>
                <a:defRPr/>
              </a:pPr>
              <a:t>2</a:t>
            </a:fld>
            <a:endParaRPr lang="en-US"/>
          </a:p>
        </p:txBody>
      </p:sp>
      <p:sp>
        <p:nvSpPr>
          <p:cNvPr id="5" name="Content Placeholder 2">
            <a:extLst>
              <a:ext uri="{FF2B5EF4-FFF2-40B4-BE49-F238E27FC236}">
                <a16:creationId xmlns:a16="http://schemas.microsoft.com/office/drawing/2014/main" id="{263F588F-6B94-4044-96B2-4CECE95A67BE}"/>
              </a:ext>
            </a:extLst>
          </p:cNvPr>
          <p:cNvSpPr txBox="1">
            <a:spLocks/>
          </p:cNvSpPr>
          <p:nvPr/>
        </p:nvSpPr>
        <p:spPr bwMode="auto">
          <a:xfrm>
            <a:off x="5779699" y="1135530"/>
            <a:ext cx="6412302" cy="5722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Introduction to Functions</a:t>
            </a:r>
          </a:p>
          <a:p>
            <a:r>
              <a:rPr lang="en-US" sz="3200" dirty="0"/>
              <a:t>Parameters vs Arguments</a:t>
            </a:r>
          </a:p>
          <a:p>
            <a:r>
              <a:rPr lang="en-US" sz="3200" dirty="0"/>
              <a:t>Returning a Value</a:t>
            </a:r>
          </a:p>
          <a:p>
            <a:pPr eaLnBrk="1" hangingPunct="1"/>
            <a:r>
              <a:rPr lang="en-US" sz="3200" dirty="0"/>
              <a:t>Passing By Value vs By Reference</a:t>
            </a:r>
          </a:p>
          <a:p>
            <a:pPr eaLnBrk="1" hangingPunct="1"/>
            <a:r>
              <a:rPr lang="en-US" sz="3200" dirty="0"/>
              <a:t>Default Argument Value</a:t>
            </a:r>
          </a:p>
          <a:p>
            <a:pPr eaLnBrk="1" hangingPunct="1"/>
            <a:r>
              <a:rPr lang="en-US" sz="3200" dirty="0"/>
              <a:t>Scope of Variables</a:t>
            </a:r>
          </a:p>
          <a:p>
            <a:pPr eaLnBrk="1" hangingPunct="1"/>
            <a:r>
              <a:rPr lang="en-US" sz="3200" dirty="0"/>
              <a:t>Including Files in PHP</a:t>
            </a:r>
          </a:p>
        </p:txBody>
      </p:sp>
      <p:sp>
        <p:nvSpPr>
          <p:cNvPr id="11" name="Rectangle 10">
            <a:extLst>
              <a:ext uri="{FF2B5EF4-FFF2-40B4-BE49-F238E27FC236}">
                <a16:creationId xmlns:a16="http://schemas.microsoft.com/office/drawing/2014/main" id="{7C4DFC96-F547-53AC-2B61-CAFACF0A0DBA}"/>
              </a:ext>
            </a:extLst>
          </p:cNvPr>
          <p:cNvSpPr/>
          <p:nvPr/>
        </p:nvSpPr>
        <p:spPr>
          <a:xfrm>
            <a:off x="0" y="0"/>
            <a:ext cx="12192000" cy="113552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AD38C97-9E45-8430-098D-C3E3AD8D311C}"/>
              </a:ext>
            </a:extLst>
          </p:cNvPr>
          <p:cNvSpPr txBox="1"/>
          <p:nvPr/>
        </p:nvSpPr>
        <p:spPr>
          <a:xfrm>
            <a:off x="3095810" y="233085"/>
            <a:ext cx="4589929" cy="646331"/>
          </a:xfrm>
          <a:prstGeom prst="rect">
            <a:avLst/>
          </a:prstGeom>
          <a:noFill/>
        </p:spPr>
        <p:txBody>
          <a:bodyPr wrap="square" rtlCol="0">
            <a:spAutoFit/>
          </a:bodyPr>
          <a:lstStyle/>
          <a:p>
            <a:r>
              <a:rPr lang="en-US" sz="3600" b="1" kern="1200" spc="-5" dirty="0">
                <a:solidFill>
                  <a:srgbClr val="FFC000"/>
                </a:solidFill>
                <a:latin typeface="Calibri" panose="020F0502020204030204"/>
                <a:ea typeface="+mn-ea"/>
                <a:cs typeface="+mn-cs"/>
              </a:rPr>
              <a:t>Chapter Outlines</a:t>
            </a:r>
          </a:p>
        </p:txBody>
      </p:sp>
      <p:pic>
        <p:nvPicPr>
          <p:cNvPr id="15" name="object 3">
            <a:extLst>
              <a:ext uri="{FF2B5EF4-FFF2-40B4-BE49-F238E27FC236}">
                <a16:creationId xmlns:a16="http://schemas.microsoft.com/office/drawing/2014/main" id="{929471C0-F685-B0E5-8831-823CE38691A0}"/>
              </a:ext>
            </a:extLst>
          </p:cNvPr>
          <p:cNvPicPr/>
          <p:nvPr/>
        </p:nvPicPr>
        <p:blipFill>
          <a:blip r:embed="rId2" cstate="print"/>
          <a:stretch>
            <a:fillRect/>
          </a:stretch>
        </p:blipFill>
        <p:spPr>
          <a:xfrm>
            <a:off x="11007176" y="103356"/>
            <a:ext cx="1029430" cy="1020942"/>
          </a:xfrm>
          <a:prstGeom prst="ellipse">
            <a:avLst/>
          </a:prstGeom>
          <a:ln>
            <a:noFill/>
          </a:ln>
          <a:effectLst>
            <a:softEdge rad="112500"/>
          </a:effectLst>
        </p:spPr>
      </p:pic>
    </p:spTree>
    <p:extLst>
      <p:ext uri="{BB962C8B-B14F-4D97-AF65-F5344CB8AC3E}">
        <p14:creationId xmlns:p14="http://schemas.microsoft.com/office/powerpoint/2010/main" val="3081636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0" y="1135527"/>
            <a:ext cx="12192000" cy="5555738"/>
          </a:xfrm>
        </p:spPr>
        <p:txBody>
          <a:bodyPr>
            <a:noAutofit/>
          </a:bodyPr>
          <a:lstStyle/>
          <a:p>
            <a:r>
              <a:rPr lang="en-US" altLang="en-US" sz="2250" dirty="0">
                <a:solidFill>
                  <a:srgbClr val="0070C0"/>
                </a:solidFill>
              </a:rPr>
              <a:t>In PHP, an array is a variable that holds multiple values that are mapped to keys (indexes).</a:t>
            </a:r>
          </a:p>
          <a:p>
            <a:r>
              <a:rPr lang="en-US" sz="2250" dirty="0"/>
              <a:t>An array can hold many values under a single name, and you can access the values by referring to an index </a:t>
            </a:r>
            <a:r>
              <a:rPr lang="en-US" altLang="en-US" sz="2250" dirty="0"/>
              <a:t>(</a:t>
            </a:r>
            <a:r>
              <a:rPr lang="en-US" altLang="en-US" sz="2250" dirty="0">
                <a:solidFill>
                  <a:srgbClr val="0070C0"/>
                </a:solidFill>
              </a:rPr>
              <a:t>a number or string</a:t>
            </a:r>
            <a:r>
              <a:rPr lang="en-US" altLang="en-US" sz="2250" dirty="0"/>
              <a:t>).</a:t>
            </a:r>
          </a:p>
          <a:p>
            <a:r>
              <a:rPr lang="en-US" altLang="en-US" sz="2250" dirty="0"/>
              <a:t>Each member of the array is called an </a:t>
            </a:r>
            <a:r>
              <a:rPr lang="en-US" altLang="en-US" sz="2250" b="1" dirty="0">
                <a:solidFill>
                  <a:srgbClr val="FF0000"/>
                </a:solidFill>
              </a:rPr>
              <a:t>element</a:t>
            </a:r>
            <a:r>
              <a:rPr lang="en-US" altLang="en-US" sz="2250" dirty="0"/>
              <a:t>. </a:t>
            </a:r>
            <a:r>
              <a:rPr lang="en-US" sz="2250" dirty="0">
                <a:solidFill>
                  <a:srgbClr val="0070C0"/>
                </a:solidFill>
              </a:rPr>
              <a:t>Some arrays are referenced by numeric indices; others allow alphanumeric identifiers</a:t>
            </a:r>
            <a:r>
              <a:rPr lang="en-US" sz="2250" dirty="0"/>
              <a:t>.</a:t>
            </a:r>
          </a:p>
          <a:p>
            <a:r>
              <a:rPr lang="en-US" sz="2250" dirty="0"/>
              <a:t>Built-in functions let you </a:t>
            </a:r>
            <a:r>
              <a:rPr lang="en-US" sz="2250" dirty="0">
                <a:solidFill>
                  <a:srgbClr val="FF0000"/>
                </a:solidFill>
              </a:rPr>
              <a:t>sort</a:t>
            </a:r>
            <a:r>
              <a:rPr lang="en-US" sz="2250" dirty="0"/>
              <a:t> them, </a:t>
            </a:r>
            <a:r>
              <a:rPr lang="en-US" sz="2250" dirty="0">
                <a:solidFill>
                  <a:srgbClr val="FF0000"/>
                </a:solidFill>
              </a:rPr>
              <a:t>add</a:t>
            </a:r>
            <a:r>
              <a:rPr lang="en-US" sz="2250" dirty="0"/>
              <a:t> or </a:t>
            </a:r>
            <a:r>
              <a:rPr lang="en-US" sz="2250" dirty="0">
                <a:solidFill>
                  <a:srgbClr val="FF0000"/>
                </a:solidFill>
              </a:rPr>
              <a:t>remove</a:t>
            </a:r>
            <a:r>
              <a:rPr lang="en-US" sz="2250" dirty="0"/>
              <a:t> sections, and walk through them to handle each item through a special kind of loop. </a:t>
            </a:r>
          </a:p>
          <a:p>
            <a:pPr>
              <a:defRPr/>
            </a:pPr>
            <a:r>
              <a:rPr lang="en-US" sz="2250" dirty="0"/>
              <a:t>And by placing one or more arrays inside another, you can create arrays of two, three, or </a:t>
            </a:r>
            <a:r>
              <a:rPr lang="en-US" sz="2250" dirty="0">
                <a:solidFill>
                  <a:srgbClr val="0070C0"/>
                </a:solidFill>
              </a:rPr>
              <a:t>any number of dimensions</a:t>
            </a:r>
            <a:r>
              <a:rPr lang="en-US" sz="2250" dirty="0"/>
              <a:t>.</a:t>
            </a:r>
          </a:p>
          <a:p>
            <a:pPr>
              <a:defRPr/>
            </a:pPr>
            <a:r>
              <a:rPr lang="en-US" sz="2250" dirty="0"/>
              <a:t>One last feature of arrays in PHP is that you can actually assign different data types to the values within the array.</a:t>
            </a:r>
          </a:p>
          <a:p>
            <a:pPr>
              <a:defRPr/>
            </a:pPr>
            <a:r>
              <a:rPr lang="en-US" sz="2250" dirty="0"/>
              <a:t>You can also use </a:t>
            </a:r>
            <a:r>
              <a:rPr lang="en-US" sz="2250" b="1" dirty="0" err="1">
                <a:solidFill>
                  <a:srgbClr val="0070C0"/>
                </a:solidFill>
              </a:rPr>
              <a:t>var_dump</a:t>
            </a:r>
            <a:r>
              <a:rPr lang="en-US" sz="2250" b="1" dirty="0"/>
              <a:t> </a:t>
            </a:r>
            <a:r>
              <a:rPr lang="en-US" sz="2250" dirty="0"/>
              <a:t>function to displays structured information about variables including its </a:t>
            </a:r>
            <a:r>
              <a:rPr lang="en-US" sz="2250" b="1" dirty="0">
                <a:solidFill>
                  <a:srgbClr val="FF0000"/>
                </a:solidFill>
              </a:rPr>
              <a:t>size</a:t>
            </a:r>
            <a:r>
              <a:rPr lang="en-US" sz="2250" dirty="0"/>
              <a:t>, </a:t>
            </a:r>
            <a:r>
              <a:rPr lang="en-US" sz="2250" b="1" dirty="0">
                <a:solidFill>
                  <a:srgbClr val="FF0000"/>
                </a:solidFill>
              </a:rPr>
              <a:t>type</a:t>
            </a:r>
            <a:r>
              <a:rPr lang="en-US" sz="2250" dirty="0"/>
              <a:t> and </a:t>
            </a:r>
            <a:r>
              <a:rPr lang="en-US" sz="2250" b="1" dirty="0">
                <a:solidFill>
                  <a:srgbClr val="FF0000"/>
                </a:solidFill>
              </a:rPr>
              <a:t>value</a:t>
            </a:r>
            <a:r>
              <a:rPr lang="en-US" sz="2250" dirty="0"/>
              <a:t>.</a:t>
            </a:r>
          </a:p>
        </p:txBody>
      </p:sp>
      <p:sp>
        <p:nvSpPr>
          <p:cNvPr id="4" name="Slide Number Placeholder 3"/>
          <p:cNvSpPr>
            <a:spLocks noGrp="1"/>
          </p:cNvSpPr>
          <p:nvPr>
            <p:ph type="sldNum" idx="12"/>
          </p:nvPr>
        </p:nvSpPr>
        <p:spPr/>
        <p:txBody>
          <a:bodyPr/>
          <a:lstStyle/>
          <a:p>
            <a:pPr>
              <a:defRPr/>
            </a:pPr>
            <a:fld id="{1DFD1671-737C-44E1-8E5C-EC48A34B655F}" type="slidenum">
              <a:rPr lang="en-US" smtClean="0"/>
              <a:pPr>
                <a:defRPr/>
              </a:pPr>
              <a:t>3</a:t>
            </a:fld>
            <a:endParaRPr lang="en-US" dirty="0"/>
          </a:p>
        </p:txBody>
      </p:sp>
      <p:sp>
        <p:nvSpPr>
          <p:cNvPr id="6" name="Rectangle 5">
            <a:extLst>
              <a:ext uri="{FF2B5EF4-FFF2-40B4-BE49-F238E27FC236}">
                <a16:creationId xmlns:a16="http://schemas.microsoft.com/office/drawing/2014/main" id="{B4865435-316B-D63C-AD9B-19038964C249}"/>
              </a:ext>
            </a:extLst>
          </p:cNvPr>
          <p:cNvSpPr/>
          <p:nvPr/>
        </p:nvSpPr>
        <p:spPr>
          <a:xfrm>
            <a:off x="0" y="0"/>
            <a:ext cx="12192000" cy="113552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8" name="TextBox 7">
            <a:extLst>
              <a:ext uri="{FF2B5EF4-FFF2-40B4-BE49-F238E27FC236}">
                <a16:creationId xmlns:a16="http://schemas.microsoft.com/office/drawing/2014/main" id="{7EDC5A75-41F2-0637-6EB8-BE2284FBE6FF}"/>
              </a:ext>
            </a:extLst>
          </p:cNvPr>
          <p:cNvSpPr txBox="1"/>
          <p:nvPr/>
        </p:nvSpPr>
        <p:spPr>
          <a:xfrm>
            <a:off x="155394" y="244598"/>
            <a:ext cx="4589929" cy="646331"/>
          </a:xfrm>
          <a:prstGeom prst="rect">
            <a:avLst/>
          </a:prstGeom>
          <a:noFill/>
        </p:spPr>
        <p:txBody>
          <a:bodyPr wrap="square" rtlCol="0">
            <a:spAutoFit/>
          </a:bodyPr>
          <a:lstStyle/>
          <a:p>
            <a:r>
              <a:rPr lang="en-US" sz="3600" b="1" kern="1200" spc="-5" dirty="0">
                <a:solidFill>
                  <a:srgbClr val="FFC000"/>
                </a:solidFill>
                <a:latin typeface="Calibri" panose="020F0502020204030204"/>
                <a:ea typeface="+mn-ea"/>
                <a:cs typeface="+mn-cs"/>
              </a:rPr>
              <a:t>Introduction to Array</a:t>
            </a:r>
          </a:p>
        </p:txBody>
      </p:sp>
      <p:pic>
        <p:nvPicPr>
          <p:cNvPr id="10" name="object 3">
            <a:extLst>
              <a:ext uri="{FF2B5EF4-FFF2-40B4-BE49-F238E27FC236}">
                <a16:creationId xmlns:a16="http://schemas.microsoft.com/office/drawing/2014/main" id="{6C3D6479-7322-62B3-6373-E92C3D5D74A9}"/>
              </a:ext>
            </a:extLst>
          </p:cNvPr>
          <p:cNvPicPr/>
          <p:nvPr/>
        </p:nvPicPr>
        <p:blipFill>
          <a:blip r:embed="rId2" cstate="print"/>
          <a:stretch>
            <a:fillRect/>
          </a:stretch>
        </p:blipFill>
        <p:spPr>
          <a:xfrm>
            <a:off x="11007176" y="103356"/>
            <a:ext cx="1029430" cy="1020942"/>
          </a:xfrm>
          <a:prstGeom prst="ellipse">
            <a:avLst/>
          </a:prstGeom>
          <a:ln>
            <a:noFill/>
          </a:ln>
          <a:effectLst>
            <a:softEdge rad="112500"/>
          </a:effectLst>
        </p:spPr>
      </p:pic>
    </p:spTree>
    <p:extLst>
      <p:ext uri="{BB962C8B-B14F-4D97-AF65-F5344CB8AC3E}">
        <p14:creationId xmlns:p14="http://schemas.microsoft.com/office/powerpoint/2010/main" val="2244736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 y="1238885"/>
            <a:ext cx="12111487" cy="4592572"/>
          </a:xfrm>
        </p:spPr>
        <p:txBody>
          <a:bodyPr>
            <a:normAutofit fontScale="85000" lnSpcReduction="20000"/>
          </a:bodyPr>
          <a:lstStyle/>
          <a:p>
            <a:r>
              <a:rPr lang="en-US" sz="3200" dirty="0"/>
              <a:t>In PHP, there are three types of arrays:</a:t>
            </a:r>
          </a:p>
          <a:p>
            <a:endParaRPr lang="en-US" sz="3200" dirty="0"/>
          </a:p>
          <a:p>
            <a:r>
              <a:rPr lang="en-US" sz="3200" b="1" dirty="0"/>
              <a:t>Numerically Indexed array </a:t>
            </a:r>
            <a:r>
              <a:rPr lang="en-US" sz="3200" dirty="0"/>
              <a:t>− An array with a </a:t>
            </a:r>
            <a:r>
              <a:rPr lang="en-US" sz="3200" dirty="0">
                <a:solidFill>
                  <a:srgbClr val="0070C0"/>
                </a:solidFill>
              </a:rPr>
              <a:t>numeric index</a:t>
            </a:r>
            <a:r>
              <a:rPr lang="en-US" sz="3200" dirty="0"/>
              <a:t>. Values are stored and accessed in </a:t>
            </a:r>
            <a:r>
              <a:rPr lang="en-US" sz="3200" dirty="0">
                <a:solidFill>
                  <a:srgbClr val="FF0000"/>
                </a:solidFill>
              </a:rPr>
              <a:t>linear fashion</a:t>
            </a:r>
            <a:r>
              <a:rPr lang="en-US" sz="3200" dirty="0"/>
              <a:t>.</a:t>
            </a:r>
          </a:p>
          <a:p>
            <a:endParaRPr lang="en-US" sz="3200" dirty="0"/>
          </a:p>
          <a:p>
            <a:r>
              <a:rPr lang="en-US" sz="3200" b="1" dirty="0"/>
              <a:t>Associative array </a:t>
            </a:r>
            <a:r>
              <a:rPr lang="en-US" sz="3200" dirty="0"/>
              <a:t>− An array with </a:t>
            </a:r>
            <a:r>
              <a:rPr lang="en-US" sz="3200" dirty="0">
                <a:solidFill>
                  <a:srgbClr val="0070C0"/>
                </a:solidFill>
              </a:rPr>
              <a:t>strings as index</a:t>
            </a:r>
            <a:r>
              <a:rPr lang="en-US" sz="3200" dirty="0"/>
              <a:t>. This stores element values in association with key values rather than in a </a:t>
            </a:r>
            <a:r>
              <a:rPr lang="en-US" sz="3200" dirty="0">
                <a:solidFill>
                  <a:srgbClr val="FF0000"/>
                </a:solidFill>
              </a:rPr>
              <a:t>strict linear index order</a:t>
            </a:r>
            <a:r>
              <a:rPr lang="en-US" sz="3200" dirty="0"/>
              <a:t>.</a:t>
            </a:r>
          </a:p>
          <a:p>
            <a:endParaRPr lang="en-US" sz="3200" dirty="0"/>
          </a:p>
          <a:p>
            <a:r>
              <a:rPr lang="en-US" sz="3200" b="1" dirty="0"/>
              <a:t>Multidimensional array </a:t>
            </a:r>
            <a:r>
              <a:rPr lang="en-US" sz="3200" dirty="0"/>
              <a:t>− An array containing one or more arrays and values are accessed using </a:t>
            </a:r>
            <a:r>
              <a:rPr lang="en-US" sz="3200" dirty="0">
                <a:solidFill>
                  <a:srgbClr val="FF0000"/>
                </a:solidFill>
              </a:rPr>
              <a:t>multiple indices</a:t>
            </a:r>
            <a:r>
              <a:rPr lang="en-US" sz="3200" dirty="0"/>
              <a:t>.</a:t>
            </a:r>
          </a:p>
        </p:txBody>
      </p:sp>
      <p:sp>
        <p:nvSpPr>
          <p:cNvPr id="4" name="Slide Number Placeholder 3"/>
          <p:cNvSpPr>
            <a:spLocks noGrp="1"/>
          </p:cNvSpPr>
          <p:nvPr>
            <p:ph type="sldNum" idx="12"/>
          </p:nvPr>
        </p:nvSpPr>
        <p:spPr/>
        <p:txBody>
          <a:bodyPr/>
          <a:lstStyle/>
          <a:p>
            <a:pPr>
              <a:defRPr/>
            </a:pPr>
            <a:fld id="{1DFD1671-737C-44E1-8E5C-EC48A34B655F}" type="slidenum">
              <a:rPr lang="en-US" smtClean="0"/>
              <a:pPr>
                <a:defRPr/>
              </a:pPr>
              <a:t>4</a:t>
            </a:fld>
            <a:endParaRPr lang="en-US"/>
          </a:p>
        </p:txBody>
      </p:sp>
      <p:sp>
        <p:nvSpPr>
          <p:cNvPr id="6" name="Rectangle 5">
            <a:extLst>
              <a:ext uri="{FF2B5EF4-FFF2-40B4-BE49-F238E27FC236}">
                <a16:creationId xmlns:a16="http://schemas.microsoft.com/office/drawing/2014/main" id="{936FFAED-37AE-4E63-11B0-F2C8D65D000C}"/>
              </a:ext>
            </a:extLst>
          </p:cNvPr>
          <p:cNvSpPr/>
          <p:nvPr/>
        </p:nvSpPr>
        <p:spPr>
          <a:xfrm>
            <a:off x="0" y="0"/>
            <a:ext cx="12192000" cy="113552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8" name="TextBox 7">
            <a:extLst>
              <a:ext uri="{FF2B5EF4-FFF2-40B4-BE49-F238E27FC236}">
                <a16:creationId xmlns:a16="http://schemas.microsoft.com/office/drawing/2014/main" id="{DA93526E-F2F5-7F60-BA40-AD6FA6D3D929}"/>
              </a:ext>
            </a:extLst>
          </p:cNvPr>
          <p:cNvSpPr txBox="1"/>
          <p:nvPr/>
        </p:nvSpPr>
        <p:spPr>
          <a:xfrm>
            <a:off x="155394" y="244598"/>
            <a:ext cx="4589929" cy="646331"/>
          </a:xfrm>
          <a:prstGeom prst="rect">
            <a:avLst/>
          </a:prstGeom>
          <a:noFill/>
        </p:spPr>
        <p:txBody>
          <a:bodyPr wrap="square" rtlCol="0">
            <a:spAutoFit/>
          </a:bodyPr>
          <a:lstStyle/>
          <a:p>
            <a:r>
              <a:rPr lang="en-US" sz="3600" b="1" kern="1200" spc="-5" dirty="0">
                <a:solidFill>
                  <a:srgbClr val="FFC000"/>
                </a:solidFill>
                <a:latin typeface="Calibri" panose="020F0502020204030204"/>
                <a:ea typeface="+mn-ea"/>
                <a:cs typeface="+mn-cs"/>
              </a:rPr>
              <a:t>Types of Arrays</a:t>
            </a:r>
          </a:p>
        </p:txBody>
      </p:sp>
      <p:pic>
        <p:nvPicPr>
          <p:cNvPr id="10" name="object 3">
            <a:extLst>
              <a:ext uri="{FF2B5EF4-FFF2-40B4-BE49-F238E27FC236}">
                <a16:creationId xmlns:a16="http://schemas.microsoft.com/office/drawing/2014/main" id="{1A0B13D4-76AA-BA8D-2398-880DD2BA9C0F}"/>
              </a:ext>
            </a:extLst>
          </p:cNvPr>
          <p:cNvPicPr/>
          <p:nvPr/>
        </p:nvPicPr>
        <p:blipFill>
          <a:blip r:embed="rId2" cstate="print"/>
          <a:stretch>
            <a:fillRect/>
          </a:stretch>
        </p:blipFill>
        <p:spPr>
          <a:xfrm>
            <a:off x="11007176" y="103356"/>
            <a:ext cx="1029430" cy="1020942"/>
          </a:xfrm>
          <a:prstGeom prst="ellipse">
            <a:avLst/>
          </a:prstGeom>
          <a:ln>
            <a:noFill/>
          </a:ln>
          <a:effectLst>
            <a:softEdge rad="112500"/>
          </a:effectLst>
        </p:spPr>
      </p:pic>
    </p:spTree>
    <p:extLst>
      <p:ext uri="{BB962C8B-B14F-4D97-AF65-F5344CB8AC3E}">
        <p14:creationId xmlns:p14="http://schemas.microsoft.com/office/powerpoint/2010/main" val="3885360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4AECD-75D6-32F6-98F7-125CB7EE9AA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0D294E-5C18-37D2-CABD-752EC5EF8A30}"/>
              </a:ext>
            </a:extLst>
          </p:cNvPr>
          <p:cNvSpPr>
            <a:spLocks noGrp="1"/>
          </p:cNvSpPr>
          <p:nvPr>
            <p:ph type="body" idx="1"/>
          </p:nvPr>
        </p:nvSpPr>
        <p:spPr>
          <a:xfrm>
            <a:off x="-1" y="1151400"/>
            <a:ext cx="12191999" cy="5603244"/>
          </a:xfrm>
        </p:spPr>
        <p:txBody>
          <a:bodyPr>
            <a:normAutofit/>
          </a:bodyPr>
          <a:lstStyle/>
          <a:p>
            <a:r>
              <a:rPr lang="en-US" sz="3200" dirty="0"/>
              <a:t>Numerically </a:t>
            </a:r>
            <a:r>
              <a:rPr lang="en-US" sz="3200" dirty="0">
                <a:solidFill>
                  <a:srgbClr val="FF0000"/>
                </a:solidFill>
              </a:rPr>
              <a:t>indexed</a:t>
            </a:r>
            <a:r>
              <a:rPr lang="en-US" sz="3200" dirty="0"/>
              <a:t> or </a:t>
            </a:r>
            <a:r>
              <a:rPr lang="en-US" sz="3200" dirty="0">
                <a:solidFill>
                  <a:srgbClr val="FF0000"/>
                </a:solidFill>
              </a:rPr>
              <a:t>numeric</a:t>
            </a:r>
            <a:r>
              <a:rPr lang="en-US" sz="3200" dirty="0"/>
              <a:t> </a:t>
            </a:r>
            <a:r>
              <a:rPr lang="en-US" sz="3200" dirty="0">
                <a:solidFill>
                  <a:srgbClr val="FF0000"/>
                </a:solidFill>
              </a:rPr>
              <a:t>array</a:t>
            </a:r>
            <a:r>
              <a:rPr lang="en-US" sz="3200" dirty="0"/>
              <a:t> stores each array element with a </a:t>
            </a:r>
            <a:r>
              <a:rPr lang="en-US" sz="3200" dirty="0">
                <a:solidFill>
                  <a:srgbClr val="FF0000"/>
                </a:solidFill>
              </a:rPr>
              <a:t>numeric index</a:t>
            </a:r>
            <a:r>
              <a:rPr lang="en-US" sz="3200" dirty="0"/>
              <a:t>.</a:t>
            </a:r>
          </a:p>
          <a:p>
            <a:r>
              <a:rPr lang="en-US" sz="3200" dirty="0"/>
              <a:t>Array creation is pretty simple. First, you need to </a:t>
            </a:r>
            <a:r>
              <a:rPr lang="en-US" sz="3200" dirty="0">
                <a:solidFill>
                  <a:srgbClr val="FF0000"/>
                </a:solidFill>
              </a:rPr>
              <a:t>create a variable </a:t>
            </a:r>
            <a:r>
              <a:rPr lang="en-US" sz="3200" dirty="0"/>
              <a:t>and then tell PHP that you want that variable to be an array:</a:t>
            </a:r>
          </a:p>
          <a:p>
            <a:pPr marL="0" indent="0">
              <a:buNone/>
            </a:pPr>
            <a:r>
              <a:rPr lang="en-US" sz="3200" dirty="0"/>
              <a:t>	</a:t>
            </a:r>
            <a:r>
              <a:rPr lang="en-US" sz="3200" dirty="0">
                <a:solidFill>
                  <a:srgbClr val="0070C0"/>
                </a:solidFill>
              </a:rPr>
              <a:t>$</a:t>
            </a:r>
            <a:r>
              <a:rPr lang="en-US" sz="3200" dirty="0" err="1">
                <a:solidFill>
                  <a:srgbClr val="0070C0"/>
                </a:solidFill>
              </a:rPr>
              <a:t>theVar</a:t>
            </a:r>
            <a:r>
              <a:rPr lang="en-US" sz="3200" dirty="0">
                <a:solidFill>
                  <a:srgbClr val="0070C0"/>
                </a:solidFill>
              </a:rPr>
              <a:t> = array();</a:t>
            </a:r>
          </a:p>
          <a:p>
            <a:r>
              <a:rPr lang="en-US" sz="3200" dirty="0"/>
              <a:t>Now, </a:t>
            </a:r>
            <a:r>
              <a:rPr lang="en-US" sz="3200" dirty="0">
                <a:solidFill>
                  <a:srgbClr val="0070C0"/>
                </a:solidFill>
              </a:rPr>
              <a:t>$</a:t>
            </a:r>
            <a:r>
              <a:rPr lang="en-US" sz="3200" dirty="0" err="1">
                <a:solidFill>
                  <a:srgbClr val="0070C0"/>
                </a:solidFill>
              </a:rPr>
              <a:t>theVar</a:t>
            </a:r>
            <a:r>
              <a:rPr lang="en-US" sz="3200" dirty="0">
                <a:solidFill>
                  <a:srgbClr val="0070C0"/>
                </a:solidFill>
              </a:rPr>
              <a:t> </a:t>
            </a:r>
            <a:r>
              <a:rPr lang="en-US" sz="3200" dirty="0"/>
              <a:t>is an array. However, it’s an empty array waiting for you to come along and fill it.</a:t>
            </a:r>
          </a:p>
          <a:p>
            <a:r>
              <a:rPr lang="en-US" altLang="en-US" sz="3200" dirty="0"/>
              <a:t>In PHP, the </a:t>
            </a:r>
            <a:r>
              <a:rPr lang="en-US" altLang="en-US" sz="3200" dirty="0">
                <a:solidFill>
                  <a:srgbClr val="0070C0"/>
                </a:solidFill>
              </a:rPr>
              <a:t>array () </a:t>
            </a:r>
            <a:r>
              <a:rPr lang="en-US" altLang="en-US" sz="3200" dirty="0"/>
              <a:t>function is used to create an array.</a:t>
            </a:r>
          </a:p>
          <a:p>
            <a:endParaRPr lang="en-US" sz="2000" dirty="0"/>
          </a:p>
        </p:txBody>
      </p:sp>
      <p:sp>
        <p:nvSpPr>
          <p:cNvPr id="4" name="Slide Number Placeholder 3">
            <a:extLst>
              <a:ext uri="{FF2B5EF4-FFF2-40B4-BE49-F238E27FC236}">
                <a16:creationId xmlns:a16="http://schemas.microsoft.com/office/drawing/2014/main" id="{7A6DAAD7-149D-B56F-0074-3BD4715812AA}"/>
              </a:ext>
            </a:extLst>
          </p:cNvPr>
          <p:cNvSpPr>
            <a:spLocks noGrp="1"/>
          </p:cNvSpPr>
          <p:nvPr>
            <p:ph type="sldNum" idx="12"/>
          </p:nvPr>
        </p:nvSpPr>
        <p:spPr/>
        <p:txBody>
          <a:bodyPr/>
          <a:lstStyle/>
          <a:p>
            <a:pPr>
              <a:defRPr/>
            </a:pPr>
            <a:fld id="{1DFD1671-737C-44E1-8E5C-EC48A34B655F}" type="slidenum">
              <a:rPr lang="en-US" smtClean="0"/>
              <a:pPr>
                <a:defRPr/>
              </a:pPr>
              <a:t>5</a:t>
            </a:fld>
            <a:endParaRPr lang="en-US"/>
          </a:p>
        </p:txBody>
      </p:sp>
      <p:sp>
        <p:nvSpPr>
          <p:cNvPr id="6" name="Rectangle 5">
            <a:extLst>
              <a:ext uri="{FF2B5EF4-FFF2-40B4-BE49-F238E27FC236}">
                <a16:creationId xmlns:a16="http://schemas.microsoft.com/office/drawing/2014/main" id="{21D19C3E-BFE6-70EE-649A-D09D944A2BB4}"/>
              </a:ext>
            </a:extLst>
          </p:cNvPr>
          <p:cNvSpPr/>
          <p:nvPr/>
        </p:nvSpPr>
        <p:spPr>
          <a:xfrm>
            <a:off x="0" y="0"/>
            <a:ext cx="12192000" cy="113552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8" name="TextBox 7">
            <a:extLst>
              <a:ext uri="{FF2B5EF4-FFF2-40B4-BE49-F238E27FC236}">
                <a16:creationId xmlns:a16="http://schemas.microsoft.com/office/drawing/2014/main" id="{F050FA76-4766-4395-37C4-47587F599AF6}"/>
              </a:ext>
            </a:extLst>
          </p:cNvPr>
          <p:cNvSpPr txBox="1"/>
          <p:nvPr/>
        </p:nvSpPr>
        <p:spPr>
          <a:xfrm>
            <a:off x="95009" y="228928"/>
            <a:ext cx="8634923" cy="646331"/>
          </a:xfrm>
          <a:prstGeom prst="rect">
            <a:avLst/>
          </a:prstGeom>
          <a:noFill/>
        </p:spPr>
        <p:txBody>
          <a:bodyPr wrap="square" rtlCol="0">
            <a:spAutoFit/>
          </a:bodyPr>
          <a:lstStyle/>
          <a:p>
            <a:r>
              <a:rPr lang="en-US" sz="3600" b="1" kern="1200" spc="-5" dirty="0">
                <a:solidFill>
                  <a:srgbClr val="FFC000"/>
                </a:solidFill>
                <a:latin typeface="Calibri" panose="020F0502020204030204"/>
                <a:ea typeface="+mn-ea"/>
                <a:cs typeface="+mn-cs"/>
              </a:rPr>
              <a:t>Numerically Indexed Arrays</a:t>
            </a:r>
          </a:p>
        </p:txBody>
      </p:sp>
      <p:pic>
        <p:nvPicPr>
          <p:cNvPr id="10" name="object 3">
            <a:extLst>
              <a:ext uri="{FF2B5EF4-FFF2-40B4-BE49-F238E27FC236}">
                <a16:creationId xmlns:a16="http://schemas.microsoft.com/office/drawing/2014/main" id="{04A4EA06-5065-6D6E-1C5C-13D08C9F3974}"/>
              </a:ext>
            </a:extLst>
          </p:cNvPr>
          <p:cNvPicPr/>
          <p:nvPr/>
        </p:nvPicPr>
        <p:blipFill>
          <a:blip r:embed="rId2" cstate="print"/>
          <a:stretch>
            <a:fillRect/>
          </a:stretch>
        </p:blipFill>
        <p:spPr>
          <a:xfrm>
            <a:off x="11007176" y="103356"/>
            <a:ext cx="1029430" cy="1020942"/>
          </a:xfrm>
          <a:prstGeom prst="ellipse">
            <a:avLst/>
          </a:prstGeom>
          <a:ln>
            <a:noFill/>
          </a:ln>
          <a:effectLst>
            <a:softEdge rad="112500"/>
          </a:effectLst>
        </p:spPr>
      </p:pic>
    </p:spTree>
    <p:extLst>
      <p:ext uri="{BB962C8B-B14F-4D97-AF65-F5344CB8AC3E}">
        <p14:creationId xmlns:p14="http://schemas.microsoft.com/office/powerpoint/2010/main" val="2130342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 y="1151400"/>
            <a:ext cx="12191999" cy="5603244"/>
          </a:xfrm>
        </p:spPr>
        <p:txBody>
          <a:bodyPr>
            <a:normAutofit/>
          </a:bodyPr>
          <a:lstStyle/>
          <a:p>
            <a:pPr marL="342900" indent="-342900"/>
            <a:r>
              <a:rPr lang="en-US" altLang="en-US" sz="2600" b="1" dirty="0"/>
              <a:t>There are two ways to create an arrays:</a:t>
            </a:r>
          </a:p>
          <a:p>
            <a:pPr marL="952485" lvl="1" indent="-342900"/>
            <a:r>
              <a:rPr lang="en-US" altLang="en-US" sz="2600" dirty="0"/>
              <a:t>The index can be assigned automatically (index always starts at 0), like this:</a:t>
            </a:r>
          </a:p>
          <a:p>
            <a:pPr>
              <a:lnSpc>
                <a:spcPct val="113333"/>
              </a:lnSpc>
              <a:buNone/>
            </a:pPr>
            <a:r>
              <a:rPr lang="en-US" sz="2600" dirty="0">
                <a:solidFill>
                  <a:srgbClr val="008000"/>
                </a:solidFill>
                <a:latin typeface="Consolas" panose="020B0609020204030204" pitchFamily="49" charset="0"/>
              </a:rPr>
              <a:t>//</a:t>
            </a:r>
            <a:r>
              <a:rPr lang="en-US" sz="2600" dirty="0" err="1">
                <a:solidFill>
                  <a:srgbClr val="008000"/>
                </a:solidFill>
                <a:latin typeface="Consolas" panose="020B0609020204030204" pitchFamily="49" charset="0"/>
              </a:rPr>
              <a:t>exmaple</a:t>
            </a:r>
            <a:r>
              <a:rPr lang="en-US" sz="2600" dirty="0">
                <a:solidFill>
                  <a:srgbClr val="008000"/>
                </a:solidFill>
                <a:latin typeface="Consolas" panose="020B0609020204030204" pitchFamily="49" charset="0"/>
              </a:rPr>
              <a:t> of indexed array assigned automatically indexes</a:t>
            </a:r>
            <a:endParaRPr lang="en-US" sz="2600" dirty="0">
              <a:solidFill>
                <a:srgbClr val="000000"/>
              </a:solidFill>
              <a:latin typeface="Consolas" panose="020B0609020204030204" pitchFamily="49" charset="0"/>
            </a:endParaRPr>
          </a:p>
          <a:p>
            <a:pPr>
              <a:lnSpc>
                <a:spcPct val="113333"/>
              </a:lnSpc>
              <a:buNone/>
            </a:pPr>
            <a:r>
              <a:rPr lang="en-US" sz="2600" dirty="0">
                <a:solidFill>
                  <a:srgbClr val="000000"/>
                </a:solidFill>
                <a:latin typeface="Consolas" panose="020B0609020204030204" pitchFamily="49" charset="0"/>
              </a:rPr>
              <a:t>$fruits = array(</a:t>
            </a:r>
            <a:r>
              <a:rPr lang="en-US" sz="2600" dirty="0">
                <a:solidFill>
                  <a:srgbClr val="A31515"/>
                </a:solidFill>
                <a:latin typeface="Consolas" panose="020B0609020204030204" pitchFamily="49" charset="0"/>
              </a:rPr>
              <a:t>"Apple"</a:t>
            </a:r>
            <a:r>
              <a:rPr lang="en-US" sz="2600" dirty="0">
                <a:solidFill>
                  <a:srgbClr val="000000"/>
                </a:solidFill>
                <a:latin typeface="Consolas" panose="020B0609020204030204" pitchFamily="49" charset="0"/>
              </a:rPr>
              <a:t>, </a:t>
            </a:r>
            <a:r>
              <a:rPr lang="en-US" sz="2600" dirty="0">
                <a:solidFill>
                  <a:srgbClr val="A31515"/>
                </a:solidFill>
                <a:latin typeface="Consolas" panose="020B0609020204030204" pitchFamily="49" charset="0"/>
              </a:rPr>
              <a:t>"Orange"</a:t>
            </a:r>
            <a:r>
              <a:rPr lang="en-US" sz="2600" dirty="0">
                <a:solidFill>
                  <a:srgbClr val="000000"/>
                </a:solidFill>
                <a:latin typeface="Consolas" panose="020B0609020204030204" pitchFamily="49" charset="0"/>
              </a:rPr>
              <a:t>, </a:t>
            </a:r>
            <a:r>
              <a:rPr lang="en-US" sz="2600" dirty="0">
                <a:solidFill>
                  <a:srgbClr val="A31515"/>
                </a:solidFill>
                <a:latin typeface="Consolas" panose="020B0609020204030204" pitchFamily="49" charset="0"/>
              </a:rPr>
              <a:t>"Banana"</a:t>
            </a:r>
            <a:r>
              <a:rPr lang="en-US" sz="2600" dirty="0">
                <a:solidFill>
                  <a:srgbClr val="000000"/>
                </a:solidFill>
                <a:latin typeface="Consolas" panose="020B0609020204030204" pitchFamily="49" charset="0"/>
              </a:rPr>
              <a:t>);</a:t>
            </a:r>
          </a:p>
          <a:p>
            <a:pPr>
              <a:lnSpc>
                <a:spcPct val="113333"/>
              </a:lnSpc>
              <a:buNone/>
            </a:pPr>
            <a:r>
              <a:rPr lang="en-US" sz="2600" dirty="0">
                <a:solidFill>
                  <a:srgbClr val="008000"/>
                </a:solidFill>
                <a:latin typeface="Consolas" panose="020B0609020204030204" pitchFamily="49" charset="0"/>
              </a:rPr>
              <a:t>//displaying the array using echo function</a:t>
            </a:r>
            <a:endParaRPr lang="en-US" sz="2600" dirty="0">
              <a:solidFill>
                <a:srgbClr val="000000"/>
              </a:solidFill>
              <a:latin typeface="Consolas" panose="020B0609020204030204" pitchFamily="49" charset="0"/>
            </a:endParaRPr>
          </a:p>
          <a:p>
            <a:pPr>
              <a:lnSpc>
                <a:spcPct val="113333"/>
              </a:lnSpc>
              <a:buNone/>
            </a:pPr>
            <a:r>
              <a:rPr lang="en-US" sz="2600" dirty="0">
                <a:solidFill>
                  <a:srgbClr val="000000"/>
                </a:solidFill>
                <a:latin typeface="Consolas" panose="020B0609020204030204" pitchFamily="49" charset="0"/>
              </a:rPr>
              <a:t>	echo $numbers[</a:t>
            </a:r>
            <a:r>
              <a:rPr lang="en-US" sz="2600" dirty="0">
                <a:solidFill>
                  <a:srgbClr val="098658"/>
                </a:solidFill>
                <a:latin typeface="Consolas" panose="020B0609020204030204" pitchFamily="49" charset="0"/>
              </a:rPr>
              <a:t>0</a:t>
            </a:r>
            <a:r>
              <a:rPr lang="en-US" sz="2600" dirty="0">
                <a:solidFill>
                  <a:srgbClr val="000000"/>
                </a:solidFill>
                <a:latin typeface="Consolas" panose="020B0609020204030204" pitchFamily="49" charset="0"/>
              </a:rPr>
              <a:t>].</a:t>
            </a:r>
            <a:r>
              <a:rPr lang="en-US" sz="2600" dirty="0">
                <a:solidFill>
                  <a:srgbClr val="A31515"/>
                </a:solidFill>
                <a:latin typeface="Consolas" panose="020B0609020204030204" pitchFamily="49" charset="0"/>
              </a:rPr>
              <a:t>"&lt;</a:t>
            </a:r>
            <a:r>
              <a:rPr lang="en-US" sz="2600" dirty="0" err="1">
                <a:solidFill>
                  <a:srgbClr val="A31515"/>
                </a:solidFill>
                <a:latin typeface="Consolas" panose="020B0609020204030204" pitchFamily="49" charset="0"/>
              </a:rPr>
              <a:t>br</a:t>
            </a:r>
            <a:r>
              <a:rPr lang="en-US" sz="2600" dirty="0">
                <a:solidFill>
                  <a:srgbClr val="A31515"/>
                </a:solidFill>
                <a:latin typeface="Consolas" panose="020B0609020204030204" pitchFamily="49" charset="0"/>
              </a:rPr>
              <a:t>&gt;"</a:t>
            </a:r>
            <a:r>
              <a:rPr lang="en-US" sz="2600" dirty="0">
                <a:solidFill>
                  <a:srgbClr val="000000"/>
                </a:solidFill>
                <a:latin typeface="Consolas" panose="020B0609020204030204" pitchFamily="49" charset="0"/>
              </a:rPr>
              <a:t>;</a:t>
            </a:r>
          </a:p>
          <a:p>
            <a:pPr lvl="1"/>
            <a:r>
              <a:rPr lang="en-US" altLang="en-US" sz="2600" dirty="0"/>
              <a:t>Or the index can be assigned manually:</a:t>
            </a:r>
          </a:p>
          <a:p>
            <a:pPr>
              <a:lnSpc>
                <a:spcPct val="113333"/>
              </a:lnSpc>
              <a:buNone/>
            </a:pPr>
            <a:r>
              <a:rPr lang="en-US" sz="2600" dirty="0">
                <a:solidFill>
                  <a:srgbClr val="000000"/>
                </a:solidFill>
                <a:latin typeface="Consolas" panose="020B0609020204030204" pitchFamily="49" charset="0"/>
              </a:rPr>
              <a:t>$fruits = array();</a:t>
            </a:r>
          </a:p>
          <a:p>
            <a:pPr>
              <a:lnSpc>
                <a:spcPct val="113333"/>
              </a:lnSpc>
              <a:buNone/>
            </a:pPr>
            <a:r>
              <a:rPr lang="en-US" sz="2600" dirty="0">
                <a:solidFill>
                  <a:srgbClr val="000000"/>
                </a:solidFill>
                <a:latin typeface="Consolas" panose="020B0609020204030204" pitchFamily="49" charset="0"/>
              </a:rPr>
              <a:t>    $fruits[</a:t>
            </a:r>
            <a:r>
              <a:rPr lang="en-US" sz="2600" dirty="0">
                <a:solidFill>
                  <a:srgbClr val="098658"/>
                </a:solidFill>
                <a:latin typeface="Consolas" panose="020B0609020204030204" pitchFamily="49" charset="0"/>
              </a:rPr>
              <a:t>0</a:t>
            </a:r>
            <a:r>
              <a:rPr lang="en-US" sz="2600" dirty="0">
                <a:solidFill>
                  <a:srgbClr val="000000"/>
                </a:solidFill>
                <a:latin typeface="Consolas" panose="020B0609020204030204" pitchFamily="49" charset="0"/>
              </a:rPr>
              <a:t>] = </a:t>
            </a:r>
            <a:r>
              <a:rPr lang="en-US" sz="2600" dirty="0">
                <a:solidFill>
                  <a:srgbClr val="A31515"/>
                </a:solidFill>
                <a:latin typeface="Consolas" panose="020B0609020204030204" pitchFamily="49" charset="0"/>
              </a:rPr>
              <a:t>"Apple"</a:t>
            </a:r>
            <a:r>
              <a:rPr lang="en-US" sz="2600" dirty="0">
                <a:solidFill>
                  <a:srgbClr val="000000"/>
                </a:solidFill>
                <a:latin typeface="Consolas" panose="020B0609020204030204" pitchFamily="49" charset="0"/>
              </a:rPr>
              <a:t>;</a:t>
            </a:r>
          </a:p>
          <a:p>
            <a:pPr>
              <a:lnSpc>
                <a:spcPct val="113333"/>
              </a:lnSpc>
              <a:buNone/>
            </a:pPr>
            <a:r>
              <a:rPr lang="en-US" sz="2600" dirty="0">
                <a:solidFill>
                  <a:srgbClr val="000000"/>
                </a:solidFill>
                <a:latin typeface="Consolas" panose="020B0609020204030204" pitchFamily="49" charset="0"/>
              </a:rPr>
              <a:t>    $fruits[</a:t>
            </a:r>
            <a:r>
              <a:rPr lang="en-US" sz="2600" dirty="0">
                <a:solidFill>
                  <a:srgbClr val="098658"/>
                </a:solidFill>
                <a:latin typeface="Consolas" panose="020B0609020204030204" pitchFamily="49" charset="0"/>
              </a:rPr>
              <a:t>1</a:t>
            </a:r>
            <a:r>
              <a:rPr lang="en-US" sz="2600" dirty="0">
                <a:solidFill>
                  <a:srgbClr val="000000"/>
                </a:solidFill>
                <a:latin typeface="Consolas" panose="020B0609020204030204" pitchFamily="49" charset="0"/>
              </a:rPr>
              <a:t>] = </a:t>
            </a:r>
            <a:r>
              <a:rPr lang="en-US" sz="2600" dirty="0">
                <a:solidFill>
                  <a:srgbClr val="A31515"/>
                </a:solidFill>
                <a:latin typeface="Consolas" panose="020B0609020204030204" pitchFamily="49" charset="0"/>
              </a:rPr>
              <a:t>"Orange"</a:t>
            </a:r>
            <a:r>
              <a:rPr lang="en-US" sz="2600" dirty="0">
                <a:solidFill>
                  <a:srgbClr val="000000"/>
                </a:solidFill>
                <a:latin typeface="Consolas" panose="020B0609020204030204" pitchFamily="49" charset="0"/>
              </a:rPr>
              <a:t>;</a:t>
            </a:r>
          </a:p>
          <a:p>
            <a:pPr>
              <a:lnSpc>
                <a:spcPct val="113333"/>
              </a:lnSpc>
              <a:buNone/>
            </a:pPr>
            <a:r>
              <a:rPr lang="en-US" sz="2600" dirty="0">
                <a:solidFill>
                  <a:srgbClr val="000000"/>
                </a:solidFill>
                <a:latin typeface="Consolas" panose="020B0609020204030204" pitchFamily="49" charset="0"/>
              </a:rPr>
              <a:t>    $fruits[</a:t>
            </a:r>
            <a:r>
              <a:rPr lang="en-US" sz="2600" dirty="0">
                <a:solidFill>
                  <a:srgbClr val="098658"/>
                </a:solidFill>
                <a:latin typeface="Consolas" panose="020B0609020204030204" pitchFamily="49" charset="0"/>
              </a:rPr>
              <a:t>2</a:t>
            </a:r>
            <a:r>
              <a:rPr lang="en-US" sz="2600" dirty="0">
                <a:solidFill>
                  <a:srgbClr val="000000"/>
                </a:solidFill>
                <a:latin typeface="Consolas" panose="020B0609020204030204" pitchFamily="49" charset="0"/>
              </a:rPr>
              <a:t>] = </a:t>
            </a:r>
            <a:r>
              <a:rPr lang="en-US" sz="2600" dirty="0">
                <a:solidFill>
                  <a:srgbClr val="A31515"/>
                </a:solidFill>
                <a:latin typeface="Consolas" panose="020B0609020204030204" pitchFamily="49" charset="0"/>
              </a:rPr>
              <a:t>"Banana"</a:t>
            </a:r>
            <a:r>
              <a:rPr lang="en-US" sz="2600" dirty="0">
                <a:solidFill>
                  <a:srgbClr val="000000"/>
                </a:solidFill>
                <a:latin typeface="Consolas" panose="020B0609020204030204" pitchFamily="49" charset="0"/>
              </a:rPr>
              <a:t>;</a:t>
            </a:r>
          </a:p>
          <a:p>
            <a:endParaRPr lang="en-US" sz="2000" dirty="0"/>
          </a:p>
        </p:txBody>
      </p:sp>
      <p:sp>
        <p:nvSpPr>
          <p:cNvPr id="4" name="Slide Number Placeholder 3"/>
          <p:cNvSpPr>
            <a:spLocks noGrp="1"/>
          </p:cNvSpPr>
          <p:nvPr>
            <p:ph type="sldNum" idx="12"/>
          </p:nvPr>
        </p:nvSpPr>
        <p:spPr/>
        <p:txBody>
          <a:bodyPr/>
          <a:lstStyle/>
          <a:p>
            <a:pPr>
              <a:defRPr/>
            </a:pPr>
            <a:fld id="{1DFD1671-737C-44E1-8E5C-EC48A34B655F}" type="slidenum">
              <a:rPr lang="en-US" smtClean="0"/>
              <a:pPr>
                <a:defRPr/>
              </a:pPr>
              <a:t>6</a:t>
            </a:fld>
            <a:endParaRPr lang="en-US"/>
          </a:p>
        </p:txBody>
      </p:sp>
      <p:sp>
        <p:nvSpPr>
          <p:cNvPr id="6" name="Rectangle 5">
            <a:extLst>
              <a:ext uri="{FF2B5EF4-FFF2-40B4-BE49-F238E27FC236}">
                <a16:creationId xmlns:a16="http://schemas.microsoft.com/office/drawing/2014/main" id="{A7AC9341-B231-CC20-EEDE-43975F71F99F}"/>
              </a:ext>
            </a:extLst>
          </p:cNvPr>
          <p:cNvSpPr/>
          <p:nvPr/>
        </p:nvSpPr>
        <p:spPr>
          <a:xfrm>
            <a:off x="0" y="0"/>
            <a:ext cx="12192000" cy="113552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8" name="TextBox 7">
            <a:extLst>
              <a:ext uri="{FF2B5EF4-FFF2-40B4-BE49-F238E27FC236}">
                <a16:creationId xmlns:a16="http://schemas.microsoft.com/office/drawing/2014/main" id="{D186FB11-B04C-E2F6-6A50-ECBFD4E3A41A}"/>
              </a:ext>
            </a:extLst>
          </p:cNvPr>
          <p:cNvSpPr txBox="1"/>
          <p:nvPr/>
        </p:nvSpPr>
        <p:spPr>
          <a:xfrm>
            <a:off x="95009" y="228928"/>
            <a:ext cx="8634923" cy="646331"/>
          </a:xfrm>
          <a:prstGeom prst="rect">
            <a:avLst/>
          </a:prstGeom>
          <a:noFill/>
        </p:spPr>
        <p:txBody>
          <a:bodyPr wrap="square" rtlCol="0">
            <a:spAutoFit/>
          </a:bodyPr>
          <a:lstStyle/>
          <a:p>
            <a:r>
              <a:rPr lang="en-US" sz="3600" b="1" kern="1200" spc="-5" dirty="0">
                <a:solidFill>
                  <a:srgbClr val="FFC000"/>
                </a:solidFill>
                <a:latin typeface="Calibri" panose="020F0502020204030204"/>
                <a:ea typeface="+mn-ea"/>
                <a:cs typeface="+mn-cs"/>
              </a:rPr>
              <a:t>create an Numerically Indexed Arrays</a:t>
            </a:r>
          </a:p>
        </p:txBody>
      </p:sp>
      <p:pic>
        <p:nvPicPr>
          <p:cNvPr id="10" name="object 3">
            <a:extLst>
              <a:ext uri="{FF2B5EF4-FFF2-40B4-BE49-F238E27FC236}">
                <a16:creationId xmlns:a16="http://schemas.microsoft.com/office/drawing/2014/main" id="{4C1AA494-D5C3-35B6-6AD7-1984C9A884B1}"/>
              </a:ext>
            </a:extLst>
          </p:cNvPr>
          <p:cNvPicPr/>
          <p:nvPr/>
        </p:nvPicPr>
        <p:blipFill>
          <a:blip r:embed="rId2" cstate="print"/>
          <a:stretch>
            <a:fillRect/>
          </a:stretch>
        </p:blipFill>
        <p:spPr>
          <a:xfrm>
            <a:off x="11007176" y="103356"/>
            <a:ext cx="1029430" cy="1020942"/>
          </a:xfrm>
          <a:prstGeom prst="ellipse">
            <a:avLst/>
          </a:prstGeom>
          <a:ln>
            <a:noFill/>
          </a:ln>
          <a:effectLst>
            <a:softEdge rad="112500"/>
          </a:effectLst>
        </p:spPr>
      </p:pic>
    </p:spTree>
    <p:extLst>
      <p:ext uri="{BB962C8B-B14F-4D97-AF65-F5344CB8AC3E}">
        <p14:creationId xmlns:p14="http://schemas.microsoft.com/office/powerpoint/2010/main" val="3583574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360C4D-5B42-494B-893C-DE8DF86F9B54}"/>
              </a:ext>
            </a:extLst>
          </p:cNvPr>
          <p:cNvSpPr>
            <a:spLocks noGrp="1"/>
          </p:cNvSpPr>
          <p:nvPr>
            <p:ph type="body" idx="1"/>
          </p:nvPr>
        </p:nvSpPr>
        <p:spPr>
          <a:xfrm>
            <a:off x="-1" y="1151400"/>
            <a:ext cx="12191999" cy="5591023"/>
          </a:xfrm>
        </p:spPr>
        <p:txBody>
          <a:bodyPr>
            <a:normAutofit fontScale="92500" lnSpcReduction="10000"/>
          </a:bodyPr>
          <a:lstStyle/>
          <a:p>
            <a:pPr marL="457200" lvl="1" indent="0">
              <a:buNone/>
            </a:pPr>
            <a:r>
              <a:rPr lang="en-GB" sz="3000" dirty="0"/>
              <a:t>&lt;?php</a:t>
            </a:r>
          </a:p>
          <a:p>
            <a:pPr>
              <a:lnSpc>
                <a:spcPct val="113333"/>
              </a:lnSpc>
              <a:buNone/>
            </a:pPr>
            <a:r>
              <a:rPr lang="en-US" sz="3200" b="0" dirty="0">
                <a:solidFill>
                  <a:srgbClr val="008000"/>
                </a:solidFill>
                <a:effectLst/>
                <a:latin typeface="Consolas" panose="020B0609020204030204" pitchFamily="49" charset="0"/>
              </a:rPr>
              <a:t>//Adding items to an array without explicit locations</a:t>
            </a:r>
            <a:endParaRPr lang="en-US" sz="3200" b="0" dirty="0">
              <a:solidFill>
                <a:srgbClr val="000000"/>
              </a:solidFill>
              <a:effectLst/>
              <a:latin typeface="Consolas" panose="020B0609020204030204" pitchFamily="49" charset="0"/>
            </a:endParaRPr>
          </a:p>
          <a:p>
            <a:pPr>
              <a:lnSpc>
                <a:spcPct val="113333"/>
              </a:lnSpc>
              <a:buNone/>
            </a:pPr>
            <a:r>
              <a:rPr lang="en-US" sz="3200" b="0" dirty="0">
                <a:solidFill>
                  <a:srgbClr val="000000"/>
                </a:solidFill>
                <a:effectLst/>
                <a:latin typeface="Consolas" panose="020B0609020204030204" pitchFamily="49" charset="0"/>
              </a:rPr>
              <a:t>$fruits[] = </a:t>
            </a:r>
            <a:r>
              <a:rPr lang="en-US" sz="3200" b="0" dirty="0">
                <a:solidFill>
                  <a:srgbClr val="A31515"/>
                </a:solidFill>
                <a:effectLst/>
                <a:latin typeface="Consolas" panose="020B0609020204030204" pitchFamily="49" charset="0"/>
              </a:rPr>
              <a:t>"Apple"</a:t>
            </a:r>
            <a:r>
              <a:rPr lang="en-US" sz="3200" b="0" dirty="0">
                <a:solidFill>
                  <a:srgbClr val="000000"/>
                </a:solidFill>
                <a:effectLst/>
                <a:latin typeface="Consolas" panose="020B0609020204030204" pitchFamily="49" charset="0"/>
              </a:rPr>
              <a:t>;</a:t>
            </a:r>
          </a:p>
          <a:p>
            <a:pPr>
              <a:lnSpc>
                <a:spcPct val="113333"/>
              </a:lnSpc>
              <a:buNone/>
            </a:pPr>
            <a:r>
              <a:rPr lang="en-US" sz="3200" b="0" dirty="0">
                <a:solidFill>
                  <a:srgbClr val="000000"/>
                </a:solidFill>
                <a:effectLst/>
                <a:latin typeface="Consolas" panose="020B0609020204030204" pitchFamily="49" charset="0"/>
              </a:rPr>
              <a:t>$fruits[] = </a:t>
            </a:r>
            <a:r>
              <a:rPr lang="en-US" sz="3200" b="0" dirty="0">
                <a:solidFill>
                  <a:srgbClr val="A31515"/>
                </a:solidFill>
                <a:effectLst/>
                <a:latin typeface="Consolas" panose="020B0609020204030204" pitchFamily="49" charset="0"/>
              </a:rPr>
              <a:t>"Orange"</a:t>
            </a:r>
            <a:r>
              <a:rPr lang="en-US" sz="3200" b="0" dirty="0">
                <a:solidFill>
                  <a:srgbClr val="000000"/>
                </a:solidFill>
                <a:effectLst/>
                <a:latin typeface="Consolas" panose="020B0609020204030204" pitchFamily="49" charset="0"/>
              </a:rPr>
              <a:t>;</a:t>
            </a:r>
          </a:p>
          <a:p>
            <a:pPr>
              <a:lnSpc>
                <a:spcPct val="113333"/>
              </a:lnSpc>
              <a:buNone/>
            </a:pPr>
            <a:r>
              <a:rPr lang="en-US" sz="3200" b="0" dirty="0">
                <a:solidFill>
                  <a:srgbClr val="000000"/>
                </a:solidFill>
                <a:effectLst/>
                <a:latin typeface="Consolas" panose="020B0609020204030204" pitchFamily="49" charset="0"/>
              </a:rPr>
              <a:t>$fruits[] = </a:t>
            </a:r>
            <a:r>
              <a:rPr lang="en-US" sz="3200" b="0" dirty="0">
                <a:solidFill>
                  <a:srgbClr val="A31515"/>
                </a:solidFill>
                <a:effectLst/>
                <a:latin typeface="Consolas" panose="020B0609020204030204" pitchFamily="49" charset="0"/>
              </a:rPr>
              <a:t>"Banana"</a:t>
            </a:r>
            <a:r>
              <a:rPr lang="en-US" sz="3200" b="0" dirty="0">
                <a:solidFill>
                  <a:srgbClr val="000000"/>
                </a:solidFill>
                <a:effectLst/>
                <a:latin typeface="Consolas" panose="020B0609020204030204" pitchFamily="49" charset="0"/>
              </a:rPr>
              <a:t>;</a:t>
            </a:r>
          </a:p>
          <a:p>
            <a:pPr marL="457200" lvl="1" indent="0">
              <a:buNone/>
            </a:pPr>
            <a:r>
              <a:rPr lang="en-GB" sz="3000" dirty="0"/>
              <a:t>?&gt;</a:t>
            </a:r>
            <a:r>
              <a:rPr lang="en-PK" sz="3000" dirty="0"/>
              <a:t> </a:t>
            </a:r>
            <a:endParaRPr lang="en-US" sz="3000" dirty="0"/>
          </a:p>
          <a:p>
            <a:pPr>
              <a:lnSpc>
                <a:spcPct val="113333"/>
              </a:lnSpc>
              <a:buNone/>
            </a:pPr>
            <a:r>
              <a:rPr lang="en-US" sz="1800" b="0" dirty="0">
                <a:solidFill>
                  <a:srgbClr val="008000"/>
                </a:solidFill>
                <a:effectLst/>
                <a:latin typeface="Consolas" panose="020B0609020204030204" pitchFamily="49" charset="0"/>
              </a:rPr>
              <a:t>//pre is a html tag that is used to display the array in a readable format</a:t>
            </a:r>
            <a:endParaRPr lang="en-US" sz="1800" b="0" dirty="0">
              <a:solidFill>
                <a:srgbClr val="000000"/>
              </a:solidFill>
              <a:effectLst/>
              <a:latin typeface="Consolas" panose="020B0609020204030204" pitchFamily="49" charset="0"/>
            </a:endParaRPr>
          </a:p>
          <a:p>
            <a:pPr>
              <a:lnSpc>
                <a:spcPct val="113333"/>
              </a:lnSpc>
              <a:buNone/>
            </a:pPr>
            <a:r>
              <a:rPr lang="en-US" sz="1800" b="0" dirty="0">
                <a:solidFill>
                  <a:srgbClr val="000000"/>
                </a:solidFill>
                <a:effectLst/>
                <a:latin typeface="Consolas" panose="020B0609020204030204" pitchFamily="49" charset="0"/>
              </a:rPr>
              <a:t>echo </a:t>
            </a:r>
            <a:r>
              <a:rPr lang="en-US" sz="1800" b="0" dirty="0">
                <a:solidFill>
                  <a:srgbClr val="A31515"/>
                </a:solidFill>
                <a:effectLst/>
                <a:latin typeface="Consolas" panose="020B0609020204030204" pitchFamily="49" charset="0"/>
              </a:rPr>
              <a:t>"&lt;pre&gt;"</a:t>
            </a:r>
            <a:r>
              <a:rPr lang="en-US" sz="1800" b="0" dirty="0">
                <a:solidFill>
                  <a:srgbClr val="000000"/>
                </a:solidFill>
                <a:effectLst/>
                <a:latin typeface="Consolas" panose="020B0609020204030204" pitchFamily="49" charset="0"/>
              </a:rPr>
              <a:t>;</a:t>
            </a:r>
          </a:p>
          <a:p>
            <a:pPr>
              <a:lnSpc>
                <a:spcPct val="113333"/>
              </a:lnSpc>
              <a:buNone/>
            </a:pPr>
            <a:r>
              <a:rPr lang="en-US" sz="1800" b="0" dirty="0">
                <a:solidFill>
                  <a:srgbClr val="008000"/>
                </a:solidFill>
                <a:effectLst/>
                <a:latin typeface="Consolas" panose="020B0609020204030204" pitchFamily="49" charset="0"/>
              </a:rPr>
              <a:t>//</a:t>
            </a:r>
            <a:r>
              <a:rPr lang="en-US" sz="1800" b="0" dirty="0" err="1">
                <a:solidFill>
                  <a:srgbClr val="008000"/>
                </a:solidFill>
                <a:effectLst/>
                <a:latin typeface="Consolas" panose="020B0609020204030204" pitchFamily="49" charset="0"/>
              </a:rPr>
              <a:t>print_r</a:t>
            </a:r>
            <a:r>
              <a:rPr lang="en-US" sz="1800" b="0" dirty="0">
                <a:solidFill>
                  <a:srgbClr val="008000"/>
                </a:solidFill>
                <a:effectLst/>
                <a:latin typeface="Consolas" panose="020B0609020204030204" pitchFamily="49" charset="0"/>
              </a:rPr>
              <a:t> is a shows the array structure</a:t>
            </a:r>
            <a:endParaRPr lang="en-US" sz="1800" b="0" dirty="0">
              <a:solidFill>
                <a:srgbClr val="000000"/>
              </a:solidFill>
              <a:effectLst/>
              <a:latin typeface="Consolas" panose="020B0609020204030204" pitchFamily="49" charset="0"/>
            </a:endParaRPr>
          </a:p>
          <a:p>
            <a:pPr>
              <a:lnSpc>
                <a:spcPct val="113333"/>
              </a:lnSpc>
              <a:buNone/>
            </a:pPr>
            <a:r>
              <a:rPr lang="en-US" sz="1800" b="0" dirty="0" err="1">
                <a:solidFill>
                  <a:srgbClr val="000000"/>
                </a:solidFill>
                <a:effectLst/>
                <a:latin typeface="Consolas" panose="020B0609020204030204" pitchFamily="49" charset="0"/>
              </a:rPr>
              <a:t>print_r</a:t>
            </a:r>
            <a:r>
              <a:rPr lang="en-US" sz="1800" b="0" dirty="0">
                <a:solidFill>
                  <a:srgbClr val="000000"/>
                </a:solidFill>
                <a:effectLst/>
                <a:latin typeface="Consolas" panose="020B0609020204030204" pitchFamily="49" charset="0"/>
              </a:rPr>
              <a:t>($fruits);</a:t>
            </a:r>
          </a:p>
          <a:p>
            <a:pPr marL="914400" lvl="1" indent="-457200"/>
            <a:endParaRPr lang="en-US" dirty="0"/>
          </a:p>
          <a:p>
            <a:pPr marL="914400" lvl="1" indent="-457200"/>
            <a:r>
              <a:rPr lang="en-US" sz="2600" dirty="0">
                <a:solidFill>
                  <a:srgbClr val="FF0000"/>
                </a:solidFill>
              </a:rPr>
              <a:t>&lt;pre&gt;</a:t>
            </a:r>
            <a:r>
              <a:rPr lang="en-US" sz="4300" dirty="0">
                <a:solidFill>
                  <a:srgbClr val="FF0000"/>
                </a:solidFill>
              </a:rPr>
              <a:t> </a:t>
            </a:r>
            <a:r>
              <a:rPr lang="en-US" sz="3200" dirty="0"/>
              <a:t>is commonly used with </a:t>
            </a:r>
            <a:r>
              <a:rPr lang="en-US" sz="2200" dirty="0" err="1">
                <a:solidFill>
                  <a:srgbClr val="FF0000"/>
                </a:solidFill>
              </a:rPr>
              <a:t>print_r</a:t>
            </a:r>
            <a:r>
              <a:rPr lang="en-US" sz="2200" dirty="0">
                <a:solidFill>
                  <a:srgbClr val="FF0000"/>
                </a:solidFill>
              </a:rPr>
              <a:t>()</a:t>
            </a:r>
            <a:r>
              <a:rPr lang="en-US" sz="3900" dirty="0">
                <a:solidFill>
                  <a:srgbClr val="FF0000"/>
                </a:solidFill>
              </a:rPr>
              <a:t> </a:t>
            </a:r>
            <a:r>
              <a:rPr lang="en-US" sz="3200" dirty="0"/>
              <a:t>when you want to display an array or object clearly in a web browser.</a:t>
            </a:r>
          </a:p>
          <a:p>
            <a:pPr marL="914400" lvl="1" indent="-457200"/>
            <a:endParaRPr lang="en-US" sz="3000" dirty="0"/>
          </a:p>
        </p:txBody>
      </p:sp>
      <p:sp>
        <p:nvSpPr>
          <p:cNvPr id="4" name="Slide Number Placeholder 3">
            <a:extLst>
              <a:ext uri="{FF2B5EF4-FFF2-40B4-BE49-F238E27FC236}">
                <a16:creationId xmlns:a16="http://schemas.microsoft.com/office/drawing/2014/main" id="{C5C5E055-5657-4910-AB09-CB9E0B1E814E}"/>
              </a:ext>
            </a:extLst>
          </p:cNvPr>
          <p:cNvSpPr>
            <a:spLocks noGrp="1"/>
          </p:cNvSpPr>
          <p:nvPr>
            <p:ph type="sldNum" idx="12"/>
          </p:nvPr>
        </p:nvSpPr>
        <p:spPr/>
        <p:txBody>
          <a:bodyPr/>
          <a:lstStyle/>
          <a:p>
            <a:fld id="{FA6D1DC9-C721-4D5F-A7A1-DF55DAF8C7D9}" type="slidenum">
              <a:rPr lang="en-US" smtClean="0"/>
              <a:t>7</a:t>
            </a:fld>
            <a:endParaRPr lang="en-US"/>
          </a:p>
        </p:txBody>
      </p:sp>
      <p:sp>
        <p:nvSpPr>
          <p:cNvPr id="6" name="Rectangle 5">
            <a:extLst>
              <a:ext uri="{FF2B5EF4-FFF2-40B4-BE49-F238E27FC236}">
                <a16:creationId xmlns:a16="http://schemas.microsoft.com/office/drawing/2014/main" id="{066B8352-6E56-6725-6559-C1DDD38556EA}"/>
              </a:ext>
            </a:extLst>
          </p:cNvPr>
          <p:cNvSpPr/>
          <p:nvPr/>
        </p:nvSpPr>
        <p:spPr>
          <a:xfrm>
            <a:off x="0" y="0"/>
            <a:ext cx="12192000" cy="113552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8" name="TextBox 7">
            <a:extLst>
              <a:ext uri="{FF2B5EF4-FFF2-40B4-BE49-F238E27FC236}">
                <a16:creationId xmlns:a16="http://schemas.microsoft.com/office/drawing/2014/main" id="{20C801D8-E595-70E6-5C40-404427AD2823}"/>
              </a:ext>
            </a:extLst>
          </p:cNvPr>
          <p:cNvSpPr txBox="1"/>
          <p:nvPr/>
        </p:nvSpPr>
        <p:spPr>
          <a:xfrm>
            <a:off x="95009" y="228928"/>
            <a:ext cx="8634923" cy="646331"/>
          </a:xfrm>
          <a:prstGeom prst="rect">
            <a:avLst/>
          </a:prstGeom>
          <a:noFill/>
        </p:spPr>
        <p:txBody>
          <a:bodyPr wrap="square" rtlCol="0">
            <a:spAutoFit/>
          </a:bodyPr>
          <a:lstStyle/>
          <a:p>
            <a:r>
              <a:rPr lang="en-US" sz="3600" b="1" kern="1200" spc="-5" dirty="0">
                <a:solidFill>
                  <a:srgbClr val="FFC000"/>
                </a:solidFill>
                <a:latin typeface="Calibri" panose="020F0502020204030204"/>
                <a:ea typeface="+mn-ea"/>
                <a:cs typeface="+mn-cs"/>
              </a:rPr>
              <a:t>Numerically Indexed Arrays</a:t>
            </a:r>
          </a:p>
        </p:txBody>
      </p:sp>
      <p:pic>
        <p:nvPicPr>
          <p:cNvPr id="10" name="object 3">
            <a:extLst>
              <a:ext uri="{FF2B5EF4-FFF2-40B4-BE49-F238E27FC236}">
                <a16:creationId xmlns:a16="http://schemas.microsoft.com/office/drawing/2014/main" id="{D4625864-7ACD-B8AC-862F-B36956779AFF}"/>
              </a:ext>
            </a:extLst>
          </p:cNvPr>
          <p:cNvPicPr/>
          <p:nvPr/>
        </p:nvPicPr>
        <p:blipFill>
          <a:blip r:embed="rId2" cstate="print"/>
          <a:stretch>
            <a:fillRect/>
          </a:stretch>
        </p:blipFill>
        <p:spPr>
          <a:xfrm>
            <a:off x="11007176" y="103356"/>
            <a:ext cx="1029430" cy="1020942"/>
          </a:xfrm>
          <a:prstGeom prst="ellipse">
            <a:avLst/>
          </a:prstGeom>
          <a:ln>
            <a:noFill/>
          </a:ln>
          <a:effectLst>
            <a:softEdge rad="112500"/>
          </a:effectLst>
        </p:spPr>
      </p:pic>
    </p:spTree>
    <p:extLst>
      <p:ext uri="{BB962C8B-B14F-4D97-AF65-F5344CB8AC3E}">
        <p14:creationId xmlns:p14="http://schemas.microsoft.com/office/powerpoint/2010/main" val="1278011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0" y="1104187"/>
            <a:ext cx="12191999" cy="5638236"/>
          </a:xfrm>
        </p:spPr>
        <p:txBody>
          <a:bodyPr>
            <a:noAutofit/>
          </a:bodyPr>
          <a:lstStyle/>
          <a:p>
            <a:pPr>
              <a:lnSpc>
                <a:spcPct val="113333"/>
              </a:lnSpc>
              <a:buNone/>
            </a:pPr>
            <a:r>
              <a:rPr lang="en-US" sz="1600" dirty="0">
                <a:solidFill>
                  <a:srgbClr val="008000"/>
                </a:solidFill>
                <a:latin typeface="Consolas" panose="020B0609020204030204" pitchFamily="49" charset="0"/>
              </a:rPr>
              <a:t>// this is an array that contains information about a person</a:t>
            </a:r>
            <a:endParaRPr lang="en-US" sz="1600" dirty="0">
              <a:solidFill>
                <a:srgbClr val="000000"/>
              </a:solidFill>
              <a:latin typeface="Consolas" panose="020B0609020204030204" pitchFamily="49" charset="0"/>
            </a:endParaRPr>
          </a:p>
          <a:p>
            <a:pPr>
              <a:lnSpc>
                <a:spcPct val="113333"/>
              </a:lnSpc>
              <a:buNone/>
            </a:pPr>
            <a:r>
              <a:rPr lang="en-US" sz="1600" dirty="0">
                <a:solidFill>
                  <a:srgbClr val="000000"/>
                </a:solidFill>
                <a:latin typeface="Consolas" panose="020B0609020204030204" pitchFamily="49" charset="0"/>
              </a:rPr>
              <a:t>$info = array (</a:t>
            </a:r>
          </a:p>
          <a:p>
            <a:pPr>
              <a:lnSpc>
                <a:spcPct val="113333"/>
              </a:lnSpc>
              <a:buNone/>
            </a:pP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"101"</a:t>
            </a:r>
            <a:r>
              <a:rPr lang="en-US" sz="1600" dirty="0">
                <a:solidFill>
                  <a:srgbClr val="000000"/>
                </a:solidFill>
                <a:latin typeface="Consolas" panose="020B0609020204030204" pitchFamily="49" charset="0"/>
              </a:rPr>
              <a:t>,</a:t>
            </a:r>
          </a:p>
          <a:p>
            <a:pPr>
              <a:lnSpc>
                <a:spcPct val="113333"/>
              </a:lnSpc>
              <a:buNone/>
            </a:pP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"Mohamed Abdi Ali"</a:t>
            </a:r>
            <a:r>
              <a:rPr lang="en-US" sz="1600" dirty="0">
                <a:solidFill>
                  <a:srgbClr val="000000"/>
                </a:solidFill>
                <a:latin typeface="Consolas" panose="020B0609020204030204" pitchFamily="49" charset="0"/>
              </a:rPr>
              <a:t>,</a:t>
            </a:r>
          </a:p>
          <a:p>
            <a:pPr>
              <a:lnSpc>
                <a:spcPct val="113333"/>
              </a:lnSpc>
              <a:buNone/>
            </a:pPr>
            <a:r>
              <a:rPr lang="en-US" sz="1600" dirty="0">
                <a:solidFill>
                  <a:srgbClr val="000000"/>
                </a:solidFill>
                <a:latin typeface="Consolas" panose="020B0609020204030204" pitchFamily="49" charset="0"/>
              </a:rPr>
              <a:t>     </a:t>
            </a:r>
            <a:r>
              <a:rPr lang="en-US" sz="1600" dirty="0">
                <a:solidFill>
                  <a:srgbClr val="098658"/>
                </a:solidFill>
                <a:latin typeface="Consolas" panose="020B0609020204030204" pitchFamily="49" charset="0"/>
              </a:rPr>
              <a:t>20</a:t>
            </a:r>
            <a:r>
              <a:rPr lang="en-US" sz="1600" dirty="0">
                <a:solidFill>
                  <a:srgbClr val="000000"/>
                </a:solidFill>
                <a:latin typeface="Consolas" panose="020B0609020204030204" pitchFamily="49" charset="0"/>
              </a:rPr>
              <a:t>,</a:t>
            </a:r>
          </a:p>
          <a:p>
            <a:pPr>
              <a:lnSpc>
                <a:spcPct val="113333"/>
              </a:lnSpc>
              <a:buNone/>
            </a:pP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"Hodan District"</a:t>
            </a:r>
            <a:r>
              <a:rPr lang="en-US" sz="1600" dirty="0">
                <a:solidFill>
                  <a:srgbClr val="000000"/>
                </a:solidFill>
                <a:latin typeface="Consolas" panose="020B0609020204030204" pitchFamily="49" charset="0"/>
              </a:rPr>
              <a:t>,</a:t>
            </a:r>
          </a:p>
          <a:p>
            <a:pPr>
              <a:lnSpc>
                <a:spcPct val="113333"/>
              </a:lnSpc>
              <a:buNone/>
            </a:pP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"single"</a:t>
            </a:r>
            <a:endParaRPr lang="en-US" sz="1600" dirty="0">
              <a:solidFill>
                <a:srgbClr val="000000"/>
              </a:solidFill>
              <a:latin typeface="Consolas" panose="020B0609020204030204" pitchFamily="49" charset="0"/>
            </a:endParaRPr>
          </a:p>
          <a:p>
            <a:pPr>
              <a:lnSpc>
                <a:spcPct val="113333"/>
              </a:lnSpc>
              <a:buNone/>
            </a:pPr>
            <a:r>
              <a:rPr lang="en-US" sz="1600" dirty="0">
                <a:solidFill>
                  <a:srgbClr val="000000"/>
                </a:solidFill>
                <a:latin typeface="Consolas" panose="020B0609020204030204" pitchFamily="49" charset="0"/>
              </a:rPr>
              <a:t>    );</a:t>
            </a:r>
          </a:p>
          <a:p>
            <a:pPr>
              <a:lnSpc>
                <a:spcPct val="113333"/>
              </a:lnSpc>
              <a:buNone/>
            </a:pPr>
            <a:r>
              <a:rPr lang="en-US" sz="1600" dirty="0">
                <a:solidFill>
                  <a:srgbClr val="008000"/>
                </a:solidFill>
                <a:latin typeface="Consolas" panose="020B0609020204030204" pitchFamily="49" charset="0"/>
              </a:rPr>
              <a:t>// To loop through and print all the values of an indexed array, you could use a for loop</a:t>
            </a:r>
            <a:endParaRPr lang="en-US" sz="1600" dirty="0">
              <a:solidFill>
                <a:srgbClr val="000000"/>
              </a:solidFill>
              <a:latin typeface="Consolas" panose="020B0609020204030204" pitchFamily="49" charset="0"/>
            </a:endParaRPr>
          </a:p>
          <a:p>
            <a:pPr>
              <a:lnSpc>
                <a:spcPct val="113333"/>
              </a:lnSpc>
              <a:buNone/>
            </a:pPr>
            <a:r>
              <a:rPr lang="en-US" sz="1600" dirty="0">
                <a:solidFill>
                  <a:srgbClr val="000000"/>
                </a:solidFill>
                <a:latin typeface="Consolas" panose="020B0609020204030204" pitchFamily="49" charset="0"/>
              </a:rPr>
              <a:t>echo </a:t>
            </a:r>
            <a:r>
              <a:rPr lang="en-US" sz="1600" dirty="0">
                <a:solidFill>
                  <a:srgbClr val="A31515"/>
                </a:solidFill>
                <a:latin typeface="Consolas" panose="020B0609020204030204" pitchFamily="49" charset="0"/>
              </a:rPr>
              <a:t>"Array values using for loop: &lt;</a:t>
            </a:r>
            <a:r>
              <a:rPr lang="en-US" sz="1600" dirty="0" err="1">
                <a:solidFill>
                  <a:srgbClr val="A31515"/>
                </a:solidFill>
                <a:latin typeface="Consolas" panose="020B0609020204030204" pitchFamily="49" charset="0"/>
              </a:rPr>
              <a:t>br</a:t>
            </a:r>
            <a:r>
              <a:rPr lang="en-US" sz="1600" dirty="0">
                <a:solidFill>
                  <a:srgbClr val="A31515"/>
                </a:solidFill>
                <a:latin typeface="Consolas" panose="020B0609020204030204" pitchFamily="49" charset="0"/>
              </a:rPr>
              <a:t>&gt;"</a:t>
            </a:r>
            <a:r>
              <a:rPr lang="en-US" sz="1600" dirty="0">
                <a:solidFill>
                  <a:srgbClr val="000000"/>
                </a:solidFill>
                <a:latin typeface="Consolas" panose="020B0609020204030204" pitchFamily="49" charset="0"/>
              </a:rPr>
              <a:t>;</a:t>
            </a:r>
          </a:p>
          <a:p>
            <a:pPr>
              <a:lnSpc>
                <a:spcPct val="113333"/>
              </a:lnSpc>
              <a:buNone/>
            </a:pPr>
            <a:r>
              <a:rPr lang="en-US" sz="1600" dirty="0">
                <a:solidFill>
                  <a:srgbClr val="0000FF"/>
                </a:solidFill>
                <a:latin typeface="Consolas" panose="020B0609020204030204" pitchFamily="49" charset="0"/>
              </a:rPr>
              <a:t>for</a:t>
            </a:r>
            <a:r>
              <a:rPr lang="en-US" sz="1600" dirty="0">
                <a:solidFill>
                  <a:srgbClr val="000000"/>
                </a:solidFill>
                <a:latin typeface="Consolas" panose="020B0609020204030204" pitchFamily="49" charset="0"/>
              </a:rPr>
              <a:t> ($i = </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 $i &lt; count($info); $i++) {</a:t>
            </a:r>
          </a:p>
          <a:p>
            <a:pPr>
              <a:lnSpc>
                <a:spcPct val="113333"/>
              </a:lnSpc>
              <a:buNone/>
            </a:pPr>
            <a:r>
              <a:rPr lang="en-US" sz="1600" dirty="0">
                <a:solidFill>
                  <a:srgbClr val="000000"/>
                </a:solidFill>
                <a:latin typeface="Consolas" panose="020B0609020204030204" pitchFamily="49" charset="0"/>
              </a:rPr>
              <a:t>    echo $info[$i] . </a:t>
            </a:r>
            <a:r>
              <a:rPr lang="en-US" sz="1600" dirty="0">
                <a:solidFill>
                  <a:srgbClr val="A31515"/>
                </a:solidFill>
                <a:latin typeface="Consolas" panose="020B0609020204030204" pitchFamily="49" charset="0"/>
              </a:rPr>
              <a:t>"&lt;</a:t>
            </a:r>
            <a:r>
              <a:rPr lang="en-US" sz="1600" dirty="0" err="1">
                <a:solidFill>
                  <a:srgbClr val="A31515"/>
                </a:solidFill>
                <a:latin typeface="Consolas" panose="020B0609020204030204" pitchFamily="49" charset="0"/>
              </a:rPr>
              <a:t>br</a:t>
            </a:r>
            <a:r>
              <a:rPr lang="en-US" sz="1600" dirty="0">
                <a:solidFill>
                  <a:srgbClr val="A31515"/>
                </a:solidFill>
                <a:latin typeface="Consolas" panose="020B0609020204030204" pitchFamily="49" charset="0"/>
              </a:rPr>
              <a:t>&gt;"</a:t>
            </a:r>
            <a:r>
              <a:rPr lang="en-US" sz="1600" dirty="0">
                <a:solidFill>
                  <a:srgbClr val="000000"/>
                </a:solidFill>
                <a:latin typeface="Consolas" panose="020B0609020204030204" pitchFamily="49" charset="0"/>
              </a:rPr>
              <a:t>;}</a:t>
            </a:r>
          </a:p>
          <a:p>
            <a:pPr marL="0" indent="0">
              <a:buFont typeface="Wingdings 3" panose="05040102010807070707" pitchFamily="18" charset="2"/>
              <a:buNone/>
            </a:pPr>
            <a:r>
              <a:rPr lang="en-US" altLang="en-US" sz="1600" dirty="0"/>
              <a:t>Output:</a:t>
            </a:r>
          </a:p>
          <a:p>
            <a:pPr marL="0" indent="0">
              <a:buFont typeface="Wingdings 3" panose="05040102010807070707" pitchFamily="18" charset="2"/>
              <a:buNone/>
            </a:pPr>
            <a:r>
              <a:rPr lang="en-US" sz="1600" b="0" i="0" dirty="0">
                <a:solidFill>
                  <a:srgbClr val="C00000"/>
                </a:solidFill>
                <a:effectLst/>
                <a:latin typeface="Times New Roman" panose="02020603050405020304" pitchFamily="18" charset="0"/>
              </a:rPr>
              <a:t>Array elements are:</a:t>
            </a:r>
            <a:br>
              <a:rPr lang="en-US" sz="1600" dirty="0">
                <a:solidFill>
                  <a:srgbClr val="C00000"/>
                </a:solidFill>
              </a:rPr>
            </a:br>
            <a:r>
              <a:rPr lang="en-US" sz="1600" dirty="0">
                <a:solidFill>
                  <a:srgbClr val="C00000"/>
                </a:solidFill>
              </a:rPr>
              <a:t>Array values using for loop:</a:t>
            </a:r>
          </a:p>
          <a:p>
            <a:pPr marL="609585" lvl="1" indent="0">
              <a:buFont typeface="Wingdings 3" panose="05040102010807070707" pitchFamily="18" charset="2"/>
              <a:buNone/>
            </a:pPr>
            <a:r>
              <a:rPr lang="en-US" sz="1600" dirty="0">
                <a:solidFill>
                  <a:srgbClr val="C00000"/>
                </a:solidFill>
              </a:rPr>
              <a:t>101</a:t>
            </a:r>
          </a:p>
          <a:p>
            <a:pPr marL="609585" lvl="1" indent="0">
              <a:buFont typeface="Wingdings 3" panose="05040102010807070707" pitchFamily="18" charset="2"/>
              <a:buNone/>
            </a:pPr>
            <a:r>
              <a:rPr lang="en-US" sz="1600" dirty="0">
                <a:solidFill>
                  <a:srgbClr val="C00000"/>
                </a:solidFill>
              </a:rPr>
              <a:t>Mohamed Abdi Ali</a:t>
            </a:r>
          </a:p>
          <a:p>
            <a:pPr marL="609585" lvl="1" indent="0">
              <a:buFont typeface="Wingdings 3" panose="05040102010807070707" pitchFamily="18" charset="2"/>
              <a:buNone/>
            </a:pPr>
            <a:r>
              <a:rPr lang="en-US" sz="1600" dirty="0">
                <a:solidFill>
                  <a:srgbClr val="C00000"/>
                </a:solidFill>
              </a:rPr>
              <a:t>20</a:t>
            </a:r>
          </a:p>
          <a:p>
            <a:pPr marL="609585" lvl="1" indent="0">
              <a:buFont typeface="Wingdings 3" panose="05040102010807070707" pitchFamily="18" charset="2"/>
              <a:buNone/>
            </a:pPr>
            <a:r>
              <a:rPr lang="en-US" sz="1600" dirty="0">
                <a:solidFill>
                  <a:srgbClr val="C00000"/>
                </a:solidFill>
              </a:rPr>
              <a:t>Hodan District</a:t>
            </a:r>
          </a:p>
          <a:p>
            <a:pPr marL="609585" lvl="1" indent="0">
              <a:buFont typeface="Wingdings 3" panose="05040102010807070707" pitchFamily="18" charset="2"/>
              <a:buNone/>
            </a:pPr>
            <a:r>
              <a:rPr lang="en-US" sz="1600" dirty="0">
                <a:solidFill>
                  <a:srgbClr val="C00000"/>
                </a:solidFill>
              </a:rPr>
              <a:t>single</a:t>
            </a:r>
            <a:endParaRPr lang="en-US" sz="1600" dirty="0"/>
          </a:p>
        </p:txBody>
      </p:sp>
      <p:sp>
        <p:nvSpPr>
          <p:cNvPr id="4" name="Slide Number Placeholder 3"/>
          <p:cNvSpPr>
            <a:spLocks noGrp="1"/>
          </p:cNvSpPr>
          <p:nvPr>
            <p:ph type="sldNum" idx="12"/>
          </p:nvPr>
        </p:nvSpPr>
        <p:spPr/>
        <p:txBody>
          <a:bodyPr/>
          <a:lstStyle/>
          <a:p>
            <a:pPr>
              <a:defRPr/>
            </a:pPr>
            <a:fld id="{1DFD1671-737C-44E1-8E5C-EC48A34B655F}" type="slidenum">
              <a:rPr lang="en-US" smtClean="0"/>
              <a:pPr>
                <a:defRPr/>
              </a:pPr>
              <a:t>8</a:t>
            </a:fld>
            <a:endParaRPr lang="en-US"/>
          </a:p>
        </p:txBody>
      </p:sp>
      <p:sp>
        <p:nvSpPr>
          <p:cNvPr id="6" name="Rectangle 5">
            <a:extLst>
              <a:ext uri="{FF2B5EF4-FFF2-40B4-BE49-F238E27FC236}">
                <a16:creationId xmlns:a16="http://schemas.microsoft.com/office/drawing/2014/main" id="{25E314BF-CA22-1B32-DA43-3DB14DA04A00}"/>
              </a:ext>
            </a:extLst>
          </p:cNvPr>
          <p:cNvSpPr/>
          <p:nvPr/>
        </p:nvSpPr>
        <p:spPr>
          <a:xfrm>
            <a:off x="0" y="0"/>
            <a:ext cx="12192000" cy="113552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8" name="TextBox 7">
            <a:extLst>
              <a:ext uri="{FF2B5EF4-FFF2-40B4-BE49-F238E27FC236}">
                <a16:creationId xmlns:a16="http://schemas.microsoft.com/office/drawing/2014/main" id="{6731AB27-25E8-FDF3-6D33-2F9F1D449FDF}"/>
              </a:ext>
            </a:extLst>
          </p:cNvPr>
          <p:cNvSpPr txBox="1"/>
          <p:nvPr/>
        </p:nvSpPr>
        <p:spPr>
          <a:xfrm>
            <a:off x="95009" y="228928"/>
            <a:ext cx="8634923" cy="646331"/>
          </a:xfrm>
          <a:prstGeom prst="rect">
            <a:avLst/>
          </a:prstGeom>
          <a:noFill/>
        </p:spPr>
        <p:txBody>
          <a:bodyPr wrap="square" rtlCol="0">
            <a:spAutoFit/>
          </a:bodyPr>
          <a:lstStyle/>
          <a:p>
            <a:r>
              <a:rPr lang="en-US" sz="3600" b="1" kern="1200" spc="-5" dirty="0">
                <a:solidFill>
                  <a:srgbClr val="FFC000"/>
                </a:solidFill>
                <a:latin typeface="Calibri" panose="020F0502020204030204"/>
                <a:ea typeface="+mn-ea"/>
                <a:cs typeface="+mn-cs"/>
              </a:rPr>
              <a:t>Using Arrays Function (Display For Lop)</a:t>
            </a:r>
          </a:p>
        </p:txBody>
      </p:sp>
      <p:pic>
        <p:nvPicPr>
          <p:cNvPr id="10" name="object 3">
            <a:extLst>
              <a:ext uri="{FF2B5EF4-FFF2-40B4-BE49-F238E27FC236}">
                <a16:creationId xmlns:a16="http://schemas.microsoft.com/office/drawing/2014/main" id="{4C04B8F5-2330-425B-B26A-220EF745A73A}"/>
              </a:ext>
            </a:extLst>
          </p:cNvPr>
          <p:cNvPicPr/>
          <p:nvPr/>
        </p:nvPicPr>
        <p:blipFill>
          <a:blip r:embed="rId2" cstate="print"/>
          <a:stretch>
            <a:fillRect/>
          </a:stretch>
        </p:blipFill>
        <p:spPr>
          <a:xfrm>
            <a:off x="11007176" y="103356"/>
            <a:ext cx="1029430" cy="1020942"/>
          </a:xfrm>
          <a:prstGeom prst="ellipse">
            <a:avLst/>
          </a:prstGeom>
          <a:ln>
            <a:noFill/>
          </a:ln>
          <a:effectLst>
            <a:softEdge rad="112500"/>
          </a:effectLst>
        </p:spPr>
      </p:pic>
    </p:spTree>
    <p:extLst>
      <p:ext uri="{BB962C8B-B14F-4D97-AF65-F5344CB8AC3E}">
        <p14:creationId xmlns:p14="http://schemas.microsoft.com/office/powerpoint/2010/main" val="3447273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2" end="12"/>
                                            </p:txEl>
                                          </p:spTgt>
                                        </p:tgtEl>
                                        <p:attrNameLst>
                                          <p:attrName>style.visibility</p:attrName>
                                        </p:attrNameLst>
                                      </p:cBhvr>
                                      <p:to>
                                        <p:strVal val="visible"/>
                                      </p:to>
                                    </p:set>
                                    <p:animEffect transition="in" filter="fade">
                                      <p:cBhvr>
                                        <p:cTn id="7" dur="500"/>
                                        <p:tgtEl>
                                          <p:spTgt spid="3">
                                            <p:txEl>
                                              <p:pRg st="12" end="1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fade">
                                      <p:cBhvr>
                                        <p:cTn id="52" dur="500"/>
                                        <p:tgtEl>
                                          <p:spTgt spid="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Effect transition="in" filter="fade">
                                      <p:cBhvr>
                                        <p:cTn id="57" dur="500"/>
                                        <p:tgtEl>
                                          <p:spTgt spid="3">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0" end="10"/>
                                            </p:txEl>
                                          </p:spTgt>
                                        </p:tgtEl>
                                        <p:attrNameLst>
                                          <p:attrName>style.visibility</p:attrName>
                                        </p:attrNameLst>
                                      </p:cBhvr>
                                      <p:to>
                                        <p:strVal val="visible"/>
                                      </p:to>
                                    </p:set>
                                    <p:animEffect transition="in" filter="fade">
                                      <p:cBhvr>
                                        <p:cTn id="62" dur="500"/>
                                        <p:tgtEl>
                                          <p:spTgt spid="3">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
                                            <p:txEl>
                                              <p:pRg st="11" end="11"/>
                                            </p:txEl>
                                          </p:spTgt>
                                        </p:tgtEl>
                                        <p:attrNameLst>
                                          <p:attrName>style.visibility</p:attrName>
                                        </p:attrNameLst>
                                      </p:cBhvr>
                                      <p:to>
                                        <p:strVal val="visible"/>
                                      </p:to>
                                    </p:set>
                                    <p:animEffect transition="in" filter="fade">
                                      <p:cBhvr>
                                        <p:cTn id="67" dur="500"/>
                                        <p:tgtEl>
                                          <p:spTgt spid="3">
                                            <p:txEl>
                                              <p:pRg st="11" end="11"/>
                                            </p:txEl>
                                          </p:spTgt>
                                        </p:tgtEl>
                                      </p:cBhvr>
                                    </p:animEffect>
                                  </p:childTnLst>
                                </p:cTn>
                              </p:par>
                              <p:par>
                                <p:cTn id="68" presetID="10" presetClass="entr" presetSubtype="0" fill="hold" nodeType="withEffect">
                                  <p:stCondLst>
                                    <p:cond delay="0"/>
                                  </p:stCondLst>
                                  <p:childTnLst>
                                    <p:set>
                                      <p:cBhvr>
                                        <p:cTn id="69" dur="1" fill="hold">
                                          <p:stCondLst>
                                            <p:cond delay="0"/>
                                          </p:stCondLst>
                                        </p:cTn>
                                        <p:tgtEl>
                                          <p:spTgt spid="3">
                                            <p:txEl>
                                              <p:pRg st="13" end="13"/>
                                            </p:txEl>
                                          </p:spTgt>
                                        </p:tgtEl>
                                        <p:attrNameLst>
                                          <p:attrName>style.visibility</p:attrName>
                                        </p:attrNameLst>
                                      </p:cBhvr>
                                      <p:to>
                                        <p:strVal val="visible"/>
                                      </p:to>
                                    </p:set>
                                    <p:animEffect transition="in" filter="fade">
                                      <p:cBhvr>
                                        <p:cTn id="70" dur="500"/>
                                        <p:tgtEl>
                                          <p:spTgt spid="3">
                                            <p:txEl>
                                              <p:pRg st="13" end="13"/>
                                            </p:txEl>
                                          </p:spTgt>
                                        </p:tgtEl>
                                      </p:cBhvr>
                                    </p:animEffect>
                                  </p:childTnLst>
                                </p:cTn>
                              </p:par>
                              <p:par>
                                <p:cTn id="71" presetID="10" presetClass="entr" presetSubtype="0" fill="hold" nodeType="withEffect">
                                  <p:stCondLst>
                                    <p:cond delay="0"/>
                                  </p:stCondLst>
                                  <p:childTnLst>
                                    <p:set>
                                      <p:cBhvr>
                                        <p:cTn id="72" dur="1" fill="hold">
                                          <p:stCondLst>
                                            <p:cond delay="0"/>
                                          </p:stCondLst>
                                        </p:cTn>
                                        <p:tgtEl>
                                          <p:spTgt spid="3">
                                            <p:txEl>
                                              <p:pRg st="14" end="14"/>
                                            </p:txEl>
                                          </p:spTgt>
                                        </p:tgtEl>
                                        <p:attrNameLst>
                                          <p:attrName>style.visibility</p:attrName>
                                        </p:attrNameLst>
                                      </p:cBhvr>
                                      <p:to>
                                        <p:strVal val="visible"/>
                                      </p:to>
                                    </p:set>
                                    <p:animEffect transition="in" filter="fade">
                                      <p:cBhvr>
                                        <p:cTn id="73" dur="500"/>
                                        <p:tgtEl>
                                          <p:spTgt spid="3">
                                            <p:txEl>
                                              <p:pRg st="14" end="14"/>
                                            </p:txEl>
                                          </p:spTgt>
                                        </p:tgtEl>
                                      </p:cBhvr>
                                    </p:animEffect>
                                  </p:childTnLst>
                                </p:cTn>
                              </p:par>
                              <p:par>
                                <p:cTn id="74" presetID="10" presetClass="entr" presetSubtype="0" fill="hold" nodeType="withEffect">
                                  <p:stCondLst>
                                    <p:cond delay="0"/>
                                  </p:stCondLst>
                                  <p:childTnLst>
                                    <p:set>
                                      <p:cBhvr>
                                        <p:cTn id="75" dur="1" fill="hold">
                                          <p:stCondLst>
                                            <p:cond delay="0"/>
                                          </p:stCondLst>
                                        </p:cTn>
                                        <p:tgtEl>
                                          <p:spTgt spid="3">
                                            <p:txEl>
                                              <p:pRg st="15" end="15"/>
                                            </p:txEl>
                                          </p:spTgt>
                                        </p:tgtEl>
                                        <p:attrNameLst>
                                          <p:attrName>style.visibility</p:attrName>
                                        </p:attrNameLst>
                                      </p:cBhvr>
                                      <p:to>
                                        <p:strVal val="visible"/>
                                      </p:to>
                                    </p:set>
                                    <p:animEffect transition="in" filter="fade">
                                      <p:cBhvr>
                                        <p:cTn id="76" dur="500"/>
                                        <p:tgtEl>
                                          <p:spTgt spid="3">
                                            <p:txEl>
                                              <p:pRg st="15" end="15"/>
                                            </p:txEl>
                                          </p:spTgt>
                                        </p:tgtEl>
                                      </p:cBhvr>
                                    </p:animEffect>
                                  </p:childTnLst>
                                </p:cTn>
                              </p:par>
                              <p:par>
                                <p:cTn id="77" presetID="10" presetClass="entr" presetSubtype="0" fill="hold" nodeType="withEffect">
                                  <p:stCondLst>
                                    <p:cond delay="0"/>
                                  </p:stCondLst>
                                  <p:childTnLst>
                                    <p:set>
                                      <p:cBhvr>
                                        <p:cTn id="78" dur="1" fill="hold">
                                          <p:stCondLst>
                                            <p:cond delay="0"/>
                                          </p:stCondLst>
                                        </p:cTn>
                                        <p:tgtEl>
                                          <p:spTgt spid="3">
                                            <p:txEl>
                                              <p:pRg st="16" end="16"/>
                                            </p:txEl>
                                          </p:spTgt>
                                        </p:tgtEl>
                                        <p:attrNameLst>
                                          <p:attrName>style.visibility</p:attrName>
                                        </p:attrNameLst>
                                      </p:cBhvr>
                                      <p:to>
                                        <p:strVal val="visible"/>
                                      </p:to>
                                    </p:set>
                                    <p:animEffect transition="in" filter="fade">
                                      <p:cBhvr>
                                        <p:cTn id="79" dur="500"/>
                                        <p:tgtEl>
                                          <p:spTgt spid="3">
                                            <p:txEl>
                                              <p:pRg st="16" end="16"/>
                                            </p:txEl>
                                          </p:spTgt>
                                        </p:tgtEl>
                                      </p:cBhvr>
                                    </p:animEffect>
                                  </p:childTnLst>
                                </p:cTn>
                              </p:par>
                              <p:par>
                                <p:cTn id="80" presetID="10" presetClass="entr" presetSubtype="0" fill="hold" nodeType="withEffect">
                                  <p:stCondLst>
                                    <p:cond delay="0"/>
                                  </p:stCondLst>
                                  <p:childTnLst>
                                    <p:set>
                                      <p:cBhvr>
                                        <p:cTn id="81" dur="1" fill="hold">
                                          <p:stCondLst>
                                            <p:cond delay="0"/>
                                          </p:stCondLst>
                                        </p:cTn>
                                        <p:tgtEl>
                                          <p:spTgt spid="3">
                                            <p:txEl>
                                              <p:pRg st="17" end="17"/>
                                            </p:txEl>
                                          </p:spTgt>
                                        </p:tgtEl>
                                        <p:attrNameLst>
                                          <p:attrName>style.visibility</p:attrName>
                                        </p:attrNameLst>
                                      </p:cBhvr>
                                      <p:to>
                                        <p:strVal val="visible"/>
                                      </p:to>
                                    </p:set>
                                    <p:animEffect transition="in" filter="fade">
                                      <p:cBhvr>
                                        <p:cTn id="82" dur="500"/>
                                        <p:tgtEl>
                                          <p:spTgt spid="3">
                                            <p:txEl>
                                              <p:pRg st="17" end="17"/>
                                            </p:txEl>
                                          </p:spTgt>
                                        </p:tgtEl>
                                      </p:cBhvr>
                                    </p:animEffect>
                                  </p:childTnLst>
                                </p:cTn>
                              </p:par>
                              <p:par>
                                <p:cTn id="83" presetID="10" presetClass="entr" presetSubtype="0" fill="hold" nodeType="withEffect">
                                  <p:stCondLst>
                                    <p:cond delay="0"/>
                                  </p:stCondLst>
                                  <p:childTnLst>
                                    <p:set>
                                      <p:cBhvr>
                                        <p:cTn id="84" dur="1" fill="hold">
                                          <p:stCondLst>
                                            <p:cond delay="0"/>
                                          </p:stCondLst>
                                        </p:cTn>
                                        <p:tgtEl>
                                          <p:spTgt spid="3">
                                            <p:txEl>
                                              <p:pRg st="18" end="18"/>
                                            </p:txEl>
                                          </p:spTgt>
                                        </p:tgtEl>
                                        <p:attrNameLst>
                                          <p:attrName>style.visibility</p:attrName>
                                        </p:attrNameLst>
                                      </p:cBhvr>
                                      <p:to>
                                        <p:strVal val="visible"/>
                                      </p:to>
                                    </p:set>
                                    <p:animEffect transition="in" filter="fade">
                                      <p:cBhvr>
                                        <p:cTn id="85" dur="500"/>
                                        <p:tgtEl>
                                          <p:spTgt spid="3">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0" y="1135528"/>
            <a:ext cx="12192000" cy="5619115"/>
          </a:xfrm>
        </p:spPr>
        <p:txBody>
          <a:bodyPr>
            <a:normAutofit fontScale="77500" lnSpcReduction="20000"/>
          </a:bodyPr>
          <a:lstStyle/>
          <a:p>
            <a:r>
              <a:rPr lang="en-US" sz="2400" dirty="0"/>
              <a:t>You can use </a:t>
            </a:r>
            <a:r>
              <a:rPr lang="en-US" sz="2400" dirty="0">
                <a:solidFill>
                  <a:srgbClr val="0070C0"/>
                </a:solidFill>
              </a:rPr>
              <a:t>foreach…as</a:t>
            </a:r>
            <a:r>
              <a:rPr lang="en-US" sz="2400" dirty="0"/>
              <a:t> statement to step through all the items in an array, one at a time, and do something with them.</a:t>
            </a:r>
          </a:p>
          <a:p>
            <a:r>
              <a:rPr lang="en-US" sz="2400" dirty="0"/>
              <a:t>The process starts with the first item and ends with the last one. </a:t>
            </a:r>
          </a:p>
          <a:p>
            <a:r>
              <a:rPr lang="en-US" sz="2400" dirty="0"/>
              <a:t>The </a:t>
            </a:r>
            <a:r>
              <a:rPr lang="en-US" sz="2400" dirty="0">
                <a:solidFill>
                  <a:srgbClr val="0070C0"/>
                </a:solidFill>
              </a:rPr>
              <a:t>foreach</a:t>
            </a:r>
            <a:r>
              <a:rPr lang="en-US" sz="2400" dirty="0"/>
              <a:t> loop is a special version of the for loop that simplifies working with arrays. Here’s how it works:</a:t>
            </a:r>
          </a:p>
          <a:p>
            <a:pPr marL="1581134" lvl="2" indent="-514350">
              <a:buFont typeface="+mj-lt"/>
              <a:buAutoNum type="arabicParenR"/>
            </a:pPr>
            <a:r>
              <a:rPr lang="en-US" sz="2400" dirty="0"/>
              <a:t>Use the </a:t>
            </a:r>
            <a:r>
              <a:rPr lang="en-US" sz="2400" dirty="0">
                <a:solidFill>
                  <a:srgbClr val="0070C0"/>
                </a:solidFill>
              </a:rPr>
              <a:t>foreach</a:t>
            </a:r>
            <a:r>
              <a:rPr lang="en-US" sz="2400" dirty="0"/>
              <a:t> keyword to begin the loop.</a:t>
            </a:r>
          </a:p>
          <a:p>
            <a:pPr marL="1581134" lvl="2" indent="-514350">
              <a:buFont typeface="+mj-lt"/>
              <a:buAutoNum type="arabicParenR"/>
            </a:pPr>
            <a:r>
              <a:rPr lang="en-US" sz="2400" dirty="0"/>
              <a:t>The first parameter is the array name. </a:t>
            </a:r>
          </a:p>
          <a:p>
            <a:pPr marL="1581134" lvl="2" indent="-514350">
              <a:buFont typeface="+mj-lt"/>
              <a:buAutoNum type="arabicParenR"/>
            </a:pPr>
            <a:r>
              <a:rPr lang="en-US" sz="2400" dirty="0"/>
              <a:t>Create a variable (the scalar) after </a:t>
            </a:r>
            <a:r>
              <a:rPr lang="en-US" sz="2400" dirty="0">
                <a:solidFill>
                  <a:srgbClr val="0070C0"/>
                </a:solidFill>
              </a:rPr>
              <a:t>as</a:t>
            </a:r>
            <a:r>
              <a:rPr lang="en-US" sz="2400" dirty="0"/>
              <a:t> keyword to hold each element of the array within the first parameter. On each pass through the loop, the variable will hold the current element of the array. </a:t>
            </a:r>
          </a:p>
          <a:p>
            <a:pPr marL="1581134" lvl="2" indent="-514350">
              <a:buFont typeface="+mj-lt"/>
              <a:buAutoNum type="arabicParenR"/>
            </a:pPr>
            <a:r>
              <a:rPr lang="en-US" sz="2400" dirty="0"/>
              <a:t>Use the variable inside the loop to manipulate array elements.</a:t>
            </a:r>
          </a:p>
          <a:p>
            <a:pPr marL="971550" lvl="1" indent="-514350">
              <a:buFont typeface="Arial" panose="020B0604020202020204" pitchFamily="34" charset="0"/>
              <a:buChar char="•"/>
            </a:pPr>
            <a:r>
              <a:rPr lang="en-US" sz="2400" dirty="0">
                <a:solidFill>
                  <a:srgbClr val="FF0000"/>
                </a:solidFill>
              </a:rPr>
              <a:t>Example</a:t>
            </a:r>
            <a:r>
              <a:rPr lang="en-US" sz="2400" dirty="0"/>
              <a:t>  </a:t>
            </a:r>
          </a:p>
          <a:p>
            <a:pPr>
              <a:lnSpc>
                <a:spcPct val="113333"/>
              </a:lnSpc>
              <a:buNone/>
            </a:pPr>
            <a:r>
              <a:rPr lang="en-US" sz="3100" dirty="0">
                <a:solidFill>
                  <a:srgbClr val="000000"/>
                </a:solidFill>
                <a:latin typeface="Consolas" panose="020B0609020204030204" pitchFamily="49" charset="0"/>
              </a:rPr>
              <a:t>$numbers = array (</a:t>
            </a:r>
            <a:r>
              <a:rPr lang="en-US" sz="3100" dirty="0">
                <a:solidFill>
                  <a:srgbClr val="098658"/>
                </a:solidFill>
                <a:latin typeface="Consolas" panose="020B0609020204030204" pitchFamily="49" charset="0"/>
              </a:rPr>
              <a:t>26</a:t>
            </a:r>
            <a:r>
              <a:rPr lang="en-US" sz="3100" dirty="0">
                <a:solidFill>
                  <a:srgbClr val="000000"/>
                </a:solidFill>
                <a:latin typeface="Consolas" panose="020B0609020204030204" pitchFamily="49" charset="0"/>
              </a:rPr>
              <a:t>, </a:t>
            </a:r>
            <a:r>
              <a:rPr lang="en-US" sz="3100" dirty="0">
                <a:solidFill>
                  <a:srgbClr val="098658"/>
                </a:solidFill>
                <a:latin typeface="Consolas" panose="020B0609020204030204" pitchFamily="49" charset="0"/>
              </a:rPr>
              <a:t>11</a:t>
            </a:r>
            <a:r>
              <a:rPr lang="en-US" sz="3100" dirty="0">
                <a:solidFill>
                  <a:srgbClr val="000000"/>
                </a:solidFill>
                <a:latin typeface="Consolas" panose="020B0609020204030204" pitchFamily="49" charset="0"/>
              </a:rPr>
              <a:t>, </a:t>
            </a:r>
            <a:r>
              <a:rPr lang="en-US" sz="3100" dirty="0">
                <a:solidFill>
                  <a:srgbClr val="098658"/>
                </a:solidFill>
                <a:latin typeface="Consolas" panose="020B0609020204030204" pitchFamily="49" charset="0"/>
              </a:rPr>
              <a:t>13</a:t>
            </a:r>
            <a:r>
              <a:rPr lang="en-US" sz="3100" dirty="0">
                <a:solidFill>
                  <a:srgbClr val="000000"/>
                </a:solidFill>
                <a:latin typeface="Consolas" panose="020B0609020204030204" pitchFamily="49" charset="0"/>
              </a:rPr>
              <a:t>);</a:t>
            </a:r>
          </a:p>
          <a:p>
            <a:pPr>
              <a:lnSpc>
                <a:spcPct val="113333"/>
              </a:lnSpc>
              <a:buNone/>
            </a:pPr>
            <a:r>
              <a:rPr lang="en-US" sz="3100" dirty="0">
                <a:solidFill>
                  <a:srgbClr val="000000"/>
                </a:solidFill>
                <a:latin typeface="Consolas" panose="020B0609020204030204" pitchFamily="49" charset="0"/>
              </a:rPr>
              <a:t>echo </a:t>
            </a:r>
            <a:r>
              <a:rPr lang="en-US" sz="3100" dirty="0">
                <a:solidFill>
                  <a:srgbClr val="A31515"/>
                </a:solidFill>
                <a:latin typeface="Consolas" panose="020B0609020204030204" pitchFamily="49" charset="0"/>
              </a:rPr>
              <a:t>"Array elements are: &lt;</a:t>
            </a:r>
            <a:r>
              <a:rPr lang="en-US" sz="3100" dirty="0" err="1">
                <a:solidFill>
                  <a:srgbClr val="A31515"/>
                </a:solidFill>
                <a:latin typeface="Consolas" panose="020B0609020204030204" pitchFamily="49" charset="0"/>
              </a:rPr>
              <a:t>br</a:t>
            </a:r>
            <a:r>
              <a:rPr lang="en-US" sz="3100" dirty="0">
                <a:solidFill>
                  <a:srgbClr val="A31515"/>
                </a:solidFill>
                <a:latin typeface="Consolas" panose="020B0609020204030204" pitchFamily="49" charset="0"/>
              </a:rPr>
              <a:t>&gt;"</a:t>
            </a:r>
            <a:r>
              <a:rPr lang="en-US" sz="3100" dirty="0">
                <a:solidFill>
                  <a:srgbClr val="000000"/>
                </a:solidFill>
                <a:latin typeface="Consolas" panose="020B0609020204030204" pitchFamily="49" charset="0"/>
              </a:rPr>
              <a:t>;</a:t>
            </a:r>
          </a:p>
          <a:p>
            <a:pPr>
              <a:lnSpc>
                <a:spcPct val="113333"/>
              </a:lnSpc>
              <a:buNone/>
            </a:pPr>
            <a:r>
              <a:rPr lang="en-US" sz="3100" dirty="0">
                <a:solidFill>
                  <a:srgbClr val="0000FF"/>
                </a:solidFill>
                <a:latin typeface="Consolas" panose="020B0609020204030204" pitchFamily="49" charset="0"/>
              </a:rPr>
              <a:t>foreach</a:t>
            </a:r>
            <a:r>
              <a:rPr lang="en-US" sz="3100" dirty="0">
                <a:solidFill>
                  <a:srgbClr val="000000"/>
                </a:solidFill>
                <a:latin typeface="Consolas" panose="020B0609020204030204" pitchFamily="49" charset="0"/>
              </a:rPr>
              <a:t> ($numbers as $n)</a:t>
            </a:r>
          </a:p>
          <a:p>
            <a:pPr>
              <a:lnSpc>
                <a:spcPct val="113333"/>
              </a:lnSpc>
              <a:buNone/>
            </a:pPr>
            <a:r>
              <a:rPr lang="en-US" sz="3100" dirty="0">
                <a:solidFill>
                  <a:srgbClr val="000000"/>
                </a:solidFill>
                <a:latin typeface="Consolas" panose="020B0609020204030204" pitchFamily="49" charset="0"/>
              </a:rPr>
              <a:t>    echo (</a:t>
            </a:r>
            <a:r>
              <a:rPr lang="en-US" sz="3100" dirty="0">
                <a:solidFill>
                  <a:srgbClr val="A31515"/>
                </a:solidFill>
                <a:latin typeface="Consolas" panose="020B0609020204030204" pitchFamily="49" charset="0"/>
              </a:rPr>
              <a:t>"$n, "</a:t>
            </a:r>
            <a:r>
              <a:rPr lang="en-US" sz="3100" dirty="0">
                <a:solidFill>
                  <a:srgbClr val="000000"/>
                </a:solidFill>
                <a:latin typeface="Consolas" panose="020B0609020204030204" pitchFamily="49" charset="0"/>
              </a:rPr>
              <a:t>);</a:t>
            </a:r>
          </a:p>
          <a:p>
            <a:pPr marL="0" indent="0">
              <a:buNone/>
              <a:defRPr/>
            </a:pPr>
            <a:r>
              <a:rPr lang="en-US" sz="3600" dirty="0"/>
              <a:t>Output:</a:t>
            </a:r>
          </a:p>
          <a:p>
            <a:pPr marL="0" indent="0">
              <a:buNone/>
              <a:defRPr/>
            </a:pPr>
            <a:r>
              <a:rPr lang="en-US" sz="2800" dirty="0">
                <a:solidFill>
                  <a:srgbClr val="C00000"/>
                </a:solidFill>
              </a:rPr>
              <a:t>Array elements are: 26, 11, 13,</a:t>
            </a:r>
            <a:endParaRPr lang="en-US" sz="2400" dirty="0"/>
          </a:p>
          <a:p>
            <a:pPr lvl="1"/>
            <a:endParaRPr lang="en-US" sz="2400" dirty="0"/>
          </a:p>
        </p:txBody>
      </p:sp>
      <p:sp>
        <p:nvSpPr>
          <p:cNvPr id="4" name="Slide Number Placeholder 3"/>
          <p:cNvSpPr>
            <a:spLocks noGrp="1"/>
          </p:cNvSpPr>
          <p:nvPr>
            <p:ph type="sldNum" idx="12"/>
          </p:nvPr>
        </p:nvSpPr>
        <p:spPr/>
        <p:txBody>
          <a:bodyPr/>
          <a:lstStyle/>
          <a:p>
            <a:pPr>
              <a:defRPr/>
            </a:pPr>
            <a:fld id="{1DFD1671-737C-44E1-8E5C-EC48A34B655F}" type="slidenum">
              <a:rPr lang="en-US" smtClean="0"/>
              <a:pPr>
                <a:defRPr/>
              </a:pPr>
              <a:t>9</a:t>
            </a:fld>
            <a:endParaRPr lang="en-US"/>
          </a:p>
        </p:txBody>
      </p:sp>
      <p:sp>
        <p:nvSpPr>
          <p:cNvPr id="10" name="Rectangle 9">
            <a:extLst>
              <a:ext uri="{FF2B5EF4-FFF2-40B4-BE49-F238E27FC236}">
                <a16:creationId xmlns:a16="http://schemas.microsoft.com/office/drawing/2014/main" id="{130BC1D7-D921-E98F-4840-B40F0F100301}"/>
              </a:ext>
            </a:extLst>
          </p:cNvPr>
          <p:cNvSpPr/>
          <p:nvPr/>
        </p:nvSpPr>
        <p:spPr>
          <a:xfrm>
            <a:off x="0" y="0"/>
            <a:ext cx="12192000" cy="113552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2" name="TextBox 11">
            <a:extLst>
              <a:ext uri="{FF2B5EF4-FFF2-40B4-BE49-F238E27FC236}">
                <a16:creationId xmlns:a16="http://schemas.microsoft.com/office/drawing/2014/main" id="{968FE11E-BBA7-CFE4-D2E6-C091CC760265}"/>
              </a:ext>
            </a:extLst>
          </p:cNvPr>
          <p:cNvSpPr txBox="1"/>
          <p:nvPr/>
        </p:nvSpPr>
        <p:spPr>
          <a:xfrm>
            <a:off x="95009" y="228928"/>
            <a:ext cx="8634923" cy="646331"/>
          </a:xfrm>
          <a:prstGeom prst="rect">
            <a:avLst/>
          </a:prstGeom>
          <a:noFill/>
        </p:spPr>
        <p:txBody>
          <a:bodyPr wrap="square" rtlCol="0">
            <a:spAutoFit/>
          </a:bodyPr>
          <a:lstStyle/>
          <a:p>
            <a:r>
              <a:rPr lang="en-US" sz="3600" b="1" kern="1200" spc="-5" dirty="0">
                <a:solidFill>
                  <a:srgbClr val="FFC000"/>
                </a:solidFill>
                <a:latin typeface="Calibri" panose="020F0502020204030204"/>
                <a:ea typeface="+mn-ea"/>
                <a:cs typeface="+mn-cs"/>
              </a:rPr>
              <a:t>The foreach...as Loop</a:t>
            </a:r>
          </a:p>
        </p:txBody>
      </p:sp>
      <p:pic>
        <p:nvPicPr>
          <p:cNvPr id="14" name="object 3">
            <a:extLst>
              <a:ext uri="{FF2B5EF4-FFF2-40B4-BE49-F238E27FC236}">
                <a16:creationId xmlns:a16="http://schemas.microsoft.com/office/drawing/2014/main" id="{9845EF37-B4F4-D6DE-F42C-11D1F4A64F87}"/>
              </a:ext>
            </a:extLst>
          </p:cNvPr>
          <p:cNvPicPr/>
          <p:nvPr/>
        </p:nvPicPr>
        <p:blipFill>
          <a:blip r:embed="rId2" cstate="print"/>
          <a:stretch>
            <a:fillRect/>
          </a:stretch>
        </p:blipFill>
        <p:spPr>
          <a:xfrm>
            <a:off x="11007176" y="103356"/>
            <a:ext cx="1029430" cy="1020942"/>
          </a:xfrm>
          <a:prstGeom prst="ellipse">
            <a:avLst/>
          </a:prstGeom>
          <a:ln>
            <a:noFill/>
          </a:ln>
          <a:effectLst>
            <a:softEdge rad="112500"/>
          </a:effectLst>
        </p:spPr>
      </p:pic>
    </p:spTree>
    <p:extLst>
      <p:ext uri="{BB962C8B-B14F-4D97-AF65-F5344CB8AC3E}">
        <p14:creationId xmlns:p14="http://schemas.microsoft.com/office/powerpoint/2010/main" val="3476360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5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95009" y="1238885"/>
            <a:ext cx="11360800" cy="4832636"/>
          </a:xfrm>
        </p:spPr>
        <p:txBody>
          <a:bodyPr>
            <a:normAutofit/>
          </a:bodyPr>
          <a:lstStyle/>
          <a:p>
            <a:pPr>
              <a:lnSpc>
                <a:spcPct val="113333"/>
              </a:lnSpc>
              <a:buNone/>
            </a:pPr>
            <a:r>
              <a:rPr lang="en-US" sz="3200" dirty="0">
                <a:solidFill>
                  <a:srgbClr val="000000"/>
                </a:solidFill>
                <a:latin typeface="Consolas" panose="020B0609020204030204" pitchFamily="49" charset="0"/>
              </a:rPr>
              <a:t>$numbers = array (</a:t>
            </a:r>
            <a:r>
              <a:rPr lang="en-US" sz="3200" dirty="0">
                <a:solidFill>
                  <a:srgbClr val="098658"/>
                </a:solidFill>
                <a:latin typeface="Consolas" panose="020B0609020204030204" pitchFamily="49" charset="0"/>
              </a:rPr>
              <a:t>10</a:t>
            </a:r>
            <a:r>
              <a:rPr lang="en-US" sz="3200" dirty="0">
                <a:solidFill>
                  <a:srgbClr val="000000"/>
                </a:solidFill>
                <a:latin typeface="Consolas" panose="020B0609020204030204" pitchFamily="49" charset="0"/>
              </a:rPr>
              <a:t>, </a:t>
            </a:r>
            <a:r>
              <a:rPr lang="en-US" sz="3200" dirty="0">
                <a:solidFill>
                  <a:srgbClr val="098658"/>
                </a:solidFill>
                <a:latin typeface="Consolas" panose="020B0609020204030204" pitchFamily="49" charset="0"/>
              </a:rPr>
              <a:t>10</a:t>
            </a:r>
            <a:r>
              <a:rPr lang="en-US" sz="3200" dirty="0">
                <a:solidFill>
                  <a:srgbClr val="000000"/>
                </a:solidFill>
                <a:latin typeface="Consolas" panose="020B0609020204030204" pitchFamily="49" charset="0"/>
              </a:rPr>
              <a:t>, </a:t>
            </a:r>
            <a:r>
              <a:rPr lang="en-US" sz="3200" dirty="0">
                <a:solidFill>
                  <a:srgbClr val="098658"/>
                </a:solidFill>
                <a:latin typeface="Consolas" panose="020B0609020204030204" pitchFamily="49" charset="0"/>
              </a:rPr>
              <a:t>15</a:t>
            </a:r>
            <a:r>
              <a:rPr lang="en-US" sz="3200" dirty="0">
                <a:solidFill>
                  <a:srgbClr val="000000"/>
                </a:solidFill>
                <a:latin typeface="Consolas" panose="020B0609020204030204" pitchFamily="49" charset="0"/>
              </a:rPr>
              <a:t>);</a:t>
            </a:r>
          </a:p>
          <a:p>
            <a:pPr>
              <a:lnSpc>
                <a:spcPct val="113333"/>
              </a:lnSpc>
              <a:buNone/>
            </a:pPr>
            <a:r>
              <a:rPr lang="en-US" sz="3200" dirty="0">
                <a:solidFill>
                  <a:srgbClr val="000000"/>
                </a:solidFill>
                <a:latin typeface="Consolas" panose="020B0609020204030204" pitchFamily="49" charset="0"/>
              </a:rPr>
              <a:t>$total = </a:t>
            </a:r>
            <a:r>
              <a:rPr lang="en-US" sz="3200" dirty="0">
                <a:solidFill>
                  <a:srgbClr val="098658"/>
                </a:solidFill>
                <a:latin typeface="Consolas" panose="020B0609020204030204" pitchFamily="49" charset="0"/>
              </a:rPr>
              <a:t>0</a:t>
            </a:r>
            <a:r>
              <a:rPr lang="en-US" sz="3200" dirty="0">
                <a:solidFill>
                  <a:srgbClr val="000000"/>
                </a:solidFill>
                <a:latin typeface="Consolas" panose="020B0609020204030204" pitchFamily="49" charset="0"/>
              </a:rPr>
              <a:t>;</a:t>
            </a:r>
          </a:p>
          <a:p>
            <a:pPr>
              <a:lnSpc>
                <a:spcPct val="113333"/>
              </a:lnSpc>
              <a:buNone/>
            </a:pPr>
            <a:r>
              <a:rPr lang="en-US" sz="3200" dirty="0">
                <a:solidFill>
                  <a:srgbClr val="0000FF"/>
                </a:solidFill>
                <a:latin typeface="Consolas" panose="020B0609020204030204" pitchFamily="49" charset="0"/>
              </a:rPr>
              <a:t>foreach</a:t>
            </a:r>
            <a:r>
              <a:rPr lang="en-US" sz="3200" dirty="0">
                <a:solidFill>
                  <a:srgbClr val="000000"/>
                </a:solidFill>
                <a:latin typeface="Consolas" panose="020B0609020204030204" pitchFamily="49" charset="0"/>
              </a:rPr>
              <a:t> ($numbers as $n)</a:t>
            </a:r>
          </a:p>
          <a:p>
            <a:pPr>
              <a:lnSpc>
                <a:spcPct val="113333"/>
              </a:lnSpc>
              <a:buNone/>
            </a:pPr>
            <a:r>
              <a:rPr lang="en-US" sz="3200" dirty="0">
                <a:solidFill>
                  <a:srgbClr val="000000"/>
                </a:solidFill>
                <a:latin typeface="Consolas" panose="020B0609020204030204" pitchFamily="49" charset="0"/>
              </a:rPr>
              <a:t>    $total += $n;</a:t>
            </a:r>
          </a:p>
          <a:p>
            <a:pPr>
              <a:lnSpc>
                <a:spcPct val="113333"/>
              </a:lnSpc>
              <a:buNone/>
            </a:pPr>
            <a:r>
              <a:rPr lang="en-US" sz="3200" dirty="0">
                <a:solidFill>
                  <a:srgbClr val="000000"/>
                </a:solidFill>
                <a:latin typeface="Consolas" panose="020B0609020204030204" pitchFamily="49" charset="0"/>
              </a:rPr>
              <a:t>echo (</a:t>
            </a:r>
            <a:r>
              <a:rPr lang="en-US" sz="3200" dirty="0">
                <a:solidFill>
                  <a:srgbClr val="A31515"/>
                </a:solidFill>
                <a:latin typeface="Consolas" panose="020B0609020204030204" pitchFamily="49" charset="0"/>
              </a:rPr>
              <a:t>"&lt;</a:t>
            </a:r>
            <a:r>
              <a:rPr lang="en-US" sz="3200" dirty="0" err="1">
                <a:solidFill>
                  <a:srgbClr val="A31515"/>
                </a:solidFill>
                <a:latin typeface="Consolas" panose="020B0609020204030204" pitchFamily="49" charset="0"/>
              </a:rPr>
              <a:t>br</a:t>
            </a:r>
            <a:r>
              <a:rPr lang="en-US" sz="3200" dirty="0">
                <a:solidFill>
                  <a:srgbClr val="A31515"/>
                </a:solidFill>
                <a:latin typeface="Consolas" panose="020B0609020204030204" pitchFamily="49" charset="0"/>
              </a:rPr>
              <a:t>&gt;Total of all elements is: $total"</a:t>
            </a:r>
            <a:r>
              <a:rPr lang="en-US" sz="3200" dirty="0">
                <a:solidFill>
                  <a:srgbClr val="000000"/>
                </a:solidFill>
                <a:latin typeface="Consolas" panose="020B0609020204030204" pitchFamily="49" charset="0"/>
              </a:rPr>
              <a:t>);</a:t>
            </a:r>
          </a:p>
          <a:p>
            <a:pPr marL="0" indent="0">
              <a:buFont typeface="Wingdings 3" panose="05040102010807070707" pitchFamily="18" charset="2"/>
              <a:buNone/>
            </a:pPr>
            <a:endParaRPr lang="en-US" sz="3200" dirty="0">
              <a:solidFill>
                <a:srgbClr val="0070C0"/>
              </a:solidFill>
            </a:endParaRPr>
          </a:p>
          <a:p>
            <a:pPr marL="0" indent="0">
              <a:buFont typeface="Wingdings 3" panose="05040102010807070707" pitchFamily="18" charset="2"/>
              <a:buNone/>
            </a:pPr>
            <a:r>
              <a:rPr lang="en-US" sz="2400" b="1" dirty="0"/>
              <a:t>Output:</a:t>
            </a:r>
            <a:r>
              <a:rPr lang="en-US" sz="2400" dirty="0"/>
              <a:t> </a:t>
            </a:r>
            <a:r>
              <a:rPr lang="en-US" sz="2400" b="1" dirty="0">
                <a:solidFill>
                  <a:srgbClr val="C00000"/>
                </a:solidFill>
              </a:rPr>
              <a:t>Total of all elements is: 35</a:t>
            </a:r>
            <a:endParaRPr lang="en-US" sz="4000" b="1" dirty="0">
              <a:solidFill>
                <a:srgbClr val="C00000"/>
              </a:solidFill>
            </a:endParaRPr>
          </a:p>
        </p:txBody>
      </p:sp>
      <p:sp>
        <p:nvSpPr>
          <p:cNvPr id="4" name="Slide Number Placeholder 3"/>
          <p:cNvSpPr>
            <a:spLocks noGrp="1"/>
          </p:cNvSpPr>
          <p:nvPr>
            <p:ph type="sldNum" idx="12"/>
          </p:nvPr>
        </p:nvSpPr>
        <p:spPr/>
        <p:txBody>
          <a:bodyPr/>
          <a:lstStyle/>
          <a:p>
            <a:pPr>
              <a:defRPr/>
            </a:pPr>
            <a:fld id="{1DFD1671-737C-44E1-8E5C-EC48A34B655F}" type="slidenum">
              <a:rPr lang="en-US" smtClean="0"/>
              <a:pPr>
                <a:defRPr/>
              </a:pPr>
              <a:t>10</a:t>
            </a:fld>
            <a:endParaRPr lang="en-US"/>
          </a:p>
        </p:txBody>
      </p:sp>
      <p:sp>
        <p:nvSpPr>
          <p:cNvPr id="6" name="Rectangle 5">
            <a:extLst>
              <a:ext uri="{FF2B5EF4-FFF2-40B4-BE49-F238E27FC236}">
                <a16:creationId xmlns:a16="http://schemas.microsoft.com/office/drawing/2014/main" id="{D2FE889C-CD7A-8C97-26B6-F2EEB0219845}"/>
              </a:ext>
            </a:extLst>
          </p:cNvPr>
          <p:cNvSpPr/>
          <p:nvPr/>
        </p:nvSpPr>
        <p:spPr>
          <a:xfrm>
            <a:off x="0" y="0"/>
            <a:ext cx="12192000" cy="113552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8" name="TextBox 7">
            <a:extLst>
              <a:ext uri="{FF2B5EF4-FFF2-40B4-BE49-F238E27FC236}">
                <a16:creationId xmlns:a16="http://schemas.microsoft.com/office/drawing/2014/main" id="{30857BCB-A166-7479-AC4D-41A2FFD23A54}"/>
              </a:ext>
            </a:extLst>
          </p:cNvPr>
          <p:cNvSpPr txBox="1"/>
          <p:nvPr/>
        </p:nvSpPr>
        <p:spPr>
          <a:xfrm>
            <a:off x="95009" y="228928"/>
            <a:ext cx="8634923" cy="646331"/>
          </a:xfrm>
          <a:prstGeom prst="rect">
            <a:avLst/>
          </a:prstGeom>
          <a:noFill/>
        </p:spPr>
        <p:txBody>
          <a:bodyPr wrap="square" rtlCol="0">
            <a:spAutoFit/>
          </a:bodyPr>
          <a:lstStyle/>
          <a:p>
            <a:r>
              <a:rPr lang="en-US" sz="3600" b="1" kern="1200" spc="-5" dirty="0">
                <a:solidFill>
                  <a:srgbClr val="FFC000"/>
                </a:solidFill>
                <a:latin typeface="Calibri" panose="020F0502020204030204"/>
                <a:ea typeface="+mn-ea"/>
                <a:cs typeface="+mn-cs"/>
              </a:rPr>
              <a:t>Adding array elements</a:t>
            </a:r>
          </a:p>
        </p:txBody>
      </p:sp>
      <p:pic>
        <p:nvPicPr>
          <p:cNvPr id="10" name="object 3">
            <a:extLst>
              <a:ext uri="{FF2B5EF4-FFF2-40B4-BE49-F238E27FC236}">
                <a16:creationId xmlns:a16="http://schemas.microsoft.com/office/drawing/2014/main" id="{1607721C-53DB-E8D8-1F1F-79E6383541FC}"/>
              </a:ext>
            </a:extLst>
          </p:cNvPr>
          <p:cNvPicPr/>
          <p:nvPr/>
        </p:nvPicPr>
        <p:blipFill>
          <a:blip r:embed="rId2" cstate="print"/>
          <a:stretch>
            <a:fillRect/>
          </a:stretch>
        </p:blipFill>
        <p:spPr>
          <a:xfrm>
            <a:off x="11007176" y="103356"/>
            <a:ext cx="1029430" cy="1020942"/>
          </a:xfrm>
          <a:prstGeom prst="ellipse">
            <a:avLst/>
          </a:prstGeom>
          <a:ln>
            <a:noFill/>
          </a:ln>
          <a:effectLst>
            <a:softEdge rad="112500"/>
          </a:effectLst>
        </p:spPr>
      </p:pic>
    </p:spTree>
    <p:extLst>
      <p:ext uri="{BB962C8B-B14F-4D97-AF65-F5344CB8AC3E}">
        <p14:creationId xmlns:p14="http://schemas.microsoft.com/office/powerpoint/2010/main" val="2439648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0" y="1145738"/>
            <a:ext cx="12258136" cy="4811615"/>
          </a:xfrm>
        </p:spPr>
        <p:txBody>
          <a:bodyPr>
            <a:normAutofit lnSpcReduction="10000"/>
          </a:bodyPr>
          <a:lstStyle/>
          <a:p>
            <a:r>
              <a:rPr lang="en-US" sz="3200" dirty="0"/>
              <a:t>In associative Arrays, you can reference the items in an array by name rather than by number. </a:t>
            </a:r>
          </a:p>
          <a:p>
            <a:r>
              <a:rPr lang="en-US" sz="3200" dirty="0"/>
              <a:t>Associative arrays are different than normal (numeric-indexed) arrays in some important ways:</a:t>
            </a:r>
          </a:p>
          <a:p>
            <a:pPr marL="971550" lvl="1" indent="-514350">
              <a:buFont typeface="+mj-lt"/>
              <a:buAutoNum type="arabicParenR"/>
            </a:pPr>
            <a:r>
              <a:rPr lang="en-US" sz="2800" dirty="0"/>
              <a:t>The order is undefined. </a:t>
            </a:r>
          </a:p>
          <a:p>
            <a:pPr marL="971550" lvl="1" indent="-514350">
              <a:buFont typeface="+mj-lt"/>
              <a:buAutoNum type="arabicParenR"/>
            </a:pPr>
            <a:r>
              <a:rPr lang="en-US" sz="2800" dirty="0"/>
              <a:t>You must specify a key (index).</a:t>
            </a:r>
          </a:p>
          <a:p>
            <a:pPr marL="971550" lvl="1" indent="-514350">
              <a:buFont typeface="+mj-lt"/>
              <a:buAutoNum type="arabicParenR"/>
            </a:pPr>
            <a:r>
              <a:rPr lang="en-US" sz="2800" dirty="0"/>
              <a:t>Associative arrays are best for name/value pairs.</a:t>
            </a:r>
          </a:p>
          <a:p>
            <a:pPr marL="971550" lvl="1" indent="-514350">
              <a:buFont typeface="+mj-lt"/>
              <a:buAutoNum type="arabicParenR"/>
            </a:pPr>
            <a:r>
              <a:rPr lang="en-US" sz="2800" dirty="0"/>
              <a:t>Some of PHP’s most important values are associative arrays. The </a:t>
            </a:r>
            <a:r>
              <a:rPr lang="en-US" sz="2800" dirty="0">
                <a:solidFill>
                  <a:srgbClr val="0070C0"/>
                </a:solidFill>
              </a:rPr>
              <a:t>$_REQUEST, $_GET, $_POST, $_FILES</a:t>
            </a:r>
            <a:r>
              <a:rPr lang="en-US" sz="2800" dirty="0"/>
              <a:t>, etc., are an associative array.</a:t>
            </a:r>
            <a:endParaRPr lang="en-US" sz="2800" dirty="0">
              <a:solidFill>
                <a:srgbClr val="0070C0"/>
              </a:solidFill>
            </a:endParaRPr>
          </a:p>
        </p:txBody>
      </p:sp>
      <p:sp>
        <p:nvSpPr>
          <p:cNvPr id="4" name="Slide Number Placeholder 3"/>
          <p:cNvSpPr>
            <a:spLocks noGrp="1"/>
          </p:cNvSpPr>
          <p:nvPr>
            <p:ph type="sldNum" idx="12"/>
          </p:nvPr>
        </p:nvSpPr>
        <p:spPr/>
        <p:txBody>
          <a:bodyPr/>
          <a:lstStyle/>
          <a:p>
            <a:pPr>
              <a:defRPr/>
            </a:pPr>
            <a:fld id="{1DFD1671-737C-44E1-8E5C-EC48A34B655F}" type="slidenum">
              <a:rPr lang="en-US" smtClean="0"/>
              <a:pPr>
                <a:defRPr/>
              </a:pPr>
              <a:t>11</a:t>
            </a:fld>
            <a:endParaRPr lang="en-US"/>
          </a:p>
        </p:txBody>
      </p:sp>
      <p:sp>
        <p:nvSpPr>
          <p:cNvPr id="6" name="Rectangle 5">
            <a:extLst>
              <a:ext uri="{FF2B5EF4-FFF2-40B4-BE49-F238E27FC236}">
                <a16:creationId xmlns:a16="http://schemas.microsoft.com/office/drawing/2014/main" id="{551F9E97-51AD-A0F1-9369-742D4F1450FA}"/>
              </a:ext>
            </a:extLst>
          </p:cNvPr>
          <p:cNvSpPr/>
          <p:nvPr/>
        </p:nvSpPr>
        <p:spPr>
          <a:xfrm>
            <a:off x="0" y="0"/>
            <a:ext cx="12192000" cy="113552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8" name="TextBox 7">
            <a:extLst>
              <a:ext uri="{FF2B5EF4-FFF2-40B4-BE49-F238E27FC236}">
                <a16:creationId xmlns:a16="http://schemas.microsoft.com/office/drawing/2014/main" id="{024A13C1-B835-331E-2162-4914C4E9F5CB}"/>
              </a:ext>
            </a:extLst>
          </p:cNvPr>
          <p:cNvSpPr txBox="1"/>
          <p:nvPr/>
        </p:nvSpPr>
        <p:spPr>
          <a:xfrm>
            <a:off x="95009" y="228928"/>
            <a:ext cx="8634923" cy="646331"/>
          </a:xfrm>
          <a:prstGeom prst="rect">
            <a:avLst/>
          </a:prstGeom>
          <a:noFill/>
        </p:spPr>
        <p:txBody>
          <a:bodyPr wrap="square" rtlCol="0">
            <a:spAutoFit/>
          </a:bodyPr>
          <a:lstStyle/>
          <a:p>
            <a:r>
              <a:rPr lang="en-US" sz="3600" b="1" kern="1200" spc="-5" dirty="0">
                <a:solidFill>
                  <a:srgbClr val="FFC000"/>
                </a:solidFill>
                <a:latin typeface="Calibri" panose="020F0502020204030204"/>
                <a:ea typeface="+mn-ea"/>
                <a:cs typeface="+mn-cs"/>
              </a:rPr>
              <a:t>Associative Arrays</a:t>
            </a:r>
          </a:p>
        </p:txBody>
      </p:sp>
      <p:pic>
        <p:nvPicPr>
          <p:cNvPr id="10" name="object 3">
            <a:extLst>
              <a:ext uri="{FF2B5EF4-FFF2-40B4-BE49-F238E27FC236}">
                <a16:creationId xmlns:a16="http://schemas.microsoft.com/office/drawing/2014/main" id="{5A654F39-9512-97B4-6916-81F1F2333658}"/>
              </a:ext>
            </a:extLst>
          </p:cNvPr>
          <p:cNvPicPr/>
          <p:nvPr/>
        </p:nvPicPr>
        <p:blipFill>
          <a:blip r:embed="rId2" cstate="print"/>
          <a:stretch>
            <a:fillRect/>
          </a:stretch>
        </p:blipFill>
        <p:spPr>
          <a:xfrm>
            <a:off x="11007176" y="103356"/>
            <a:ext cx="1029430" cy="1020942"/>
          </a:xfrm>
          <a:prstGeom prst="ellipse">
            <a:avLst/>
          </a:prstGeom>
          <a:ln>
            <a:noFill/>
          </a:ln>
          <a:effectLst>
            <a:softEdge rad="112500"/>
          </a:effectLst>
        </p:spPr>
      </p:pic>
    </p:spTree>
    <p:extLst>
      <p:ext uri="{BB962C8B-B14F-4D97-AF65-F5344CB8AC3E}">
        <p14:creationId xmlns:p14="http://schemas.microsoft.com/office/powerpoint/2010/main" val="4292774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 y="1155154"/>
            <a:ext cx="12191999" cy="5587269"/>
          </a:xfrm>
        </p:spPr>
        <p:txBody>
          <a:bodyPr>
            <a:noAutofit/>
          </a:bodyPr>
          <a:lstStyle/>
          <a:p>
            <a:pPr marL="152396" indent="0">
              <a:buNone/>
            </a:pPr>
            <a:r>
              <a:rPr lang="en-US" sz="2000" dirty="0"/>
              <a:t>Use </a:t>
            </a:r>
            <a:r>
              <a:rPr lang="en-US" sz="2000" b="1" dirty="0">
                <a:solidFill>
                  <a:srgbClr val="0070C0"/>
                </a:solidFill>
              </a:rPr>
              <a:t>double arrow operator (=&gt;)</a:t>
            </a:r>
            <a:r>
              <a:rPr lang="en-US" sz="2000" dirty="0"/>
              <a:t> to connect key/value (index/value).</a:t>
            </a:r>
          </a:p>
          <a:p>
            <a:pPr marL="152396" indent="0">
              <a:buNone/>
            </a:pPr>
            <a:r>
              <a:rPr lang="en-US" sz="2000" dirty="0"/>
              <a:t>For example:</a:t>
            </a:r>
          </a:p>
          <a:p>
            <a:pPr>
              <a:lnSpc>
                <a:spcPct val="113333"/>
              </a:lnSpc>
              <a:buNone/>
            </a:pPr>
            <a:r>
              <a:rPr lang="en-US" dirty="0">
                <a:solidFill>
                  <a:srgbClr val="008000"/>
                </a:solidFill>
                <a:latin typeface="Consolas" panose="020B0609020204030204" pitchFamily="49" charset="0"/>
              </a:rPr>
              <a:t>//example of associative array to store information about a person</a:t>
            </a:r>
            <a:endParaRPr lang="en-US" dirty="0">
              <a:solidFill>
                <a:srgbClr val="000000"/>
              </a:solidFill>
              <a:latin typeface="Consolas" panose="020B0609020204030204" pitchFamily="49" charset="0"/>
            </a:endParaRPr>
          </a:p>
          <a:p>
            <a:pPr>
              <a:lnSpc>
                <a:spcPct val="113333"/>
              </a:lnSpc>
              <a:buNone/>
            </a:pPr>
            <a:r>
              <a:rPr lang="en-US" dirty="0">
                <a:solidFill>
                  <a:srgbClr val="000000"/>
                </a:solidFill>
                <a:latin typeface="Consolas" panose="020B0609020204030204" pitchFamily="49" charset="0"/>
              </a:rPr>
              <a:t>$info = array (</a:t>
            </a:r>
          </a:p>
          <a:p>
            <a:pPr>
              <a:lnSpc>
                <a:spcPct val="113333"/>
              </a:lnSpc>
              <a:buNone/>
            </a:pP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"id"</a:t>
            </a:r>
            <a:r>
              <a:rPr lang="en-US" dirty="0">
                <a:solidFill>
                  <a:srgbClr val="000000"/>
                </a:solidFill>
                <a:latin typeface="Consolas" panose="020B0609020204030204" pitchFamily="49" charset="0"/>
              </a:rPr>
              <a:t>=&gt;</a:t>
            </a:r>
            <a:r>
              <a:rPr lang="en-US" dirty="0">
                <a:solidFill>
                  <a:srgbClr val="A31515"/>
                </a:solidFill>
                <a:latin typeface="Consolas" panose="020B0609020204030204" pitchFamily="49" charset="0"/>
              </a:rPr>
              <a:t>"101"</a:t>
            </a:r>
            <a:r>
              <a:rPr lang="en-US" dirty="0">
                <a:solidFill>
                  <a:srgbClr val="000000"/>
                </a:solidFill>
                <a:latin typeface="Consolas" panose="020B0609020204030204" pitchFamily="49" charset="0"/>
              </a:rPr>
              <a:t>,</a:t>
            </a:r>
          </a:p>
          <a:p>
            <a:pPr>
              <a:lnSpc>
                <a:spcPct val="113333"/>
              </a:lnSpc>
              <a:buNone/>
            </a:pP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"name"</a:t>
            </a:r>
            <a:r>
              <a:rPr lang="en-US" dirty="0">
                <a:solidFill>
                  <a:srgbClr val="000000"/>
                </a:solidFill>
                <a:latin typeface="Consolas" panose="020B0609020204030204" pitchFamily="49" charset="0"/>
              </a:rPr>
              <a:t>=&gt;</a:t>
            </a:r>
            <a:r>
              <a:rPr lang="en-US" dirty="0">
                <a:solidFill>
                  <a:srgbClr val="A31515"/>
                </a:solidFill>
                <a:latin typeface="Consolas" panose="020B0609020204030204" pitchFamily="49" charset="0"/>
              </a:rPr>
              <a:t>"Mohamed Abdi Ali"</a:t>
            </a:r>
            <a:r>
              <a:rPr lang="en-US" dirty="0">
                <a:solidFill>
                  <a:srgbClr val="000000"/>
                </a:solidFill>
                <a:latin typeface="Consolas" panose="020B0609020204030204" pitchFamily="49" charset="0"/>
              </a:rPr>
              <a:t>,</a:t>
            </a:r>
          </a:p>
          <a:p>
            <a:pPr>
              <a:lnSpc>
                <a:spcPct val="113333"/>
              </a:lnSpc>
              <a:buNone/>
            </a:pP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"age"</a:t>
            </a:r>
            <a:r>
              <a:rPr lang="en-US" dirty="0">
                <a:solidFill>
                  <a:srgbClr val="000000"/>
                </a:solidFill>
                <a:latin typeface="Consolas" panose="020B0609020204030204" pitchFamily="49" charset="0"/>
              </a:rPr>
              <a:t>=&gt;</a:t>
            </a:r>
            <a:r>
              <a:rPr lang="en-US" dirty="0">
                <a:solidFill>
                  <a:srgbClr val="098658"/>
                </a:solidFill>
                <a:latin typeface="Consolas" panose="020B0609020204030204" pitchFamily="49" charset="0"/>
              </a:rPr>
              <a:t>20</a:t>
            </a:r>
            <a:r>
              <a:rPr lang="en-US" dirty="0">
                <a:solidFill>
                  <a:srgbClr val="000000"/>
                </a:solidFill>
                <a:latin typeface="Consolas" panose="020B0609020204030204" pitchFamily="49" charset="0"/>
              </a:rPr>
              <a:t>,</a:t>
            </a:r>
          </a:p>
          <a:p>
            <a:pPr>
              <a:lnSpc>
                <a:spcPct val="113333"/>
              </a:lnSpc>
              <a:buNone/>
            </a:pP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"address"</a:t>
            </a:r>
            <a:r>
              <a:rPr lang="en-US" dirty="0">
                <a:solidFill>
                  <a:srgbClr val="000000"/>
                </a:solidFill>
                <a:latin typeface="Consolas" panose="020B0609020204030204" pitchFamily="49" charset="0"/>
              </a:rPr>
              <a:t>=&gt;</a:t>
            </a:r>
            <a:r>
              <a:rPr lang="en-US" dirty="0">
                <a:solidFill>
                  <a:srgbClr val="A31515"/>
                </a:solidFill>
                <a:latin typeface="Consolas" panose="020B0609020204030204" pitchFamily="49" charset="0"/>
              </a:rPr>
              <a:t>"Hodan District"</a:t>
            </a:r>
            <a:r>
              <a:rPr lang="en-US" dirty="0">
                <a:solidFill>
                  <a:srgbClr val="000000"/>
                </a:solidFill>
                <a:latin typeface="Consolas" panose="020B0609020204030204" pitchFamily="49" charset="0"/>
              </a:rPr>
              <a:t>,</a:t>
            </a:r>
          </a:p>
          <a:p>
            <a:pPr>
              <a:lnSpc>
                <a:spcPct val="113333"/>
              </a:lnSpc>
              <a:buNone/>
            </a:pP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"status"</a:t>
            </a:r>
            <a:r>
              <a:rPr lang="en-US" dirty="0">
                <a:solidFill>
                  <a:srgbClr val="000000"/>
                </a:solidFill>
                <a:latin typeface="Consolas" panose="020B0609020204030204" pitchFamily="49" charset="0"/>
              </a:rPr>
              <a:t>=&gt;</a:t>
            </a:r>
            <a:r>
              <a:rPr lang="en-US" dirty="0">
                <a:solidFill>
                  <a:srgbClr val="A31515"/>
                </a:solidFill>
                <a:latin typeface="Consolas" panose="020B0609020204030204" pitchFamily="49" charset="0"/>
              </a:rPr>
              <a:t>"single"</a:t>
            </a:r>
            <a:r>
              <a:rPr lang="en-US" dirty="0">
                <a:solidFill>
                  <a:srgbClr val="000000"/>
                </a:solidFill>
                <a:latin typeface="Consolas" panose="020B0609020204030204" pitchFamily="49" charset="0"/>
              </a:rPr>
              <a:t>,</a:t>
            </a:r>
          </a:p>
          <a:p>
            <a:pPr>
              <a:lnSpc>
                <a:spcPct val="113333"/>
              </a:lnSpc>
              <a:buNone/>
            </a:pP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"weight"</a:t>
            </a:r>
            <a:r>
              <a:rPr lang="en-US" dirty="0">
                <a:solidFill>
                  <a:srgbClr val="000000"/>
                </a:solidFill>
                <a:latin typeface="Consolas" panose="020B0609020204030204" pitchFamily="49" charset="0"/>
              </a:rPr>
              <a:t>=&gt; </a:t>
            </a:r>
            <a:r>
              <a:rPr lang="en-US" dirty="0">
                <a:solidFill>
                  <a:srgbClr val="098658"/>
                </a:solidFill>
                <a:latin typeface="Consolas" panose="020B0609020204030204" pitchFamily="49" charset="0"/>
              </a:rPr>
              <a:t>160.5</a:t>
            </a:r>
            <a:endParaRPr lang="en-US" dirty="0">
              <a:solidFill>
                <a:srgbClr val="000000"/>
              </a:solidFill>
              <a:latin typeface="Consolas" panose="020B0609020204030204" pitchFamily="49" charset="0"/>
            </a:endParaRPr>
          </a:p>
          <a:p>
            <a:pPr>
              <a:lnSpc>
                <a:spcPct val="113333"/>
              </a:lnSpc>
              <a:buNone/>
            </a:pPr>
            <a:r>
              <a:rPr lang="en-US" dirty="0">
                <a:solidFill>
                  <a:srgbClr val="000000"/>
                </a:solidFill>
                <a:latin typeface="Consolas" panose="020B0609020204030204" pitchFamily="49" charset="0"/>
              </a:rPr>
              <a:t>);</a:t>
            </a:r>
            <a:r>
              <a:rPr lang="en-US" dirty="0">
                <a:solidFill>
                  <a:srgbClr val="008000"/>
                </a:solidFill>
                <a:latin typeface="Consolas" panose="020B0609020204030204" pitchFamily="49" charset="0"/>
              </a:rPr>
              <a:t> </a:t>
            </a:r>
          </a:p>
          <a:p>
            <a:pPr>
              <a:lnSpc>
                <a:spcPct val="113333"/>
              </a:lnSpc>
              <a:buNone/>
            </a:pPr>
            <a:r>
              <a:rPr lang="en-US" dirty="0">
                <a:solidFill>
                  <a:srgbClr val="008000"/>
                </a:solidFill>
                <a:latin typeface="Consolas" panose="020B0609020204030204" pitchFamily="49" charset="0"/>
              </a:rPr>
              <a:t>//displaying the information stored in the associative array</a:t>
            </a:r>
            <a:endParaRPr lang="en-US" dirty="0">
              <a:solidFill>
                <a:srgbClr val="000000"/>
              </a:solidFill>
              <a:latin typeface="Consolas" panose="020B0609020204030204" pitchFamily="49" charset="0"/>
            </a:endParaRPr>
          </a:p>
          <a:p>
            <a:pPr>
              <a:lnSpc>
                <a:spcPct val="113333"/>
              </a:lnSpc>
              <a:buNone/>
            </a:pPr>
            <a:r>
              <a:rPr lang="en-US" dirty="0">
                <a:solidFill>
                  <a:srgbClr val="000000"/>
                </a:solidFill>
                <a:latin typeface="Consolas" panose="020B0609020204030204" pitchFamily="49" charset="0"/>
              </a:rPr>
              <a:t>echo </a:t>
            </a:r>
            <a:r>
              <a:rPr lang="en-US" dirty="0">
                <a:solidFill>
                  <a:srgbClr val="A31515"/>
                </a:solidFill>
                <a:latin typeface="Consolas" panose="020B0609020204030204" pitchFamily="49" charset="0"/>
              </a:rPr>
              <a:t>"&lt;pre&gt;"</a:t>
            </a:r>
            <a:r>
              <a:rPr lang="en-US" dirty="0">
                <a:solidFill>
                  <a:srgbClr val="000000"/>
                </a:solidFill>
                <a:latin typeface="Consolas" panose="020B0609020204030204" pitchFamily="49" charset="0"/>
              </a:rPr>
              <a:t>;</a:t>
            </a:r>
          </a:p>
          <a:p>
            <a:pPr>
              <a:lnSpc>
                <a:spcPct val="113333"/>
              </a:lnSpc>
              <a:buNone/>
            </a:pPr>
            <a:r>
              <a:rPr lang="en-US" dirty="0">
                <a:solidFill>
                  <a:srgbClr val="000000"/>
                </a:solidFill>
                <a:latin typeface="Consolas" panose="020B0609020204030204" pitchFamily="49" charset="0"/>
              </a:rPr>
              <a:t>echo </a:t>
            </a:r>
            <a:r>
              <a:rPr lang="en-US" dirty="0">
                <a:solidFill>
                  <a:srgbClr val="A31515"/>
                </a:solidFill>
                <a:latin typeface="Consolas" panose="020B0609020204030204" pitchFamily="49" charset="0"/>
              </a:rPr>
              <a:t>"Information about the person: &lt;</a:t>
            </a:r>
            <a:r>
              <a:rPr lang="en-US" dirty="0" err="1">
                <a:solidFill>
                  <a:srgbClr val="A31515"/>
                </a:solidFill>
                <a:latin typeface="Consolas" panose="020B0609020204030204" pitchFamily="49" charset="0"/>
              </a:rPr>
              <a:t>br</a:t>
            </a:r>
            <a:r>
              <a:rPr lang="en-US" dirty="0">
                <a:solidFill>
                  <a:srgbClr val="A31515"/>
                </a:solidFill>
                <a:latin typeface="Consolas" panose="020B0609020204030204" pitchFamily="49" charset="0"/>
              </a:rPr>
              <a:t>&gt;"</a:t>
            </a:r>
            <a:r>
              <a:rPr lang="en-US" dirty="0">
                <a:solidFill>
                  <a:srgbClr val="000000"/>
                </a:solidFill>
                <a:latin typeface="Consolas" panose="020B0609020204030204" pitchFamily="49" charset="0"/>
              </a:rPr>
              <a:t>;</a:t>
            </a:r>
          </a:p>
          <a:p>
            <a:pPr>
              <a:lnSpc>
                <a:spcPct val="113333"/>
              </a:lnSpc>
              <a:buNone/>
            </a:pPr>
            <a:r>
              <a:rPr lang="en-US" dirty="0" err="1">
                <a:solidFill>
                  <a:srgbClr val="000000"/>
                </a:solidFill>
                <a:latin typeface="Consolas" panose="020B0609020204030204" pitchFamily="49" charset="0"/>
              </a:rPr>
              <a:t>print_r</a:t>
            </a:r>
            <a:r>
              <a:rPr lang="en-US" dirty="0">
                <a:solidFill>
                  <a:srgbClr val="000000"/>
                </a:solidFill>
                <a:latin typeface="Consolas" panose="020B0609020204030204" pitchFamily="49" charset="0"/>
              </a:rPr>
              <a:t>($info);</a:t>
            </a:r>
          </a:p>
          <a:p>
            <a:pPr>
              <a:lnSpc>
                <a:spcPct val="113333"/>
              </a:lnSpc>
              <a:buNone/>
            </a:pPr>
            <a:r>
              <a:rPr lang="en-US" dirty="0" err="1">
                <a:solidFill>
                  <a:srgbClr val="000000"/>
                </a:solidFill>
                <a:latin typeface="Consolas" panose="020B0609020204030204" pitchFamily="49" charset="0"/>
              </a:rPr>
              <a:t>var_dump</a:t>
            </a:r>
            <a:r>
              <a:rPr lang="en-US" dirty="0">
                <a:solidFill>
                  <a:srgbClr val="000000"/>
                </a:solidFill>
                <a:latin typeface="Consolas" panose="020B0609020204030204" pitchFamily="49" charset="0"/>
              </a:rPr>
              <a:t>($info);</a:t>
            </a:r>
          </a:p>
          <a:p>
            <a:pPr>
              <a:lnSpc>
                <a:spcPct val="113333"/>
              </a:lnSpc>
              <a:buNone/>
            </a:pPr>
            <a:r>
              <a:rPr lang="en-US" dirty="0">
                <a:solidFill>
                  <a:srgbClr val="000000"/>
                </a:solidFill>
                <a:latin typeface="Consolas" panose="020B0609020204030204" pitchFamily="49" charset="0"/>
              </a:rPr>
              <a:t>echo </a:t>
            </a:r>
            <a:r>
              <a:rPr lang="en-US" dirty="0">
                <a:solidFill>
                  <a:srgbClr val="A31515"/>
                </a:solidFill>
                <a:latin typeface="Consolas" panose="020B0609020204030204" pitchFamily="49" charset="0"/>
              </a:rPr>
              <a:t>"&lt;/pre&gt;"</a:t>
            </a:r>
            <a:r>
              <a:rPr lang="en-US" dirty="0">
                <a:solidFill>
                  <a:srgbClr val="000000"/>
                </a:solidFill>
                <a:latin typeface="Consolas" panose="020B0609020204030204" pitchFamily="49" charset="0"/>
              </a:rPr>
              <a:t>;</a:t>
            </a:r>
          </a:p>
        </p:txBody>
      </p:sp>
      <p:sp>
        <p:nvSpPr>
          <p:cNvPr id="4" name="Slide Number Placeholder 3"/>
          <p:cNvSpPr>
            <a:spLocks noGrp="1"/>
          </p:cNvSpPr>
          <p:nvPr>
            <p:ph type="sldNum" idx="12"/>
          </p:nvPr>
        </p:nvSpPr>
        <p:spPr/>
        <p:txBody>
          <a:bodyPr/>
          <a:lstStyle/>
          <a:p>
            <a:pPr>
              <a:defRPr/>
            </a:pPr>
            <a:fld id="{1DFD1671-737C-44E1-8E5C-EC48A34B655F}" type="slidenum">
              <a:rPr lang="en-US" smtClean="0"/>
              <a:pPr>
                <a:defRPr/>
              </a:pPr>
              <a:t>12</a:t>
            </a:fld>
            <a:endParaRPr lang="en-US"/>
          </a:p>
        </p:txBody>
      </p:sp>
      <p:pic>
        <p:nvPicPr>
          <p:cNvPr id="6" name="Picture 5">
            <a:extLst>
              <a:ext uri="{FF2B5EF4-FFF2-40B4-BE49-F238E27FC236}">
                <a16:creationId xmlns:a16="http://schemas.microsoft.com/office/drawing/2014/main" id="{D8D765AC-8EFD-65C5-0344-08D72E4CF2FE}"/>
              </a:ext>
            </a:extLst>
          </p:cNvPr>
          <p:cNvPicPr>
            <a:picLocks noChangeAspect="1"/>
          </p:cNvPicPr>
          <p:nvPr/>
        </p:nvPicPr>
        <p:blipFill>
          <a:blip r:embed="rId2"/>
          <a:stretch>
            <a:fillRect/>
          </a:stretch>
        </p:blipFill>
        <p:spPr>
          <a:xfrm>
            <a:off x="8355611" y="2402920"/>
            <a:ext cx="3836389" cy="3534808"/>
          </a:xfrm>
          <a:prstGeom prst="rect">
            <a:avLst/>
          </a:prstGeom>
        </p:spPr>
      </p:pic>
      <p:sp>
        <p:nvSpPr>
          <p:cNvPr id="7" name="Rectangle 6">
            <a:extLst>
              <a:ext uri="{FF2B5EF4-FFF2-40B4-BE49-F238E27FC236}">
                <a16:creationId xmlns:a16="http://schemas.microsoft.com/office/drawing/2014/main" id="{FC8508DA-518A-8FDC-F6C4-DACFFB3B3C20}"/>
              </a:ext>
            </a:extLst>
          </p:cNvPr>
          <p:cNvSpPr/>
          <p:nvPr/>
        </p:nvSpPr>
        <p:spPr>
          <a:xfrm>
            <a:off x="0" y="0"/>
            <a:ext cx="12192000" cy="113552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9" name="TextBox 8">
            <a:extLst>
              <a:ext uri="{FF2B5EF4-FFF2-40B4-BE49-F238E27FC236}">
                <a16:creationId xmlns:a16="http://schemas.microsoft.com/office/drawing/2014/main" id="{E192BA86-0FF7-7A93-9C82-9CE03E5B057E}"/>
              </a:ext>
            </a:extLst>
          </p:cNvPr>
          <p:cNvSpPr txBox="1"/>
          <p:nvPr/>
        </p:nvSpPr>
        <p:spPr>
          <a:xfrm>
            <a:off x="95009" y="228928"/>
            <a:ext cx="8634923" cy="646331"/>
          </a:xfrm>
          <a:prstGeom prst="rect">
            <a:avLst/>
          </a:prstGeom>
          <a:noFill/>
        </p:spPr>
        <p:txBody>
          <a:bodyPr wrap="square" rtlCol="0">
            <a:spAutoFit/>
          </a:bodyPr>
          <a:lstStyle/>
          <a:p>
            <a:r>
              <a:rPr lang="en-US" sz="3600" b="1" kern="1200" spc="-5" dirty="0">
                <a:solidFill>
                  <a:srgbClr val="FFC000"/>
                </a:solidFill>
                <a:latin typeface="Calibri" panose="020F0502020204030204"/>
                <a:ea typeface="+mn-ea"/>
                <a:cs typeface="+mn-cs"/>
              </a:rPr>
              <a:t>Associative Arrays</a:t>
            </a:r>
          </a:p>
        </p:txBody>
      </p:sp>
      <p:pic>
        <p:nvPicPr>
          <p:cNvPr id="11" name="object 3">
            <a:extLst>
              <a:ext uri="{FF2B5EF4-FFF2-40B4-BE49-F238E27FC236}">
                <a16:creationId xmlns:a16="http://schemas.microsoft.com/office/drawing/2014/main" id="{B1FBE2F5-C219-DCD6-5AD6-CC3DDA525750}"/>
              </a:ext>
            </a:extLst>
          </p:cNvPr>
          <p:cNvPicPr/>
          <p:nvPr/>
        </p:nvPicPr>
        <p:blipFill>
          <a:blip r:embed="rId3" cstate="print"/>
          <a:stretch>
            <a:fillRect/>
          </a:stretch>
        </p:blipFill>
        <p:spPr>
          <a:xfrm>
            <a:off x="11007176" y="103356"/>
            <a:ext cx="1029430" cy="1020942"/>
          </a:xfrm>
          <a:prstGeom prst="ellipse">
            <a:avLst/>
          </a:prstGeom>
          <a:ln>
            <a:noFill/>
          </a:ln>
          <a:effectLst>
            <a:softEdge rad="112500"/>
          </a:effectLst>
        </p:spPr>
      </p:pic>
    </p:spTree>
    <p:extLst>
      <p:ext uri="{BB962C8B-B14F-4D97-AF65-F5344CB8AC3E}">
        <p14:creationId xmlns:p14="http://schemas.microsoft.com/office/powerpoint/2010/main" val="1426847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1FEC6F-EC31-4723-828B-66263DB9879D}"/>
              </a:ext>
            </a:extLst>
          </p:cNvPr>
          <p:cNvSpPr>
            <a:spLocks noGrp="1"/>
          </p:cNvSpPr>
          <p:nvPr>
            <p:ph type="body" idx="1"/>
          </p:nvPr>
        </p:nvSpPr>
        <p:spPr>
          <a:xfrm>
            <a:off x="0" y="1151399"/>
            <a:ext cx="12192000" cy="5066223"/>
          </a:xfrm>
        </p:spPr>
        <p:txBody>
          <a:bodyPr>
            <a:noAutofit/>
          </a:bodyPr>
          <a:lstStyle/>
          <a:p>
            <a:r>
              <a:rPr lang="en-GB" sz="2800" dirty="0"/>
              <a:t>The names are called </a:t>
            </a:r>
            <a:r>
              <a:rPr lang="en-GB" sz="2800" b="1" dirty="0">
                <a:solidFill>
                  <a:srgbClr val="0070C0"/>
                </a:solidFill>
              </a:rPr>
              <a:t>indexes or keys</a:t>
            </a:r>
            <a:r>
              <a:rPr lang="en-GB" sz="2800" dirty="0"/>
              <a:t>, and the</a:t>
            </a:r>
            <a:r>
              <a:rPr lang="en-PK" sz="2800" dirty="0"/>
              <a:t> </a:t>
            </a:r>
            <a:r>
              <a:rPr lang="en-GB" sz="2800" dirty="0"/>
              <a:t>items assigned to them are called </a:t>
            </a:r>
            <a:r>
              <a:rPr lang="en-GB" sz="2800" b="1" dirty="0">
                <a:solidFill>
                  <a:srgbClr val="0070C0"/>
                </a:solidFill>
              </a:rPr>
              <a:t>values</a:t>
            </a:r>
            <a:r>
              <a:rPr lang="en-GB" sz="2800" dirty="0"/>
              <a:t>.</a:t>
            </a:r>
            <a:endParaRPr lang="en-PK" sz="2800" dirty="0"/>
          </a:p>
          <a:p>
            <a:r>
              <a:rPr lang="en-GB" sz="2800" dirty="0"/>
              <a:t>Adding items to an associative array and retrieving them</a:t>
            </a:r>
          </a:p>
          <a:p>
            <a:pPr marL="457200" lvl="1" indent="0">
              <a:buNone/>
            </a:pPr>
            <a:r>
              <a:rPr lang="en-GB" sz="2800" dirty="0"/>
              <a:t>&lt;?php</a:t>
            </a:r>
          </a:p>
          <a:p>
            <a:pPr marL="761981" lvl="1" indent="0">
              <a:buNone/>
            </a:pPr>
            <a:r>
              <a:rPr lang="en-US" sz="2467" b="0" dirty="0">
                <a:solidFill>
                  <a:srgbClr val="000000"/>
                </a:solidFill>
                <a:effectLst/>
                <a:latin typeface="Consolas" panose="020B0609020204030204" pitchFamily="49" charset="0"/>
              </a:rPr>
              <a:t>$info[</a:t>
            </a:r>
            <a:r>
              <a:rPr lang="en-US" sz="2467" b="0" dirty="0">
                <a:solidFill>
                  <a:srgbClr val="A31515"/>
                </a:solidFill>
                <a:effectLst/>
                <a:latin typeface="Consolas" panose="020B0609020204030204" pitchFamily="49" charset="0"/>
              </a:rPr>
              <a:t>"id"</a:t>
            </a:r>
            <a:r>
              <a:rPr lang="en-US" sz="2467" b="0" dirty="0">
                <a:solidFill>
                  <a:srgbClr val="000000"/>
                </a:solidFill>
                <a:effectLst/>
                <a:latin typeface="Consolas" panose="020B0609020204030204" pitchFamily="49" charset="0"/>
              </a:rPr>
              <a:t>] = </a:t>
            </a:r>
            <a:r>
              <a:rPr lang="en-US" sz="2467" b="0" dirty="0">
                <a:solidFill>
                  <a:srgbClr val="A31515"/>
                </a:solidFill>
                <a:effectLst/>
                <a:latin typeface="Consolas" panose="020B0609020204030204" pitchFamily="49" charset="0"/>
              </a:rPr>
              <a:t>"101"</a:t>
            </a:r>
            <a:r>
              <a:rPr lang="en-US" sz="2467" b="0" dirty="0">
                <a:solidFill>
                  <a:srgbClr val="000000"/>
                </a:solidFill>
                <a:effectLst/>
                <a:latin typeface="Consolas" panose="020B0609020204030204" pitchFamily="49" charset="0"/>
              </a:rPr>
              <a:t>;</a:t>
            </a:r>
          </a:p>
          <a:p>
            <a:pPr marL="761981" lvl="1" indent="0">
              <a:buNone/>
            </a:pPr>
            <a:r>
              <a:rPr lang="en-US" sz="2467" b="0" dirty="0">
                <a:solidFill>
                  <a:srgbClr val="000000"/>
                </a:solidFill>
                <a:effectLst/>
                <a:latin typeface="Consolas" panose="020B0609020204030204" pitchFamily="49" charset="0"/>
              </a:rPr>
              <a:t>$info[</a:t>
            </a:r>
            <a:r>
              <a:rPr lang="en-US" sz="2467" b="0" dirty="0">
                <a:solidFill>
                  <a:srgbClr val="A31515"/>
                </a:solidFill>
                <a:effectLst/>
                <a:latin typeface="Consolas" panose="020B0609020204030204" pitchFamily="49" charset="0"/>
              </a:rPr>
              <a:t>"name"</a:t>
            </a:r>
            <a:r>
              <a:rPr lang="en-US" sz="2467" b="0" dirty="0">
                <a:solidFill>
                  <a:srgbClr val="000000"/>
                </a:solidFill>
                <a:effectLst/>
                <a:latin typeface="Consolas" panose="020B0609020204030204" pitchFamily="49" charset="0"/>
              </a:rPr>
              <a:t>] = </a:t>
            </a:r>
            <a:r>
              <a:rPr lang="en-US" sz="2467" b="0" dirty="0">
                <a:solidFill>
                  <a:srgbClr val="A31515"/>
                </a:solidFill>
                <a:effectLst/>
                <a:latin typeface="Consolas" panose="020B0609020204030204" pitchFamily="49" charset="0"/>
              </a:rPr>
              <a:t>"Mohamed Abdi Ali"</a:t>
            </a:r>
            <a:r>
              <a:rPr lang="en-US" sz="2467" b="0" dirty="0">
                <a:solidFill>
                  <a:srgbClr val="000000"/>
                </a:solidFill>
                <a:effectLst/>
                <a:latin typeface="Consolas" panose="020B0609020204030204" pitchFamily="49" charset="0"/>
              </a:rPr>
              <a:t>;</a:t>
            </a:r>
          </a:p>
          <a:p>
            <a:pPr marL="761981" lvl="1" indent="0">
              <a:buNone/>
            </a:pPr>
            <a:r>
              <a:rPr lang="en-US" sz="2467" b="0" dirty="0">
                <a:solidFill>
                  <a:srgbClr val="000000"/>
                </a:solidFill>
                <a:effectLst/>
                <a:latin typeface="Consolas" panose="020B0609020204030204" pitchFamily="49" charset="0"/>
              </a:rPr>
              <a:t>$info[</a:t>
            </a:r>
            <a:r>
              <a:rPr lang="en-US" sz="2467" b="0" dirty="0">
                <a:solidFill>
                  <a:srgbClr val="A31515"/>
                </a:solidFill>
                <a:effectLst/>
                <a:latin typeface="Consolas" panose="020B0609020204030204" pitchFamily="49" charset="0"/>
              </a:rPr>
              <a:t>"age"</a:t>
            </a:r>
            <a:r>
              <a:rPr lang="en-US" sz="2467" b="0" dirty="0">
                <a:solidFill>
                  <a:srgbClr val="000000"/>
                </a:solidFill>
                <a:effectLst/>
                <a:latin typeface="Consolas" panose="020B0609020204030204" pitchFamily="49" charset="0"/>
              </a:rPr>
              <a:t>] = </a:t>
            </a:r>
            <a:r>
              <a:rPr lang="en-US" sz="2467" b="0" dirty="0">
                <a:solidFill>
                  <a:srgbClr val="098658"/>
                </a:solidFill>
                <a:effectLst/>
                <a:latin typeface="Consolas" panose="020B0609020204030204" pitchFamily="49" charset="0"/>
              </a:rPr>
              <a:t>20</a:t>
            </a:r>
            <a:r>
              <a:rPr lang="en-US" sz="2467" b="0" dirty="0">
                <a:solidFill>
                  <a:srgbClr val="000000"/>
                </a:solidFill>
                <a:effectLst/>
                <a:latin typeface="Consolas" panose="020B0609020204030204" pitchFamily="49" charset="0"/>
              </a:rPr>
              <a:t>;</a:t>
            </a:r>
          </a:p>
          <a:p>
            <a:pPr marL="761981" lvl="1" indent="0">
              <a:buNone/>
            </a:pPr>
            <a:r>
              <a:rPr lang="en-US" sz="2467" b="0" dirty="0">
                <a:solidFill>
                  <a:srgbClr val="000000"/>
                </a:solidFill>
                <a:effectLst/>
                <a:latin typeface="Consolas" panose="020B0609020204030204" pitchFamily="49" charset="0"/>
              </a:rPr>
              <a:t>$info[</a:t>
            </a:r>
            <a:r>
              <a:rPr lang="en-US" sz="2467" b="0" dirty="0">
                <a:solidFill>
                  <a:srgbClr val="A31515"/>
                </a:solidFill>
                <a:effectLst/>
                <a:latin typeface="Consolas" panose="020B0609020204030204" pitchFamily="49" charset="0"/>
              </a:rPr>
              <a:t>"address"</a:t>
            </a:r>
            <a:r>
              <a:rPr lang="en-US" sz="2467" b="0" dirty="0">
                <a:solidFill>
                  <a:srgbClr val="000000"/>
                </a:solidFill>
                <a:effectLst/>
                <a:latin typeface="Consolas" panose="020B0609020204030204" pitchFamily="49" charset="0"/>
              </a:rPr>
              <a:t>] = </a:t>
            </a:r>
            <a:r>
              <a:rPr lang="en-US" sz="2467" b="0" dirty="0">
                <a:solidFill>
                  <a:srgbClr val="A31515"/>
                </a:solidFill>
                <a:effectLst/>
                <a:latin typeface="Consolas" panose="020B0609020204030204" pitchFamily="49" charset="0"/>
              </a:rPr>
              <a:t>"</a:t>
            </a:r>
            <a:r>
              <a:rPr lang="en-US" sz="2467" b="0" dirty="0" err="1">
                <a:solidFill>
                  <a:srgbClr val="A31515"/>
                </a:solidFill>
                <a:effectLst/>
                <a:latin typeface="Consolas" panose="020B0609020204030204" pitchFamily="49" charset="0"/>
              </a:rPr>
              <a:t>Hodan</a:t>
            </a:r>
            <a:r>
              <a:rPr lang="en-US" sz="2467" b="0" dirty="0">
                <a:solidFill>
                  <a:srgbClr val="A31515"/>
                </a:solidFill>
                <a:effectLst/>
                <a:latin typeface="Consolas" panose="020B0609020204030204" pitchFamily="49" charset="0"/>
              </a:rPr>
              <a:t> District"</a:t>
            </a:r>
            <a:r>
              <a:rPr lang="en-US" sz="2467" b="0" dirty="0">
                <a:solidFill>
                  <a:srgbClr val="000000"/>
                </a:solidFill>
                <a:effectLst/>
                <a:latin typeface="Consolas" panose="020B0609020204030204" pitchFamily="49" charset="0"/>
              </a:rPr>
              <a:t>;</a:t>
            </a:r>
          </a:p>
          <a:p>
            <a:pPr marL="761981" lvl="1" indent="0">
              <a:buNone/>
            </a:pPr>
            <a:r>
              <a:rPr lang="en-US" sz="2467" b="0" dirty="0">
                <a:solidFill>
                  <a:srgbClr val="000000"/>
                </a:solidFill>
                <a:effectLst/>
                <a:latin typeface="Consolas" panose="020B0609020204030204" pitchFamily="49" charset="0"/>
              </a:rPr>
              <a:t>$info[</a:t>
            </a:r>
            <a:r>
              <a:rPr lang="en-US" sz="2467" b="0" dirty="0">
                <a:solidFill>
                  <a:srgbClr val="A31515"/>
                </a:solidFill>
                <a:effectLst/>
                <a:latin typeface="Consolas" panose="020B0609020204030204" pitchFamily="49" charset="0"/>
              </a:rPr>
              <a:t>"status"</a:t>
            </a:r>
            <a:r>
              <a:rPr lang="en-US" sz="2467" b="0" dirty="0">
                <a:solidFill>
                  <a:srgbClr val="000000"/>
                </a:solidFill>
                <a:effectLst/>
                <a:latin typeface="Consolas" panose="020B0609020204030204" pitchFamily="49" charset="0"/>
              </a:rPr>
              <a:t>] = </a:t>
            </a:r>
            <a:r>
              <a:rPr lang="en-US" sz="2467" b="0" dirty="0">
                <a:solidFill>
                  <a:srgbClr val="A31515"/>
                </a:solidFill>
                <a:effectLst/>
                <a:latin typeface="Consolas" panose="020B0609020204030204" pitchFamily="49" charset="0"/>
              </a:rPr>
              <a:t>"single"</a:t>
            </a:r>
            <a:r>
              <a:rPr lang="en-US" sz="2467" b="0" dirty="0">
                <a:solidFill>
                  <a:srgbClr val="000000"/>
                </a:solidFill>
                <a:effectLst/>
                <a:latin typeface="Consolas" panose="020B0609020204030204" pitchFamily="49" charset="0"/>
              </a:rPr>
              <a:t>;</a:t>
            </a:r>
          </a:p>
          <a:p>
            <a:pPr marL="761981" lvl="1" indent="0">
              <a:buNone/>
            </a:pPr>
            <a:r>
              <a:rPr lang="en-US" sz="2467" b="0" dirty="0">
                <a:solidFill>
                  <a:srgbClr val="000000"/>
                </a:solidFill>
                <a:effectLst/>
                <a:latin typeface="Consolas" panose="020B0609020204030204" pitchFamily="49" charset="0"/>
              </a:rPr>
              <a:t>$info[</a:t>
            </a:r>
            <a:r>
              <a:rPr lang="en-US" sz="2467" b="0" dirty="0">
                <a:solidFill>
                  <a:srgbClr val="A31515"/>
                </a:solidFill>
                <a:effectLst/>
                <a:latin typeface="Consolas" panose="020B0609020204030204" pitchFamily="49" charset="0"/>
              </a:rPr>
              <a:t>"weight"</a:t>
            </a:r>
            <a:r>
              <a:rPr lang="en-US" sz="2467" b="0" dirty="0">
                <a:solidFill>
                  <a:srgbClr val="000000"/>
                </a:solidFill>
                <a:effectLst/>
                <a:latin typeface="Consolas" panose="020B0609020204030204" pitchFamily="49" charset="0"/>
              </a:rPr>
              <a:t>] =  </a:t>
            </a:r>
            <a:r>
              <a:rPr lang="en-US" sz="2467" b="0" dirty="0">
                <a:solidFill>
                  <a:srgbClr val="098658"/>
                </a:solidFill>
                <a:effectLst/>
                <a:latin typeface="Consolas" panose="020B0609020204030204" pitchFamily="49" charset="0"/>
              </a:rPr>
              <a:t>160.5</a:t>
            </a:r>
            <a:r>
              <a:rPr lang="en-US" sz="2467" b="0" dirty="0">
                <a:solidFill>
                  <a:srgbClr val="000000"/>
                </a:solidFill>
                <a:effectLst/>
                <a:latin typeface="Consolas" panose="020B0609020204030204" pitchFamily="49" charset="0"/>
              </a:rPr>
              <a:t>;</a:t>
            </a:r>
          </a:p>
          <a:p>
            <a:pPr marL="457200" lvl="1" indent="0">
              <a:buNone/>
            </a:pPr>
            <a:r>
              <a:rPr lang="en-PK" sz="2800" dirty="0"/>
              <a:t>?&gt;</a:t>
            </a:r>
          </a:p>
        </p:txBody>
      </p:sp>
      <p:sp>
        <p:nvSpPr>
          <p:cNvPr id="4" name="Slide Number Placeholder 3">
            <a:extLst>
              <a:ext uri="{FF2B5EF4-FFF2-40B4-BE49-F238E27FC236}">
                <a16:creationId xmlns:a16="http://schemas.microsoft.com/office/drawing/2014/main" id="{7A99E689-3605-4004-B916-C11F97529FE1}"/>
              </a:ext>
            </a:extLst>
          </p:cNvPr>
          <p:cNvSpPr>
            <a:spLocks noGrp="1"/>
          </p:cNvSpPr>
          <p:nvPr>
            <p:ph type="sldNum" idx="12"/>
          </p:nvPr>
        </p:nvSpPr>
        <p:spPr/>
        <p:txBody>
          <a:bodyPr/>
          <a:lstStyle/>
          <a:p>
            <a:fld id="{FA6D1DC9-C721-4D5F-A7A1-DF55DAF8C7D9}" type="slidenum">
              <a:rPr lang="en-US" smtClean="0"/>
              <a:t>13</a:t>
            </a:fld>
            <a:endParaRPr lang="en-US"/>
          </a:p>
        </p:txBody>
      </p:sp>
      <p:sp>
        <p:nvSpPr>
          <p:cNvPr id="6" name="Rectangle 5">
            <a:extLst>
              <a:ext uri="{FF2B5EF4-FFF2-40B4-BE49-F238E27FC236}">
                <a16:creationId xmlns:a16="http://schemas.microsoft.com/office/drawing/2014/main" id="{CD421E2B-D5EC-00D3-72C7-A179C4A0C0F9}"/>
              </a:ext>
            </a:extLst>
          </p:cNvPr>
          <p:cNvSpPr/>
          <p:nvPr/>
        </p:nvSpPr>
        <p:spPr>
          <a:xfrm>
            <a:off x="0" y="0"/>
            <a:ext cx="12192000" cy="113552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8" name="TextBox 7">
            <a:extLst>
              <a:ext uri="{FF2B5EF4-FFF2-40B4-BE49-F238E27FC236}">
                <a16:creationId xmlns:a16="http://schemas.microsoft.com/office/drawing/2014/main" id="{450F69B1-ABB6-AA24-D62F-33048A9FD2DE}"/>
              </a:ext>
            </a:extLst>
          </p:cNvPr>
          <p:cNvSpPr txBox="1"/>
          <p:nvPr/>
        </p:nvSpPr>
        <p:spPr>
          <a:xfrm>
            <a:off x="95009" y="228928"/>
            <a:ext cx="8634923" cy="646331"/>
          </a:xfrm>
          <a:prstGeom prst="rect">
            <a:avLst/>
          </a:prstGeom>
          <a:noFill/>
        </p:spPr>
        <p:txBody>
          <a:bodyPr wrap="square" rtlCol="0">
            <a:spAutoFit/>
          </a:bodyPr>
          <a:lstStyle/>
          <a:p>
            <a:r>
              <a:rPr lang="en-US" sz="3600" b="1" kern="1200" spc="-5" dirty="0">
                <a:solidFill>
                  <a:srgbClr val="FFC000"/>
                </a:solidFill>
                <a:latin typeface="Calibri" panose="020F0502020204030204"/>
                <a:ea typeface="+mn-ea"/>
                <a:cs typeface="+mn-cs"/>
              </a:rPr>
              <a:t>Associative Arrays</a:t>
            </a:r>
          </a:p>
        </p:txBody>
      </p:sp>
      <p:pic>
        <p:nvPicPr>
          <p:cNvPr id="10" name="object 3">
            <a:extLst>
              <a:ext uri="{FF2B5EF4-FFF2-40B4-BE49-F238E27FC236}">
                <a16:creationId xmlns:a16="http://schemas.microsoft.com/office/drawing/2014/main" id="{056E71D5-9B64-EAA9-A07E-C195271BCF61}"/>
              </a:ext>
            </a:extLst>
          </p:cNvPr>
          <p:cNvPicPr/>
          <p:nvPr/>
        </p:nvPicPr>
        <p:blipFill>
          <a:blip r:embed="rId2" cstate="print"/>
          <a:stretch>
            <a:fillRect/>
          </a:stretch>
        </p:blipFill>
        <p:spPr>
          <a:xfrm>
            <a:off x="11007176" y="103356"/>
            <a:ext cx="1029430" cy="1020942"/>
          </a:xfrm>
          <a:prstGeom prst="ellipse">
            <a:avLst/>
          </a:prstGeom>
          <a:ln>
            <a:noFill/>
          </a:ln>
          <a:effectLst>
            <a:softEdge rad="112500"/>
          </a:effectLst>
        </p:spPr>
      </p:pic>
    </p:spTree>
    <p:extLst>
      <p:ext uri="{BB962C8B-B14F-4D97-AF65-F5344CB8AC3E}">
        <p14:creationId xmlns:p14="http://schemas.microsoft.com/office/powerpoint/2010/main" val="100263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0" y="1124298"/>
            <a:ext cx="12192000" cy="5618125"/>
          </a:xfrm>
        </p:spPr>
        <p:txBody>
          <a:bodyPr>
            <a:normAutofit lnSpcReduction="10000"/>
          </a:bodyPr>
          <a:lstStyle/>
          <a:p>
            <a:r>
              <a:rPr lang="en-US" sz="2400" b="1" dirty="0">
                <a:solidFill>
                  <a:srgbClr val="0070C0"/>
                </a:solidFill>
              </a:rPr>
              <a:t>Note:</a:t>
            </a:r>
            <a:r>
              <a:rPr lang="en-US" sz="2400" dirty="0"/>
              <a:t> Make sure to include quotation marks if you’re using a associative (string) as an array index. You can use </a:t>
            </a:r>
            <a:r>
              <a:rPr lang="en-US" sz="2400" b="1" dirty="0">
                <a:solidFill>
                  <a:srgbClr val="0070C0"/>
                </a:solidFill>
              </a:rPr>
              <a:t>single or double quotes </a:t>
            </a:r>
            <a:r>
              <a:rPr lang="en-US" sz="2400" dirty="0"/>
              <a:t>in the indexes as well as values.</a:t>
            </a:r>
          </a:p>
          <a:p>
            <a:r>
              <a:rPr lang="en-US" sz="2400" dirty="0"/>
              <a:t>Printing array elements:</a:t>
            </a:r>
          </a:p>
          <a:p>
            <a:pPr>
              <a:lnSpc>
                <a:spcPct val="113333"/>
              </a:lnSpc>
              <a:buNone/>
            </a:pPr>
            <a:r>
              <a:rPr lang="en-US" dirty="0">
                <a:solidFill>
                  <a:srgbClr val="000000"/>
                </a:solidFill>
                <a:latin typeface="Consolas" panose="020B0609020204030204" pitchFamily="49" charset="0"/>
              </a:rPr>
              <a:t>echo </a:t>
            </a:r>
            <a:r>
              <a:rPr lang="en-US" dirty="0">
                <a:solidFill>
                  <a:srgbClr val="A31515"/>
                </a:solidFill>
                <a:latin typeface="Consolas" panose="020B0609020204030204" pitchFamily="49" charset="0"/>
              </a:rPr>
              <a:t>"Associative array elements are:&lt;</a:t>
            </a:r>
            <a:r>
              <a:rPr lang="en-US" dirty="0" err="1">
                <a:solidFill>
                  <a:srgbClr val="A31515"/>
                </a:solidFill>
                <a:latin typeface="Consolas" panose="020B0609020204030204" pitchFamily="49" charset="0"/>
              </a:rPr>
              <a:t>br</a:t>
            </a:r>
            <a:r>
              <a:rPr lang="en-US" dirty="0">
                <a:solidFill>
                  <a:srgbClr val="A31515"/>
                </a:solidFill>
                <a:latin typeface="Consolas" panose="020B0609020204030204" pitchFamily="49" charset="0"/>
              </a:rPr>
              <a:t>&gt;"</a:t>
            </a:r>
            <a:r>
              <a:rPr lang="en-US" dirty="0">
                <a:solidFill>
                  <a:srgbClr val="000000"/>
                </a:solidFill>
                <a:latin typeface="Consolas" panose="020B0609020204030204" pitchFamily="49" charset="0"/>
              </a:rPr>
              <a:t>;</a:t>
            </a:r>
          </a:p>
          <a:p>
            <a:pPr>
              <a:lnSpc>
                <a:spcPct val="113333"/>
              </a:lnSpc>
              <a:buNone/>
            </a:pPr>
            <a:r>
              <a:rPr lang="en-US" dirty="0">
                <a:solidFill>
                  <a:srgbClr val="0000FF"/>
                </a:solidFill>
                <a:latin typeface="Consolas" panose="020B0609020204030204" pitchFamily="49" charset="0"/>
              </a:rPr>
              <a:t>foreach</a:t>
            </a:r>
            <a:r>
              <a:rPr lang="en-US" dirty="0">
                <a:solidFill>
                  <a:srgbClr val="000000"/>
                </a:solidFill>
                <a:latin typeface="Consolas" panose="020B0609020204030204" pitchFamily="49" charset="0"/>
              </a:rPr>
              <a:t> ($info as $a)</a:t>
            </a:r>
          </a:p>
          <a:p>
            <a:pPr>
              <a:lnSpc>
                <a:spcPct val="113333"/>
              </a:lnSpc>
              <a:buNone/>
            </a:pPr>
            <a:r>
              <a:rPr lang="en-US" dirty="0">
                <a:solidFill>
                  <a:srgbClr val="000000"/>
                </a:solidFill>
                <a:latin typeface="Consolas" panose="020B0609020204030204" pitchFamily="49" charset="0"/>
              </a:rPr>
              <a:t>    echo (</a:t>
            </a:r>
            <a:r>
              <a:rPr lang="en-US" dirty="0">
                <a:solidFill>
                  <a:srgbClr val="A31515"/>
                </a:solidFill>
                <a:latin typeface="Consolas" panose="020B0609020204030204" pitchFamily="49" charset="0"/>
              </a:rPr>
              <a:t>"$a&lt;</a:t>
            </a:r>
            <a:r>
              <a:rPr lang="en-US" dirty="0" err="1">
                <a:solidFill>
                  <a:srgbClr val="A31515"/>
                </a:solidFill>
                <a:latin typeface="Consolas" panose="020B0609020204030204" pitchFamily="49" charset="0"/>
              </a:rPr>
              <a:t>br</a:t>
            </a:r>
            <a:r>
              <a:rPr lang="en-US" dirty="0">
                <a:solidFill>
                  <a:srgbClr val="A31515"/>
                </a:solidFill>
                <a:latin typeface="Consolas" panose="020B0609020204030204" pitchFamily="49" charset="0"/>
              </a:rPr>
              <a:t>&gt;"</a:t>
            </a:r>
            <a:r>
              <a:rPr lang="en-US" dirty="0">
                <a:solidFill>
                  <a:srgbClr val="000000"/>
                </a:solidFill>
                <a:latin typeface="Consolas" panose="020B0609020204030204" pitchFamily="49" charset="0"/>
              </a:rPr>
              <a:t>);</a:t>
            </a:r>
          </a:p>
          <a:p>
            <a:pPr>
              <a:lnSpc>
                <a:spcPct val="113333"/>
              </a:lnSpc>
              <a:buNone/>
            </a:pPr>
            <a:endParaRPr lang="en-US" sz="1400" dirty="0">
              <a:solidFill>
                <a:srgbClr val="000000"/>
              </a:solidFill>
              <a:latin typeface="Consolas" panose="020B0609020204030204" pitchFamily="49" charset="0"/>
            </a:endParaRPr>
          </a:p>
          <a:p>
            <a:pPr>
              <a:lnSpc>
                <a:spcPct val="113333"/>
              </a:lnSpc>
              <a:buNone/>
            </a:pPr>
            <a:endParaRPr lang="en-US" sz="1400" dirty="0">
              <a:solidFill>
                <a:srgbClr val="000000"/>
              </a:solidFill>
              <a:latin typeface="Consolas" panose="020B0609020204030204" pitchFamily="49" charset="0"/>
            </a:endParaRPr>
          </a:p>
          <a:p>
            <a:pPr>
              <a:lnSpc>
                <a:spcPct val="113333"/>
              </a:lnSpc>
              <a:buNone/>
            </a:pPr>
            <a:endParaRPr lang="en-US" sz="1400" dirty="0">
              <a:solidFill>
                <a:srgbClr val="000000"/>
              </a:solidFill>
              <a:latin typeface="Consolas" panose="020B0609020204030204" pitchFamily="49" charset="0"/>
            </a:endParaRPr>
          </a:p>
          <a:p>
            <a:pPr>
              <a:lnSpc>
                <a:spcPct val="113333"/>
              </a:lnSpc>
              <a:buNone/>
            </a:pPr>
            <a:endParaRPr lang="en-US" sz="1400" dirty="0">
              <a:solidFill>
                <a:srgbClr val="000000"/>
              </a:solidFill>
              <a:latin typeface="Consolas" panose="020B0609020204030204" pitchFamily="49" charset="0"/>
            </a:endParaRPr>
          </a:p>
          <a:p>
            <a:pPr>
              <a:lnSpc>
                <a:spcPct val="113333"/>
              </a:lnSpc>
              <a:buNone/>
            </a:pPr>
            <a:endParaRPr lang="en-US" sz="1400" dirty="0">
              <a:solidFill>
                <a:srgbClr val="000000"/>
              </a:solidFill>
              <a:latin typeface="Consolas" panose="020B0609020204030204" pitchFamily="49" charset="0"/>
            </a:endParaRPr>
          </a:p>
          <a:p>
            <a:r>
              <a:rPr lang="en-US" sz="2400" dirty="0"/>
              <a:t>Use </a:t>
            </a:r>
            <a:r>
              <a:rPr lang="en-US" sz="2000" b="1" dirty="0">
                <a:solidFill>
                  <a:srgbClr val="0070C0"/>
                </a:solidFill>
              </a:rPr>
              <a:t>double arrow operator (=&gt;) </a:t>
            </a:r>
            <a:r>
              <a:rPr lang="en-US" sz="2400" dirty="0"/>
              <a:t>to access string index as well as the element.</a:t>
            </a:r>
          </a:p>
          <a:p>
            <a:pPr>
              <a:lnSpc>
                <a:spcPct val="113333"/>
              </a:lnSpc>
              <a:buNone/>
            </a:pPr>
            <a:r>
              <a:rPr lang="en-US" sz="2400" dirty="0">
                <a:solidFill>
                  <a:srgbClr val="000000"/>
                </a:solidFill>
                <a:latin typeface="Consolas" panose="020B0609020204030204" pitchFamily="49" charset="0"/>
              </a:rPr>
              <a:t>echo (</a:t>
            </a:r>
            <a:r>
              <a:rPr lang="en-US" sz="2400" dirty="0">
                <a:solidFill>
                  <a:srgbClr val="A31515"/>
                </a:solidFill>
                <a:latin typeface="Consolas" panose="020B0609020204030204" pitchFamily="49" charset="0"/>
              </a:rPr>
              <a:t>"Printing array key/value pairs:&lt;</a:t>
            </a:r>
            <a:r>
              <a:rPr lang="en-US" sz="2400" dirty="0" err="1">
                <a:solidFill>
                  <a:srgbClr val="A31515"/>
                </a:solidFill>
                <a:latin typeface="Consolas" panose="020B0609020204030204" pitchFamily="49" charset="0"/>
              </a:rPr>
              <a:t>br</a:t>
            </a:r>
            <a:r>
              <a:rPr lang="en-US" sz="2400" dirty="0">
                <a:solidFill>
                  <a:srgbClr val="A31515"/>
                </a:solidFill>
                <a:latin typeface="Consolas" panose="020B0609020204030204" pitchFamily="49" charset="0"/>
              </a:rPr>
              <a:t>&gt;"</a:t>
            </a:r>
            <a:r>
              <a:rPr lang="en-US" sz="2400" dirty="0">
                <a:solidFill>
                  <a:srgbClr val="000000"/>
                </a:solidFill>
                <a:latin typeface="Consolas" panose="020B0609020204030204" pitchFamily="49" charset="0"/>
              </a:rPr>
              <a:t>);</a:t>
            </a:r>
          </a:p>
          <a:p>
            <a:pPr>
              <a:lnSpc>
                <a:spcPct val="113333"/>
              </a:lnSpc>
              <a:buNone/>
            </a:pPr>
            <a:r>
              <a:rPr lang="en-US" sz="2400" dirty="0">
                <a:solidFill>
                  <a:srgbClr val="0000FF"/>
                </a:solidFill>
                <a:latin typeface="Consolas" panose="020B0609020204030204" pitchFamily="49" charset="0"/>
              </a:rPr>
              <a:t>foreach</a:t>
            </a:r>
            <a:r>
              <a:rPr lang="en-US" sz="2400" dirty="0">
                <a:solidFill>
                  <a:srgbClr val="000000"/>
                </a:solidFill>
                <a:latin typeface="Consolas" panose="020B0609020204030204" pitchFamily="49" charset="0"/>
              </a:rPr>
              <a:t> ($info as $k =&gt; $v)</a:t>
            </a:r>
          </a:p>
          <a:p>
            <a:pPr>
              <a:lnSpc>
                <a:spcPct val="113333"/>
              </a:lnSpc>
              <a:buNone/>
            </a:pPr>
            <a:r>
              <a:rPr lang="en-US" sz="2400" dirty="0">
                <a:solidFill>
                  <a:srgbClr val="000000"/>
                </a:solidFill>
                <a:latin typeface="Consolas" panose="020B0609020204030204" pitchFamily="49" charset="0"/>
              </a:rPr>
              <a:t>    echo (</a:t>
            </a:r>
            <a:r>
              <a:rPr lang="en-US" sz="2400" dirty="0">
                <a:solidFill>
                  <a:srgbClr val="A31515"/>
                </a:solidFill>
                <a:latin typeface="Consolas" panose="020B0609020204030204" pitchFamily="49" charset="0"/>
              </a:rPr>
              <a:t>"[$k]: $v&lt;</a:t>
            </a:r>
            <a:r>
              <a:rPr lang="en-US" sz="2400" dirty="0" err="1">
                <a:solidFill>
                  <a:srgbClr val="A31515"/>
                </a:solidFill>
                <a:latin typeface="Consolas" panose="020B0609020204030204" pitchFamily="49" charset="0"/>
              </a:rPr>
              <a:t>br</a:t>
            </a:r>
            <a:r>
              <a:rPr lang="en-US" sz="2400" dirty="0">
                <a:solidFill>
                  <a:srgbClr val="A31515"/>
                </a:solidFill>
                <a:latin typeface="Consolas" panose="020B0609020204030204" pitchFamily="49" charset="0"/>
              </a:rPr>
              <a:t>&gt;"</a:t>
            </a:r>
            <a:r>
              <a:rPr lang="en-US" sz="2400" dirty="0">
                <a:solidFill>
                  <a:srgbClr val="000000"/>
                </a:solidFill>
                <a:latin typeface="Consolas" panose="020B0609020204030204" pitchFamily="49" charset="0"/>
              </a:rPr>
              <a:t>);</a:t>
            </a:r>
          </a:p>
          <a:p>
            <a:pPr marL="0" indent="0">
              <a:buNone/>
            </a:pPr>
            <a:endParaRPr lang="en-US" sz="2400" dirty="0">
              <a:solidFill>
                <a:srgbClr val="0070C0"/>
              </a:solidFill>
            </a:endParaRPr>
          </a:p>
        </p:txBody>
      </p:sp>
      <p:sp>
        <p:nvSpPr>
          <p:cNvPr id="4" name="Slide Number Placeholder 3"/>
          <p:cNvSpPr>
            <a:spLocks noGrp="1"/>
          </p:cNvSpPr>
          <p:nvPr>
            <p:ph type="sldNum" idx="12"/>
          </p:nvPr>
        </p:nvSpPr>
        <p:spPr/>
        <p:txBody>
          <a:bodyPr/>
          <a:lstStyle/>
          <a:p>
            <a:pPr>
              <a:defRPr/>
            </a:pPr>
            <a:fld id="{1DFD1671-737C-44E1-8E5C-EC48A34B655F}" type="slidenum">
              <a:rPr lang="en-US" smtClean="0"/>
              <a:pPr>
                <a:defRPr/>
              </a:pPr>
              <a:t>14</a:t>
            </a:fld>
            <a:endParaRPr lang="en-US"/>
          </a:p>
        </p:txBody>
      </p:sp>
      <p:sp>
        <p:nvSpPr>
          <p:cNvPr id="5" name="Rectangle 4">
            <a:extLst>
              <a:ext uri="{FF2B5EF4-FFF2-40B4-BE49-F238E27FC236}">
                <a16:creationId xmlns:a16="http://schemas.microsoft.com/office/drawing/2014/main" id="{570AB9CC-2875-65AF-D878-3EF03CA4B8BC}"/>
              </a:ext>
            </a:extLst>
          </p:cNvPr>
          <p:cNvSpPr/>
          <p:nvPr/>
        </p:nvSpPr>
        <p:spPr>
          <a:xfrm>
            <a:off x="5765322" y="2415249"/>
            <a:ext cx="6426678" cy="2027501"/>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solidFill>
                  <a:schemeClr val="tx1"/>
                </a:solidFill>
              </a:rPr>
              <a:t>Output:</a:t>
            </a:r>
            <a:endParaRPr lang="en-US" sz="2800" dirty="0">
              <a:solidFill>
                <a:schemeClr val="tx1"/>
              </a:solidFill>
            </a:endParaRPr>
          </a:p>
          <a:p>
            <a:r>
              <a:rPr lang="en-US" sz="2800" dirty="0">
                <a:solidFill>
                  <a:srgbClr val="C00000"/>
                </a:solidFill>
              </a:rPr>
              <a:t>Associative array elements are:</a:t>
            </a:r>
          </a:p>
          <a:p>
            <a:pPr marL="0" indent="0">
              <a:buNone/>
            </a:pPr>
            <a:r>
              <a:rPr lang="en-US" sz="2800" dirty="0">
                <a:solidFill>
                  <a:srgbClr val="C00000"/>
                </a:solidFill>
              </a:rPr>
              <a:t>101, Mohamed Abdi Ali, 20, </a:t>
            </a:r>
            <a:r>
              <a:rPr lang="en-US" sz="2800" dirty="0" err="1">
                <a:solidFill>
                  <a:srgbClr val="C00000"/>
                </a:solidFill>
              </a:rPr>
              <a:t>Hodan</a:t>
            </a:r>
            <a:r>
              <a:rPr lang="en-US" sz="2800" dirty="0">
                <a:solidFill>
                  <a:srgbClr val="C00000"/>
                </a:solidFill>
              </a:rPr>
              <a:t> District, single, 160.5,</a:t>
            </a:r>
            <a:endParaRPr lang="en-US" sz="3200" dirty="0">
              <a:solidFill>
                <a:srgbClr val="C00000"/>
              </a:solidFill>
            </a:endParaRPr>
          </a:p>
        </p:txBody>
      </p:sp>
      <p:sp>
        <p:nvSpPr>
          <p:cNvPr id="7" name="Rectangle 6">
            <a:extLst>
              <a:ext uri="{FF2B5EF4-FFF2-40B4-BE49-F238E27FC236}">
                <a16:creationId xmlns:a16="http://schemas.microsoft.com/office/drawing/2014/main" id="{CB80646C-A97B-9D28-027C-E2EE764C1D5E}"/>
              </a:ext>
            </a:extLst>
          </p:cNvPr>
          <p:cNvSpPr/>
          <p:nvPr/>
        </p:nvSpPr>
        <p:spPr>
          <a:xfrm>
            <a:off x="0" y="0"/>
            <a:ext cx="12192000" cy="113552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9" name="TextBox 8">
            <a:extLst>
              <a:ext uri="{FF2B5EF4-FFF2-40B4-BE49-F238E27FC236}">
                <a16:creationId xmlns:a16="http://schemas.microsoft.com/office/drawing/2014/main" id="{30E17CD3-C55C-5FDB-DE8F-72691D608063}"/>
              </a:ext>
            </a:extLst>
          </p:cNvPr>
          <p:cNvSpPr txBox="1"/>
          <p:nvPr/>
        </p:nvSpPr>
        <p:spPr>
          <a:xfrm>
            <a:off x="95009" y="228928"/>
            <a:ext cx="8634923" cy="646331"/>
          </a:xfrm>
          <a:prstGeom prst="rect">
            <a:avLst/>
          </a:prstGeom>
          <a:noFill/>
        </p:spPr>
        <p:txBody>
          <a:bodyPr wrap="square" rtlCol="0">
            <a:spAutoFit/>
          </a:bodyPr>
          <a:lstStyle/>
          <a:p>
            <a:r>
              <a:rPr lang="en-US" sz="3600" b="1" kern="1200" spc="-5" dirty="0">
                <a:solidFill>
                  <a:srgbClr val="FFC000"/>
                </a:solidFill>
                <a:latin typeface="Calibri" panose="020F0502020204030204"/>
                <a:ea typeface="+mn-ea"/>
                <a:cs typeface="+mn-cs"/>
              </a:rPr>
              <a:t>Associative Arrays</a:t>
            </a:r>
          </a:p>
        </p:txBody>
      </p:sp>
      <p:pic>
        <p:nvPicPr>
          <p:cNvPr id="11" name="object 3">
            <a:extLst>
              <a:ext uri="{FF2B5EF4-FFF2-40B4-BE49-F238E27FC236}">
                <a16:creationId xmlns:a16="http://schemas.microsoft.com/office/drawing/2014/main" id="{4944FE00-A008-A2A2-74DB-6796F11B2C5C}"/>
              </a:ext>
            </a:extLst>
          </p:cNvPr>
          <p:cNvPicPr/>
          <p:nvPr/>
        </p:nvPicPr>
        <p:blipFill>
          <a:blip r:embed="rId2" cstate="print"/>
          <a:stretch>
            <a:fillRect/>
          </a:stretch>
        </p:blipFill>
        <p:spPr>
          <a:xfrm>
            <a:off x="11007176" y="103356"/>
            <a:ext cx="1029430" cy="1020942"/>
          </a:xfrm>
          <a:prstGeom prst="ellipse">
            <a:avLst/>
          </a:prstGeom>
          <a:ln>
            <a:noFill/>
          </a:ln>
          <a:effectLst>
            <a:softEdge rad="112500"/>
          </a:effectLst>
        </p:spPr>
      </p:pic>
      <p:pic>
        <p:nvPicPr>
          <p:cNvPr id="15" name="Picture 14">
            <a:extLst>
              <a:ext uri="{FF2B5EF4-FFF2-40B4-BE49-F238E27FC236}">
                <a16:creationId xmlns:a16="http://schemas.microsoft.com/office/drawing/2014/main" id="{0002A075-E779-6E9D-C49F-674845C787C7}"/>
              </a:ext>
            </a:extLst>
          </p:cNvPr>
          <p:cNvPicPr>
            <a:picLocks noChangeAspect="1"/>
          </p:cNvPicPr>
          <p:nvPr/>
        </p:nvPicPr>
        <p:blipFill>
          <a:blip r:embed="rId3"/>
          <a:stretch>
            <a:fillRect/>
          </a:stretch>
        </p:blipFill>
        <p:spPr>
          <a:xfrm>
            <a:off x="9119672" y="5135436"/>
            <a:ext cx="2267067" cy="1435174"/>
          </a:xfrm>
          <a:prstGeom prst="rect">
            <a:avLst/>
          </a:prstGeom>
        </p:spPr>
      </p:pic>
    </p:spTree>
    <p:extLst>
      <p:ext uri="{BB962C8B-B14F-4D97-AF65-F5344CB8AC3E}">
        <p14:creationId xmlns:p14="http://schemas.microsoft.com/office/powerpoint/2010/main" val="3261389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0" y="1164273"/>
            <a:ext cx="12192000" cy="5464800"/>
          </a:xfrm>
        </p:spPr>
        <p:txBody>
          <a:bodyPr>
            <a:normAutofit fontScale="85000" lnSpcReduction="20000"/>
          </a:bodyPr>
          <a:lstStyle/>
          <a:p>
            <a:r>
              <a:rPr lang="en-US" altLang="en-US" sz="2000" dirty="0"/>
              <a:t>Multidimensional array is the ability to </a:t>
            </a:r>
            <a:r>
              <a:rPr lang="en-US" altLang="en-US" sz="2000" dirty="0">
                <a:solidFill>
                  <a:srgbClr val="0070C0"/>
                </a:solidFill>
              </a:rPr>
              <a:t>include an entire array as a part of another one</a:t>
            </a:r>
            <a:r>
              <a:rPr lang="en-US" altLang="en-US" sz="2000" dirty="0"/>
              <a:t>, and to be able to keep doing so.</a:t>
            </a:r>
          </a:p>
          <a:p>
            <a:r>
              <a:rPr lang="en-US" altLang="en-US" sz="2000" dirty="0"/>
              <a:t>A two-dimensional array is </a:t>
            </a:r>
            <a:r>
              <a:rPr lang="en-US" altLang="en-US" sz="2000" dirty="0">
                <a:solidFill>
                  <a:srgbClr val="0070C0"/>
                </a:solidFill>
              </a:rPr>
              <a:t>an array </a:t>
            </a:r>
            <a:r>
              <a:rPr lang="en-US" altLang="en-US" sz="2000" dirty="0">
                <a:solidFill>
                  <a:srgbClr val="C00000"/>
                </a:solidFill>
              </a:rPr>
              <a:t>of array </a:t>
            </a:r>
            <a:r>
              <a:rPr lang="en-US" altLang="en-US" sz="2000" dirty="0"/>
              <a:t>(a three-dimensional array is </a:t>
            </a:r>
            <a:r>
              <a:rPr lang="en-US" altLang="en-US" sz="2000" dirty="0">
                <a:solidFill>
                  <a:srgbClr val="0070C0"/>
                </a:solidFill>
              </a:rPr>
              <a:t>an array </a:t>
            </a:r>
            <a:r>
              <a:rPr lang="en-US" altLang="en-US" sz="2000" dirty="0">
                <a:solidFill>
                  <a:srgbClr val="C00000"/>
                </a:solidFill>
              </a:rPr>
              <a:t>of array </a:t>
            </a:r>
            <a:r>
              <a:rPr lang="en-US" altLang="en-US" sz="2000" dirty="0">
                <a:solidFill>
                  <a:srgbClr val="00B050"/>
                </a:solidFill>
              </a:rPr>
              <a:t>of array</a:t>
            </a:r>
            <a:r>
              <a:rPr lang="en-US" altLang="en-US" sz="2000" dirty="0"/>
              <a:t>). </a:t>
            </a:r>
          </a:p>
          <a:p>
            <a:r>
              <a:rPr lang="en-US" altLang="en-US" sz="2000" dirty="0"/>
              <a:t>Multidimensional arrays are used when your data is arranged in some sort of tabular form.</a:t>
            </a:r>
          </a:p>
          <a:p>
            <a:r>
              <a:rPr lang="en-US" altLang="en-US" sz="2000" dirty="0"/>
              <a:t>Multidimensional arrays are set up in the same way as normal arrays. </a:t>
            </a:r>
            <a:r>
              <a:rPr lang="en-US" altLang="en-US" sz="2000" dirty="0">
                <a:solidFill>
                  <a:srgbClr val="0070C0"/>
                </a:solidFill>
              </a:rPr>
              <a:t>Note that the dimension of an array indicates the number of indices you need to select an element.</a:t>
            </a:r>
          </a:p>
          <a:p>
            <a:r>
              <a:rPr lang="en-US" altLang="en-US" sz="2000" b="1" dirty="0"/>
              <a:t>Two-dimensional Numerical Indexed Array</a:t>
            </a:r>
          </a:p>
          <a:p>
            <a:pPr>
              <a:lnSpc>
                <a:spcPct val="113333"/>
              </a:lnSpc>
              <a:buNone/>
            </a:pPr>
            <a:r>
              <a:rPr lang="en-US" sz="2000" dirty="0">
                <a:solidFill>
                  <a:srgbClr val="000000"/>
                </a:solidFill>
                <a:latin typeface="Consolas" panose="020B0609020204030204" pitchFamily="49" charset="0"/>
              </a:rPr>
              <a:t>$student = array (</a:t>
            </a:r>
          </a:p>
          <a:p>
            <a:pPr>
              <a:lnSpc>
                <a:spcPct val="113333"/>
              </a:lnSpc>
              <a:buNone/>
            </a:pPr>
            <a:r>
              <a:rPr lang="en-US" sz="2000" dirty="0">
                <a:solidFill>
                  <a:srgbClr val="000000"/>
                </a:solidFill>
                <a:latin typeface="Consolas" panose="020B0609020204030204" pitchFamily="49" charset="0"/>
              </a:rPr>
              <a:t>                array (</a:t>
            </a:r>
            <a:r>
              <a:rPr lang="en-US" sz="2000" dirty="0">
                <a:solidFill>
                  <a:srgbClr val="A31515"/>
                </a:solidFill>
                <a:latin typeface="Consolas" panose="020B0609020204030204" pitchFamily="49" charset="0"/>
              </a:rPr>
              <a:t>"Mohamed"</a:t>
            </a:r>
            <a:r>
              <a:rPr lang="en-US" sz="2000" dirty="0">
                <a:solidFill>
                  <a:srgbClr val="000000"/>
                </a:solidFill>
                <a:latin typeface="Consolas" panose="020B0609020204030204" pitchFamily="49" charset="0"/>
              </a:rPr>
              <a:t>, </a:t>
            </a:r>
            <a:r>
              <a:rPr lang="en-US" sz="2000" dirty="0">
                <a:solidFill>
                  <a:srgbClr val="098658"/>
                </a:solidFill>
                <a:latin typeface="Consolas" panose="020B0609020204030204" pitchFamily="49" charset="0"/>
              </a:rPr>
              <a:t>1990</a:t>
            </a:r>
            <a:r>
              <a:rPr lang="en-US" sz="2000" dirty="0">
                <a:solidFill>
                  <a:srgbClr val="000000"/>
                </a:solidFill>
                <a:latin typeface="Consolas" panose="020B0609020204030204" pitchFamily="49" charset="0"/>
              </a:rPr>
              <a:t>, </a:t>
            </a:r>
            <a:r>
              <a:rPr lang="en-US" sz="2000" dirty="0">
                <a:solidFill>
                  <a:srgbClr val="A31515"/>
                </a:solidFill>
                <a:latin typeface="Consolas" panose="020B0609020204030204" pitchFamily="49" charset="0"/>
              </a:rPr>
              <a:t>"Hodan"</a:t>
            </a:r>
            <a:r>
              <a:rPr lang="en-US" sz="2000" dirty="0">
                <a:solidFill>
                  <a:srgbClr val="000000"/>
                </a:solidFill>
                <a:latin typeface="Consolas" panose="020B0609020204030204" pitchFamily="49" charset="0"/>
              </a:rPr>
              <a:t>, </a:t>
            </a:r>
            <a:r>
              <a:rPr lang="en-US" sz="2000" dirty="0">
                <a:solidFill>
                  <a:srgbClr val="A31515"/>
                </a:solidFill>
                <a:latin typeface="Consolas" panose="020B0609020204030204" pitchFamily="49" charset="0"/>
              </a:rPr>
              <a:t>"0608124390"</a:t>
            </a:r>
            <a:r>
              <a:rPr lang="en-US" sz="2000" dirty="0">
                <a:solidFill>
                  <a:srgbClr val="000000"/>
                </a:solidFill>
                <a:latin typeface="Consolas" panose="020B0609020204030204" pitchFamily="49" charset="0"/>
              </a:rPr>
              <a:t>),</a:t>
            </a:r>
          </a:p>
          <a:p>
            <a:pPr>
              <a:lnSpc>
                <a:spcPct val="113333"/>
              </a:lnSpc>
              <a:buNone/>
            </a:pPr>
            <a:r>
              <a:rPr lang="en-US" sz="2000" dirty="0">
                <a:solidFill>
                  <a:srgbClr val="000000"/>
                </a:solidFill>
                <a:latin typeface="Consolas" panose="020B0609020204030204" pitchFamily="49" charset="0"/>
              </a:rPr>
              <a:t>                array (</a:t>
            </a:r>
            <a:r>
              <a:rPr lang="en-US" sz="2000" dirty="0">
                <a:solidFill>
                  <a:srgbClr val="A31515"/>
                </a:solidFill>
                <a:latin typeface="Consolas" panose="020B0609020204030204" pitchFamily="49" charset="0"/>
              </a:rPr>
              <a:t>"Ahmed"</a:t>
            </a:r>
            <a:r>
              <a:rPr lang="en-US" sz="2000" dirty="0">
                <a:solidFill>
                  <a:srgbClr val="000000"/>
                </a:solidFill>
                <a:latin typeface="Consolas" panose="020B0609020204030204" pitchFamily="49" charset="0"/>
              </a:rPr>
              <a:t>, </a:t>
            </a:r>
            <a:r>
              <a:rPr lang="en-US" sz="2000" dirty="0">
                <a:solidFill>
                  <a:srgbClr val="098658"/>
                </a:solidFill>
                <a:latin typeface="Consolas" panose="020B0609020204030204" pitchFamily="49" charset="0"/>
              </a:rPr>
              <a:t>2001</a:t>
            </a:r>
            <a:r>
              <a:rPr lang="en-US" sz="2000" dirty="0">
                <a:solidFill>
                  <a:srgbClr val="000000"/>
                </a:solidFill>
                <a:latin typeface="Consolas" panose="020B0609020204030204" pitchFamily="49" charset="0"/>
              </a:rPr>
              <a:t>, </a:t>
            </a:r>
            <a:r>
              <a:rPr lang="en-US" sz="2000" dirty="0">
                <a:solidFill>
                  <a:srgbClr val="A31515"/>
                </a:solidFill>
                <a:latin typeface="Consolas" panose="020B0609020204030204" pitchFamily="49" charset="0"/>
              </a:rPr>
              <a:t>"</a:t>
            </a:r>
            <a:r>
              <a:rPr lang="en-US" sz="2000" dirty="0" err="1">
                <a:solidFill>
                  <a:srgbClr val="A31515"/>
                </a:solidFill>
                <a:latin typeface="Consolas" panose="020B0609020204030204" pitchFamily="49" charset="0"/>
              </a:rPr>
              <a:t>Yaaqshiid</a:t>
            </a:r>
            <a:r>
              <a:rPr lang="en-US" sz="2000" dirty="0">
                <a:solidFill>
                  <a:srgbClr val="A31515"/>
                </a:solidFill>
                <a:latin typeface="Consolas" panose="020B0609020204030204" pitchFamily="49" charset="0"/>
              </a:rPr>
              <a:t>"</a:t>
            </a:r>
            <a:r>
              <a:rPr lang="en-US" sz="2000" dirty="0">
                <a:solidFill>
                  <a:srgbClr val="000000"/>
                </a:solidFill>
                <a:latin typeface="Consolas" panose="020B0609020204030204" pitchFamily="49" charset="0"/>
              </a:rPr>
              <a:t>, </a:t>
            </a:r>
            <a:r>
              <a:rPr lang="en-US" sz="2000" dirty="0">
                <a:solidFill>
                  <a:srgbClr val="A31515"/>
                </a:solidFill>
                <a:latin typeface="Consolas" panose="020B0609020204030204" pitchFamily="49" charset="0"/>
              </a:rPr>
              <a:t>"0608124391"</a:t>
            </a:r>
            <a:r>
              <a:rPr lang="en-US" sz="2000" dirty="0">
                <a:solidFill>
                  <a:srgbClr val="000000"/>
                </a:solidFill>
                <a:latin typeface="Consolas" panose="020B0609020204030204" pitchFamily="49" charset="0"/>
              </a:rPr>
              <a:t>),</a:t>
            </a:r>
          </a:p>
          <a:p>
            <a:pPr>
              <a:lnSpc>
                <a:spcPct val="113333"/>
              </a:lnSpc>
              <a:buNone/>
            </a:pPr>
            <a:r>
              <a:rPr lang="en-US" sz="2000" dirty="0">
                <a:solidFill>
                  <a:srgbClr val="000000"/>
                </a:solidFill>
                <a:latin typeface="Consolas" panose="020B0609020204030204" pitchFamily="49" charset="0"/>
              </a:rPr>
              <a:t>                array (</a:t>
            </a:r>
            <a:r>
              <a:rPr lang="en-US" sz="2000" dirty="0">
                <a:solidFill>
                  <a:srgbClr val="A31515"/>
                </a:solidFill>
                <a:latin typeface="Consolas" panose="020B0609020204030204" pitchFamily="49" charset="0"/>
              </a:rPr>
              <a:t>"Jaamac"</a:t>
            </a:r>
            <a:r>
              <a:rPr lang="en-US" sz="2000" dirty="0">
                <a:solidFill>
                  <a:srgbClr val="000000"/>
                </a:solidFill>
                <a:latin typeface="Consolas" panose="020B0609020204030204" pitchFamily="49" charset="0"/>
              </a:rPr>
              <a:t>, </a:t>
            </a:r>
            <a:r>
              <a:rPr lang="en-US" sz="2000" dirty="0">
                <a:solidFill>
                  <a:srgbClr val="098658"/>
                </a:solidFill>
                <a:latin typeface="Consolas" panose="020B0609020204030204" pitchFamily="49" charset="0"/>
              </a:rPr>
              <a:t>1986</a:t>
            </a:r>
            <a:r>
              <a:rPr lang="en-US" sz="2000" dirty="0">
                <a:solidFill>
                  <a:srgbClr val="000000"/>
                </a:solidFill>
                <a:latin typeface="Consolas" panose="020B0609020204030204" pitchFamily="49" charset="0"/>
              </a:rPr>
              <a:t>, </a:t>
            </a:r>
            <a:r>
              <a:rPr lang="en-US" sz="2000" dirty="0">
                <a:solidFill>
                  <a:srgbClr val="A31515"/>
                </a:solidFill>
                <a:latin typeface="Consolas" panose="020B0609020204030204" pitchFamily="49" charset="0"/>
              </a:rPr>
              <a:t>"</a:t>
            </a:r>
            <a:r>
              <a:rPr lang="en-US" sz="2000" dirty="0" err="1">
                <a:solidFill>
                  <a:srgbClr val="A31515"/>
                </a:solidFill>
                <a:latin typeface="Consolas" panose="020B0609020204030204" pitchFamily="49" charset="0"/>
              </a:rPr>
              <a:t>Shangaani</a:t>
            </a:r>
            <a:r>
              <a:rPr lang="en-US" sz="2000" dirty="0">
                <a:solidFill>
                  <a:srgbClr val="A31515"/>
                </a:solidFill>
                <a:latin typeface="Consolas" panose="020B0609020204030204" pitchFamily="49" charset="0"/>
              </a:rPr>
              <a:t>"</a:t>
            </a:r>
            <a:r>
              <a:rPr lang="en-US" sz="2000" dirty="0">
                <a:solidFill>
                  <a:srgbClr val="000000"/>
                </a:solidFill>
                <a:latin typeface="Consolas" panose="020B0609020204030204" pitchFamily="49" charset="0"/>
              </a:rPr>
              <a:t>, </a:t>
            </a:r>
            <a:r>
              <a:rPr lang="en-US" sz="2000" dirty="0">
                <a:solidFill>
                  <a:srgbClr val="A31515"/>
                </a:solidFill>
                <a:latin typeface="Consolas" panose="020B0609020204030204" pitchFamily="49" charset="0"/>
              </a:rPr>
              <a:t>"0608124392"</a:t>
            </a:r>
            <a:r>
              <a:rPr lang="en-US" sz="2000" dirty="0">
                <a:solidFill>
                  <a:srgbClr val="000000"/>
                </a:solidFill>
                <a:latin typeface="Consolas" panose="020B0609020204030204" pitchFamily="49" charset="0"/>
              </a:rPr>
              <a:t>),</a:t>
            </a:r>
          </a:p>
          <a:p>
            <a:pPr>
              <a:lnSpc>
                <a:spcPct val="113333"/>
              </a:lnSpc>
              <a:buNone/>
            </a:pPr>
            <a:r>
              <a:rPr lang="en-US" sz="2000" dirty="0">
                <a:solidFill>
                  <a:srgbClr val="000000"/>
                </a:solidFill>
                <a:latin typeface="Consolas" panose="020B0609020204030204" pitchFamily="49" charset="0"/>
              </a:rPr>
              <a:t>);</a:t>
            </a:r>
          </a:p>
          <a:p>
            <a:pPr>
              <a:lnSpc>
                <a:spcPct val="113333"/>
              </a:lnSpc>
              <a:buNone/>
            </a:pPr>
            <a:r>
              <a:rPr lang="en-US" sz="2000" dirty="0">
                <a:solidFill>
                  <a:srgbClr val="000000"/>
                </a:solidFill>
                <a:latin typeface="Consolas" panose="020B0609020204030204" pitchFamily="49" charset="0"/>
              </a:rPr>
              <a:t>echo (</a:t>
            </a:r>
            <a:r>
              <a:rPr lang="en-US" sz="2000" dirty="0">
                <a:solidFill>
                  <a:srgbClr val="A31515"/>
                </a:solidFill>
                <a:latin typeface="Consolas" panose="020B0609020204030204" pitchFamily="49" charset="0"/>
              </a:rPr>
              <a:t>"Printing array key/value pairs:&lt;</a:t>
            </a:r>
            <a:r>
              <a:rPr lang="en-US" sz="2000" dirty="0" err="1">
                <a:solidFill>
                  <a:srgbClr val="A31515"/>
                </a:solidFill>
                <a:latin typeface="Consolas" panose="020B0609020204030204" pitchFamily="49" charset="0"/>
              </a:rPr>
              <a:t>br</a:t>
            </a:r>
            <a:r>
              <a:rPr lang="en-US" sz="2000" dirty="0">
                <a:solidFill>
                  <a:srgbClr val="A31515"/>
                </a:solidFill>
                <a:latin typeface="Consolas" panose="020B0609020204030204" pitchFamily="49" charset="0"/>
              </a:rPr>
              <a:t>&gt;"</a:t>
            </a:r>
            <a:r>
              <a:rPr lang="en-US" sz="2000" dirty="0">
                <a:solidFill>
                  <a:srgbClr val="000000"/>
                </a:solidFill>
                <a:latin typeface="Consolas" panose="020B0609020204030204" pitchFamily="49" charset="0"/>
              </a:rPr>
              <a:t>);</a:t>
            </a:r>
          </a:p>
          <a:p>
            <a:pPr>
              <a:lnSpc>
                <a:spcPct val="113333"/>
              </a:lnSpc>
              <a:buNone/>
            </a:pPr>
            <a:r>
              <a:rPr lang="en-US" sz="2000" dirty="0">
                <a:solidFill>
                  <a:srgbClr val="0000FF"/>
                </a:solidFill>
                <a:latin typeface="Consolas" panose="020B0609020204030204" pitchFamily="49" charset="0"/>
              </a:rPr>
              <a:t>foreach</a:t>
            </a:r>
            <a:r>
              <a:rPr lang="en-US" sz="2000" dirty="0">
                <a:solidFill>
                  <a:srgbClr val="000000"/>
                </a:solidFill>
                <a:latin typeface="Consolas" panose="020B0609020204030204" pitchFamily="49" charset="0"/>
              </a:rPr>
              <a:t> ($student as $k)</a:t>
            </a:r>
          </a:p>
          <a:p>
            <a:pPr>
              <a:lnSpc>
                <a:spcPct val="113333"/>
              </a:lnSpc>
              <a:buNone/>
            </a:pPr>
            <a:r>
              <a:rPr lang="en-US" sz="2000" dirty="0">
                <a:solidFill>
                  <a:srgbClr val="000000"/>
                </a:solidFill>
                <a:latin typeface="Consolas" panose="020B0609020204030204" pitchFamily="49" charset="0"/>
              </a:rPr>
              <a:t>    echo (</a:t>
            </a:r>
            <a:r>
              <a:rPr lang="en-US" sz="2000" dirty="0">
                <a:solidFill>
                  <a:srgbClr val="A31515"/>
                </a:solidFill>
                <a:latin typeface="Consolas" panose="020B0609020204030204" pitchFamily="49" charset="0"/>
              </a:rPr>
              <a:t>"$k[</a:t>
            </a:r>
            <a:r>
              <a:rPr lang="en-US" sz="2000" dirty="0">
                <a:solidFill>
                  <a:srgbClr val="098658"/>
                </a:solidFill>
                <a:latin typeface="Consolas" panose="020B0609020204030204" pitchFamily="49" charset="0"/>
              </a:rPr>
              <a:t>0</a:t>
            </a:r>
            <a:r>
              <a:rPr lang="en-US" sz="2000" dirty="0">
                <a:solidFill>
                  <a:srgbClr val="A31515"/>
                </a:solidFill>
                <a:latin typeface="Consolas" panose="020B0609020204030204" pitchFamily="49" charset="0"/>
              </a:rPr>
              <a:t>], $k[</a:t>
            </a:r>
            <a:r>
              <a:rPr lang="en-US" sz="2000" dirty="0">
                <a:solidFill>
                  <a:srgbClr val="098658"/>
                </a:solidFill>
                <a:latin typeface="Consolas" panose="020B0609020204030204" pitchFamily="49" charset="0"/>
              </a:rPr>
              <a:t>1</a:t>
            </a:r>
            <a:r>
              <a:rPr lang="en-US" sz="2000" dirty="0">
                <a:solidFill>
                  <a:srgbClr val="A31515"/>
                </a:solidFill>
                <a:latin typeface="Consolas" panose="020B0609020204030204" pitchFamily="49" charset="0"/>
              </a:rPr>
              <a:t>], $k[</a:t>
            </a:r>
            <a:r>
              <a:rPr lang="en-US" sz="2000" dirty="0">
                <a:solidFill>
                  <a:srgbClr val="098658"/>
                </a:solidFill>
                <a:latin typeface="Consolas" panose="020B0609020204030204" pitchFamily="49" charset="0"/>
              </a:rPr>
              <a:t>2</a:t>
            </a:r>
            <a:r>
              <a:rPr lang="en-US" sz="2000" dirty="0">
                <a:solidFill>
                  <a:srgbClr val="A31515"/>
                </a:solidFill>
                <a:latin typeface="Consolas" panose="020B0609020204030204" pitchFamily="49" charset="0"/>
              </a:rPr>
              <a:t>], $k[</a:t>
            </a:r>
            <a:r>
              <a:rPr lang="en-US" sz="2000" dirty="0">
                <a:solidFill>
                  <a:srgbClr val="098658"/>
                </a:solidFill>
                <a:latin typeface="Consolas" panose="020B0609020204030204" pitchFamily="49" charset="0"/>
              </a:rPr>
              <a:t>3</a:t>
            </a:r>
            <a:r>
              <a:rPr lang="en-US" sz="2000" dirty="0">
                <a:solidFill>
                  <a:srgbClr val="A31515"/>
                </a:solidFill>
                <a:latin typeface="Consolas" panose="020B0609020204030204" pitchFamily="49" charset="0"/>
              </a:rPr>
              <a:t>]&lt;</a:t>
            </a:r>
            <a:r>
              <a:rPr lang="en-US" sz="2000" dirty="0" err="1">
                <a:solidFill>
                  <a:srgbClr val="A31515"/>
                </a:solidFill>
                <a:latin typeface="Consolas" panose="020B0609020204030204" pitchFamily="49" charset="0"/>
              </a:rPr>
              <a:t>br</a:t>
            </a:r>
            <a:r>
              <a:rPr lang="en-US" sz="2000" dirty="0">
                <a:solidFill>
                  <a:srgbClr val="A31515"/>
                </a:solidFill>
                <a:latin typeface="Consolas" panose="020B0609020204030204" pitchFamily="49" charset="0"/>
              </a:rPr>
              <a:t>&gt;"</a:t>
            </a:r>
            <a:r>
              <a:rPr lang="en-US" sz="2000" dirty="0">
                <a:solidFill>
                  <a:srgbClr val="000000"/>
                </a:solidFill>
                <a:latin typeface="Consolas" panose="020B0609020204030204" pitchFamily="49" charset="0"/>
              </a:rPr>
              <a:t>);</a:t>
            </a:r>
          </a:p>
          <a:p>
            <a:pPr>
              <a:lnSpc>
                <a:spcPct val="113333"/>
              </a:lnSpc>
              <a:buNone/>
            </a:pPr>
            <a:r>
              <a:rPr lang="en-US" sz="2000" dirty="0">
                <a:solidFill>
                  <a:srgbClr val="000000"/>
                </a:solidFill>
                <a:latin typeface="Consolas" panose="020B0609020204030204" pitchFamily="49" charset="0"/>
              </a:rPr>
              <a:t>Or </a:t>
            </a:r>
          </a:p>
          <a:p>
            <a:pPr>
              <a:lnSpc>
                <a:spcPct val="113333"/>
              </a:lnSpc>
              <a:buNone/>
            </a:pPr>
            <a:r>
              <a:rPr lang="en-US" sz="2000" dirty="0">
                <a:solidFill>
                  <a:srgbClr val="000000"/>
                </a:solidFill>
                <a:latin typeface="Consolas" panose="020B0609020204030204" pitchFamily="49" charset="0"/>
              </a:rPr>
              <a:t>echo </a:t>
            </a:r>
            <a:r>
              <a:rPr lang="en-US" sz="2000" dirty="0">
                <a:solidFill>
                  <a:srgbClr val="A31515"/>
                </a:solidFill>
                <a:latin typeface="Consolas" panose="020B0609020204030204" pitchFamily="49" charset="0"/>
              </a:rPr>
              <a:t>"Array elements are:&lt;</a:t>
            </a:r>
            <a:r>
              <a:rPr lang="en-US" sz="2000" dirty="0" err="1">
                <a:solidFill>
                  <a:srgbClr val="A31515"/>
                </a:solidFill>
                <a:latin typeface="Consolas" panose="020B0609020204030204" pitchFamily="49" charset="0"/>
              </a:rPr>
              <a:t>br</a:t>
            </a:r>
            <a:r>
              <a:rPr lang="en-US" sz="2000" dirty="0">
                <a:solidFill>
                  <a:srgbClr val="A31515"/>
                </a:solidFill>
                <a:latin typeface="Consolas" panose="020B0609020204030204" pitchFamily="49" charset="0"/>
              </a:rPr>
              <a:t>&gt;"</a:t>
            </a:r>
            <a:r>
              <a:rPr lang="en-US" sz="2000" dirty="0">
                <a:solidFill>
                  <a:srgbClr val="000000"/>
                </a:solidFill>
                <a:latin typeface="Consolas" panose="020B0609020204030204" pitchFamily="49" charset="0"/>
              </a:rPr>
              <a:t>;</a:t>
            </a:r>
          </a:p>
          <a:p>
            <a:pPr>
              <a:lnSpc>
                <a:spcPct val="113333"/>
              </a:lnSpc>
              <a:buNone/>
            </a:pPr>
            <a:r>
              <a:rPr lang="en-US" sz="2000" dirty="0">
                <a:solidFill>
                  <a:srgbClr val="0000FF"/>
                </a:solidFill>
                <a:latin typeface="Consolas" panose="020B0609020204030204" pitchFamily="49" charset="0"/>
              </a:rPr>
              <a:t>foreach</a:t>
            </a:r>
            <a:r>
              <a:rPr lang="en-US" sz="2000" dirty="0">
                <a:solidFill>
                  <a:srgbClr val="000000"/>
                </a:solidFill>
                <a:latin typeface="Consolas" panose="020B0609020204030204" pitchFamily="49" charset="0"/>
              </a:rPr>
              <a:t> ($student as $s) {</a:t>
            </a:r>
          </a:p>
          <a:p>
            <a:pPr>
              <a:lnSpc>
                <a:spcPct val="113333"/>
              </a:lnSpc>
              <a:buNone/>
            </a:pP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foreach</a:t>
            </a:r>
            <a:r>
              <a:rPr lang="en-US" sz="2000" dirty="0">
                <a:solidFill>
                  <a:srgbClr val="000000"/>
                </a:solidFill>
                <a:latin typeface="Consolas" panose="020B0609020204030204" pitchFamily="49" charset="0"/>
              </a:rPr>
              <a:t> ($s as $v)</a:t>
            </a:r>
          </a:p>
          <a:p>
            <a:pPr>
              <a:lnSpc>
                <a:spcPct val="113333"/>
              </a:lnSpc>
              <a:buNone/>
            </a:pPr>
            <a:r>
              <a:rPr lang="en-US" sz="2000" dirty="0">
                <a:solidFill>
                  <a:srgbClr val="000000"/>
                </a:solidFill>
                <a:latin typeface="Consolas" panose="020B0609020204030204" pitchFamily="49" charset="0"/>
              </a:rPr>
              <a:t>        echo (</a:t>
            </a:r>
            <a:r>
              <a:rPr lang="en-US" sz="2000" dirty="0">
                <a:solidFill>
                  <a:srgbClr val="A31515"/>
                </a:solidFill>
                <a:latin typeface="Consolas" panose="020B0609020204030204" pitchFamily="49" charset="0"/>
              </a:rPr>
              <a:t>"$v&lt;</a:t>
            </a:r>
            <a:r>
              <a:rPr lang="en-US" sz="2000" dirty="0" err="1">
                <a:solidFill>
                  <a:srgbClr val="A31515"/>
                </a:solidFill>
                <a:latin typeface="Consolas" panose="020B0609020204030204" pitchFamily="49" charset="0"/>
              </a:rPr>
              <a:t>br</a:t>
            </a:r>
            <a:r>
              <a:rPr lang="en-US" sz="2000" dirty="0">
                <a:solidFill>
                  <a:srgbClr val="A31515"/>
                </a:solidFill>
                <a:latin typeface="Consolas" panose="020B0609020204030204" pitchFamily="49" charset="0"/>
              </a:rPr>
              <a:t>&gt;"</a:t>
            </a:r>
            <a:r>
              <a:rPr lang="en-US" sz="2000" dirty="0">
                <a:solidFill>
                  <a:srgbClr val="000000"/>
                </a:solidFill>
                <a:latin typeface="Consolas" panose="020B0609020204030204" pitchFamily="49" charset="0"/>
              </a:rPr>
              <a:t>);</a:t>
            </a:r>
          </a:p>
          <a:p>
            <a:pPr>
              <a:lnSpc>
                <a:spcPct val="113333"/>
              </a:lnSpc>
              <a:buNone/>
            </a:pPr>
            <a:r>
              <a:rPr lang="en-US" sz="2000" dirty="0">
                <a:solidFill>
                  <a:srgbClr val="000000"/>
                </a:solidFill>
                <a:latin typeface="Consolas" panose="020B0609020204030204" pitchFamily="49" charset="0"/>
              </a:rPr>
              <a:t>}</a:t>
            </a:r>
          </a:p>
        </p:txBody>
      </p:sp>
      <p:sp>
        <p:nvSpPr>
          <p:cNvPr id="4" name="Slide Number Placeholder 3"/>
          <p:cNvSpPr>
            <a:spLocks noGrp="1"/>
          </p:cNvSpPr>
          <p:nvPr>
            <p:ph type="sldNum" idx="12"/>
          </p:nvPr>
        </p:nvSpPr>
        <p:spPr/>
        <p:txBody>
          <a:bodyPr/>
          <a:lstStyle/>
          <a:p>
            <a:pPr>
              <a:defRPr/>
            </a:pPr>
            <a:fld id="{1DFD1671-737C-44E1-8E5C-EC48A34B655F}" type="slidenum">
              <a:rPr lang="en-US" smtClean="0"/>
              <a:pPr>
                <a:defRPr/>
              </a:pPr>
              <a:t>15</a:t>
            </a:fld>
            <a:endParaRPr lang="en-US"/>
          </a:p>
        </p:txBody>
      </p:sp>
      <p:sp>
        <p:nvSpPr>
          <p:cNvPr id="6" name="Rectangle 5">
            <a:extLst>
              <a:ext uri="{FF2B5EF4-FFF2-40B4-BE49-F238E27FC236}">
                <a16:creationId xmlns:a16="http://schemas.microsoft.com/office/drawing/2014/main" id="{19396261-38A3-4D8B-68C9-B02CB8D57740}"/>
              </a:ext>
            </a:extLst>
          </p:cNvPr>
          <p:cNvSpPr/>
          <p:nvPr/>
        </p:nvSpPr>
        <p:spPr>
          <a:xfrm>
            <a:off x="0" y="0"/>
            <a:ext cx="12192000" cy="113552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8" name="TextBox 7">
            <a:extLst>
              <a:ext uri="{FF2B5EF4-FFF2-40B4-BE49-F238E27FC236}">
                <a16:creationId xmlns:a16="http://schemas.microsoft.com/office/drawing/2014/main" id="{7203E471-4D5C-1ED0-36BD-BA4E162898F8}"/>
              </a:ext>
            </a:extLst>
          </p:cNvPr>
          <p:cNvSpPr txBox="1"/>
          <p:nvPr/>
        </p:nvSpPr>
        <p:spPr>
          <a:xfrm>
            <a:off x="95009" y="228928"/>
            <a:ext cx="8634923" cy="646331"/>
          </a:xfrm>
          <a:prstGeom prst="rect">
            <a:avLst/>
          </a:prstGeom>
          <a:noFill/>
        </p:spPr>
        <p:txBody>
          <a:bodyPr wrap="square" rtlCol="0">
            <a:spAutoFit/>
          </a:bodyPr>
          <a:lstStyle/>
          <a:p>
            <a:r>
              <a:rPr lang="en-US" sz="3600" b="1" kern="1200" spc="-5" dirty="0">
                <a:solidFill>
                  <a:srgbClr val="FFC000"/>
                </a:solidFill>
                <a:latin typeface="Calibri" panose="020F0502020204030204"/>
                <a:ea typeface="+mn-ea"/>
                <a:cs typeface="+mn-cs"/>
              </a:rPr>
              <a:t>Multi-dimensional Arrays</a:t>
            </a:r>
          </a:p>
        </p:txBody>
      </p:sp>
      <p:pic>
        <p:nvPicPr>
          <p:cNvPr id="10" name="object 3">
            <a:extLst>
              <a:ext uri="{FF2B5EF4-FFF2-40B4-BE49-F238E27FC236}">
                <a16:creationId xmlns:a16="http://schemas.microsoft.com/office/drawing/2014/main" id="{AF9EA886-1A4F-35F0-FDEE-07F6DC2EB6F7}"/>
              </a:ext>
            </a:extLst>
          </p:cNvPr>
          <p:cNvPicPr/>
          <p:nvPr/>
        </p:nvPicPr>
        <p:blipFill>
          <a:blip r:embed="rId2" cstate="print"/>
          <a:stretch>
            <a:fillRect/>
          </a:stretch>
        </p:blipFill>
        <p:spPr>
          <a:xfrm>
            <a:off x="11007176" y="103356"/>
            <a:ext cx="1029430" cy="1020942"/>
          </a:xfrm>
          <a:prstGeom prst="ellipse">
            <a:avLst/>
          </a:prstGeom>
          <a:ln>
            <a:noFill/>
          </a:ln>
          <a:effectLst>
            <a:softEdge rad="112500"/>
          </a:effectLst>
        </p:spPr>
      </p:pic>
      <p:pic>
        <p:nvPicPr>
          <p:cNvPr id="12" name="Picture 11">
            <a:extLst>
              <a:ext uri="{FF2B5EF4-FFF2-40B4-BE49-F238E27FC236}">
                <a16:creationId xmlns:a16="http://schemas.microsoft.com/office/drawing/2014/main" id="{35E37E27-CF62-83CF-3BA5-5DB894643E59}"/>
              </a:ext>
            </a:extLst>
          </p:cNvPr>
          <p:cNvPicPr>
            <a:picLocks noChangeAspect="1"/>
          </p:cNvPicPr>
          <p:nvPr/>
        </p:nvPicPr>
        <p:blipFill>
          <a:blip r:embed="rId3"/>
          <a:stretch>
            <a:fillRect/>
          </a:stretch>
        </p:blipFill>
        <p:spPr>
          <a:xfrm>
            <a:off x="8040206" y="4941213"/>
            <a:ext cx="3988005" cy="1505027"/>
          </a:xfrm>
          <a:prstGeom prst="rect">
            <a:avLst/>
          </a:prstGeom>
        </p:spPr>
      </p:pic>
    </p:spTree>
    <p:extLst>
      <p:ext uri="{BB962C8B-B14F-4D97-AF65-F5344CB8AC3E}">
        <p14:creationId xmlns:p14="http://schemas.microsoft.com/office/powerpoint/2010/main" val="3270790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0" y="1135529"/>
            <a:ext cx="12192000" cy="5606894"/>
          </a:xfrm>
        </p:spPr>
        <p:txBody>
          <a:bodyPr>
            <a:noAutofit/>
          </a:bodyPr>
          <a:lstStyle/>
          <a:p>
            <a:r>
              <a:rPr lang="en-US" sz="2100" dirty="0"/>
              <a:t>The array functions allow you to access and manipulate arrays. The array functions are part of the PHP core. There is no installation needed to use these functions. Sample of these functions are:</a:t>
            </a:r>
          </a:p>
          <a:p>
            <a:r>
              <a:rPr lang="en-US" sz="2100" dirty="0" err="1">
                <a:solidFill>
                  <a:srgbClr val="0070C0"/>
                </a:solidFill>
              </a:rPr>
              <a:t>is_array</a:t>
            </a:r>
            <a:r>
              <a:rPr lang="en-US" sz="2100" dirty="0"/>
              <a:t>: Checks whether a variable is an array.</a:t>
            </a:r>
          </a:p>
          <a:p>
            <a:r>
              <a:rPr lang="en-US" sz="2100" dirty="0" err="1">
                <a:solidFill>
                  <a:srgbClr val="0070C0"/>
                </a:solidFill>
              </a:rPr>
              <a:t>in_array</a:t>
            </a:r>
            <a:r>
              <a:rPr lang="en-US" sz="2100" dirty="0"/>
              <a:t>: Checks if a specified value exists in an array.</a:t>
            </a:r>
          </a:p>
          <a:p>
            <a:pPr marL="457200" lvl="1" indent="0">
              <a:buNone/>
            </a:pPr>
            <a:r>
              <a:rPr lang="en-US" sz="2100" dirty="0">
                <a:solidFill>
                  <a:srgbClr val="0070C0"/>
                </a:solidFill>
              </a:rPr>
              <a:t>if (</a:t>
            </a:r>
            <a:r>
              <a:rPr lang="en-US" sz="2100" dirty="0" err="1">
                <a:solidFill>
                  <a:srgbClr val="0070C0"/>
                </a:solidFill>
              </a:rPr>
              <a:t>in_array</a:t>
            </a:r>
            <a:r>
              <a:rPr lang="en-US" sz="2100" dirty="0">
                <a:solidFill>
                  <a:srgbClr val="0070C0"/>
                </a:solidFill>
              </a:rPr>
              <a:t>("Adhesives", $products))</a:t>
            </a:r>
          </a:p>
          <a:p>
            <a:pPr marL="457200" lvl="1" indent="0">
              <a:buNone/>
            </a:pPr>
            <a:r>
              <a:rPr lang="en-US" sz="2100" dirty="0">
                <a:solidFill>
                  <a:srgbClr val="0070C0"/>
                </a:solidFill>
              </a:rPr>
              <a:t>            echo "&lt;</a:t>
            </a:r>
            <a:r>
              <a:rPr lang="en-US" sz="2100" dirty="0" err="1">
                <a:solidFill>
                  <a:srgbClr val="0070C0"/>
                </a:solidFill>
              </a:rPr>
              <a:t>br</a:t>
            </a:r>
            <a:r>
              <a:rPr lang="en-US" sz="2100" dirty="0">
                <a:solidFill>
                  <a:srgbClr val="0070C0"/>
                </a:solidFill>
              </a:rPr>
              <a:t>&gt;Match found";</a:t>
            </a:r>
          </a:p>
          <a:p>
            <a:r>
              <a:rPr lang="en-US" sz="2100" dirty="0">
                <a:solidFill>
                  <a:srgbClr val="0070C0"/>
                </a:solidFill>
              </a:rPr>
              <a:t>count</a:t>
            </a:r>
            <a:r>
              <a:rPr lang="en-US" sz="2100" dirty="0"/>
              <a:t>: Returns the number of elements in an array. </a:t>
            </a:r>
            <a:r>
              <a:rPr lang="en-US" sz="2100" dirty="0" err="1">
                <a:solidFill>
                  <a:srgbClr val="0070C0"/>
                </a:solidFill>
              </a:rPr>
              <a:t>sizeof</a:t>
            </a:r>
            <a:r>
              <a:rPr lang="en-US" sz="2100" dirty="0"/>
              <a:t> function behaves like </a:t>
            </a:r>
            <a:r>
              <a:rPr lang="en-US" sz="2100" dirty="0">
                <a:solidFill>
                  <a:srgbClr val="0070C0"/>
                </a:solidFill>
              </a:rPr>
              <a:t>count</a:t>
            </a:r>
            <a:r>
              <a:rPr lang="en-US" sz="2100" dirty="0"/>
              <a:t>.</a:t>
            </a:r>
          </a:p>
          <a:p>
            <a:r>
              <a:rPr lang="en-US" sz="2100" dirty="0">
                <a:solidFill>
                  <a:srgbClr val="0070C0"/>
                </a:solidFill>
              </a:rPr>
              <a:t>sort</a:t>
            </a:r>
            <a:r>
              <a:rPr lang="en-US" sz="2100" dirty="0"/>
              <a:t>: sorts an array in ascending order</a:t>
            </a:r>
          </a:p>
          <a:p>
            <a:r>
              <a:rPr lang="en-US" sz="2100" dirty="0" err="1">
                <a:solidFill>
                  <a:srgbClr val="0070C0"/>
                </a:solidFill>
              </a:rPr>
              <a:t>rsort</a:t>
            </a:r>
            <a:r>
              <a:rPr lang="en-US" sz="2100" dirty="0"/>
              <a:t>: sorts an array in descending order</a:t>
            </a:r>
          </a:p>
          <a:p>
            <a:r>
              <a:rPr lang="en-US" sz="2100" dirty="0" err="1">
                <a:solidFill>
                  <a:srgbClr val="0070C0"/>
                </a:solidFill>
              </a:rPr>
              <a:t>asort</a:t>
            </a:r>
            <a:r>
              <a:rPr lang="en-US" sz="2100" dirty="0"/>
              <a:t>: sorts an associative array in ascending order, according to the value.</a:t>
            </a:r>
          </a:p>
          <a:p>
            <a:r>
              <a:rPr lang="en-US" sz="2100" dirty="0" err="1">
                <a:solidFill>
                  <a:srgbClr val="0070C0"/>
                </a:solidFill>
              </a:rPr>
              <a:t>arsort</a:t>
            </a:r>
            <a:r>
              <a:rPr lang="en-US" sz="2100" dirty="0"/>
              <a:t>: sorts an associative array in descending order, according to the value.</a:t>
            </a:r>
          </a:p>
          <a:p>
            <a:r>
              <a:rPr lang="en-US" altLang="en-US" sz="2100" dirty="0">
                <a:solidFill>
                  <a:srgbClr val="0070C0"/>
                </a:solidFill>
              </a:rPr>
              <a:t>max</a:t>
            </a:r>
            <a:r>
              <a:rPr lang="en-US" altLang="en-US" sz="2100" dirty="0"/>
              <a:t>: Returns the highest value in an array.</a:t>
            </a:r>
          </a:p>
          <a:p>
            <a:r>
              <a:rPr lang="en-US" altLang="en-US" sz="2100" dirty="0">
                <a:solidFill>
                  <a:srgbClr val="0070C0"/>
                </a:solidFill>
              </a:rPr>
              <a:t>min</a:t>
            </a:r>
            <a:r>
              <a:rPr lang="en-US" altLang="en-US" sz="2100" dirty="0"/>
              <a:t>: Returns the lowest value in an array.</a:t>
            </a:r>
          </a:p>
          <a:p>
            <a:r>
              <a:rPr lang="en-US" altLang="en-US" sz="2100" dirty="0">
                <a:solidFill>
                  <a:srgbClr val="0070C0"/>
                </a:solidFill>
              </a:rPr>
              <a:t>implode</a:t>
            </a:r>
            <a:r>
              <a:rPr lang="en-US" altLang="en-US" sz="2100" dirty="0"/>
              <a:t>: function that takes an array and converts it to a string.</a:t>
            </a:r>
          </a:p>
        </p:txBody>
      </p:sp>
      <p:sp>
        <p:nvSpPr>
          <p:cNvPr id="4" name="Slide Number Placeholder 3"/>
          <p:cNvSpPr>
            <a:spLocks noGrp="1"/>
          </p:cNvSpPr>
          <p:nvPr>
            <p:ph type="sldNum" idx="12"/>
          </p:nvPr>
        </p:nvSpPr>
        <p:spPr/>
        <p:txBody>
          <a:bodyPr/>
          <a:lstStyle/>
          <a:p>
            <a:pPr>
              <a:defRPr/>
            </a:pPr>
            <a:fld id="{1DFD1671-737C-44E1-8E5C-EC48A34B655F}" type="slidenum">
              <a:rPr lang="en-US" smtClean="0"/>
              <a:pPr>
                <a:defRPr/>
              </a:pPr>
              <a:t>16</a:t>
            </a:fld>
            <a:endParaRPr lang="en-US"/>
          </a:p>
        </p:txBody>
      </p:sp>
      <p:sp>
        <p:nvSpPr>
          <p:cNvPr id="6" name="Rectangle 5">
            <a:extLst>
              <a:ext uri="{FF2B5EF4-FFF2-40B4-BE49-F238E27FC236}">
                <a16:creationId xmlns:a16="http://schemas.microsoft.com/office/drawing/2014/main" id="{46403191-348C-26AF-824E-F04424FFFC48}"/>
              </a:ext>
            </a:extLst>
          </p:cNvPr>
          <p:cNvSpPr/>
          <p:nvPr/>
        </p:nvSpPr>
        <p:spPr>
          <a:xfrm>
            <a:off x="0" y="0"/>
            <a:ext cx="12192000" cy="1135529"/>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TextBox 7">
            <a:extLst>
              <a:ext uri="{FF2B5EF4-FFF2-40B4-BE49-F238E27FC236}">
                <a16:creationId xmlns:a16="http://schemas.microsoft.com/office/drawing/2014/main" id="{B0B87841-75C7-3487-0FBB-61A00F1FE8C4}"/>
              </a:ext>
            </a:extLst>
          </p:cNvPr>
          <p:cNvSpPr txBox="1"/>
          <p:nvPr/>
        </p:nvSpPr>
        <p:spPr>
          <a:xfrm>
            <a:off x="95009" y="228928"/>
            <a:ext cx="8634923" cy="646331"/>
          </a:xfrm>
          <a:prstGeom prst="rect">
            <a:avLst/>
          </a:prstGeom>
          <a:noFill/>
        </p:spPr>
        <p:txBody>
          <a:bodyPr wrap="square" rtlCol="0">
            <a:spAutoFit/>
          </a:bodyPr>
          <a:lstStyle/>
          <a:p>
            <a:r>
              <a:rPr lang="en-GB" sz="3600" b="1" kern="1200" spc="-5" dirty="0">
                <a:solidFill>
                  <a:srgbClr val="FFC000"/>
                </a:solidFill>
                <a:latin typeface="Calibri" panose="020F0502020204030204"/>
                <a:ea typeface="+mn-ea"/>
                <a:cs typeface="+mn-cs"/>
              </a:rPr>
              <a:t>Using Array Functions (1 of 5)</a:t>
            </a:r>
            <a:endParaRPr lang="en-US" sz="3600" b="1" kern="1200" spc="-5" dirty="0">
              <a:solidFill>
                <a:srgbClr val="FFC000"/>
              </a:solidFill>
              <a:latin typeface="Calibri" panose="020F0502020204030204"/>
              <a:ea typeface="+mn-ea"/>
              <a:cs typeface="+mn-cs"/>
            </a:endParaRPr>
          </a:p>
        </p:txBody>
      </p:sp>
      <p:pic>
        <p:nvPicPr>
          <p:cNvPr id="10" name="object 3">
            <a:extLst>
              <a:ext uri="{FF2B5EF4-FFF2-40B4-BE49-F238E27FC236}">
                <a16:creationId xmlns:a16="http://schemas.microsoft.com/office/drawing/2014/main" id="{0A511217-F9BD-BE20-3F63-2D1EB73AFFAC}"/>
              </a:ext>
            </a:extLst>
          </p:cNvPr>
          <p:cNvPicPr/>
          <p:nvPr/>
        </p:nvPicPr>
        <p:blipFill>
          <a:blip r:embed="rId2" cstate="print"/>
          <a:stretch>
            <a:fillRect/>
          </a:stretch>
        </p:blipFill>
        <p:spPr>
          <a:xfrm>
            <a:off x="11007176" y="103356"/>
            <a:ext cx="1029430" cy="1020942"/>
          </a:xfrm>
          <a:prstGeom prst="ellipse">
            <a:avLst/>
          </a:prstGeom>
          <a:ln>
            <a:noFill/>
          </a:ln>
          <a:effectLst>
            <a:softEdge rad="112500"/>
          </a:effectLst>
        </p:spPr>
      </p:pic>
    </p:spTree>
    <p:extLst>
      <p:ext uri="{BB962C8B-B14F-4D97-AF65-F5344CB8AC3E}">
        <p14:creationId xmlns:p14="http://schemas.microsoft.com/office/powerpoint/2010/main" val="2195036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fade">
                                      <p:cBhvr>
                                        <p:cTn id="43" dur="500"/>
                                        <p:tgtEl>
                                          <p:spTgt spid="3">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
                                            <p:txEl>
                                              <p:pRg st="9" end="9"/>
                                            </p:txEl>
                                          </p:spTgt>
                                        </p:tgtEl>
                                        <p:attrNameLst>
                                          <p:attrName>style.visibility</p:attrName>
                                        </p:attrNameLst>
                                      </p:cBhvr>
                                      <p:to>
                                        <p:strVal val="visible"/>
                                      </p:to>
                                    </p:set>
                                    <p:animEffect transition="in" filter="fade">
                                      <p:cBhvr>
                                        <p:cTn id="48" dur="500"/>
                                        <p:tgtEl>
                                          <p:spTgt spid="3">
                                            <p:txEl>
                                              <p:pRg st="9" end="9"/>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animEffect transition="in" filter="fade">
                                      <p:cBhvr>
                                        <p:cTn id="53" dur="500"/>
                                        <p:tgtEl>
                                          <p:spTgt spid="3">
                                            <p:txEl>
                                              <p:pRg st="10" end="1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3">
                                            <p:txEl>
                                              <p:pRg st="11" end="11"/>
                                            </p:txEl>
                                          </p:spTgt>
                                        </p:tgtEl>
                                        <p:attrNameLst>
                                          <p:attrName>style.visibility</p:attrName>
                                        </p:attrNameLst>
                                      </p:cBhvr>
                                      <p:to>
                                        <p:strVal val="visible"/>
                                      </p:to>
                                    </p:set>
                                    <p:animEffect transition="in" filter="fade">
                                      <p:cBhvr>
                                        <p:cTn id="58" dur="500"/>
                                        <p:tgtEl>
                                          <p:spTgt spid="3">
                                            <p:txEl>
                                              <p:pRg st="11" end="11"/>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
                                            <p:txEl>
                                              <p:pRg st="12" end="12"/>
                                            </p:txEl>
                                          </p:spTgt>
                                        </p:tgtEl>
                                        <p:attrNameLst>
                                          <p:attrName>style.visibility</p:attrName>
                                        </p:attrNameLst>
                                      </p:cBhvr>
                                      <p:to>
                                        <p:strVal val="visible"/>
                                      </p:to>
                                    </p:set>
                                    <p:animEffect transition="in" filter="fade">
                                      <p:cBhvr>
                                        <p:cTn id="63"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324F37B-FF33-681E-59D5-95B0B7D89DD0}"/>
              </a:ext>
            </a:extLst>
          </p:cNvPr>
          <p:cNvSpPr>
            <a:spLocks noGrp="1"/>
          </p:cNvSpPr>
          <p:nvPr>
            <p:ph type="body" idx="1"/>
          </p:nvPr>
        </p:nvSpPr>
        <p:spPr>
          <a:xfrm>
            <a:off x="25879" y="681207"/>
            <a:ext cx="5063705" cy="2769001"/>
          </a:xfrm>
          <a:ln w="57150">
            <a:solidFill>
              <a:srgbClr val="0070C0"/>
            </a:solidFill>
          </a:ln>
        </p:spPr>
        <p:txBody>
          <a:bodyPr>
            <a:normAutofit fontScale="92500" lnSpcReduction="20000"/>
          </a:bodyPr>
          <a:lstStyle/>
          <a:p>
            <a:pPr>
              <a:lnSpc>
                <a:spcPct val="113333"/>
              </a:lnSpc>
              <a:buNone/>
            </a:pPr>
            <a:r>
              <a:rPr lang="en-US" sz="1200" b="1" dirty="0">
                <a:solidFill>
                  <a:srgbClr val="000000"/>
                </a:solidFill>
                <a:effectLst/>
                <a:latin typeface="Consolas" panose="020B0609020204030204" pitchFamily="49" charset="0"/>
              </a:rPr>
              <a:t>$info = array (</a:t>
            </a:r>
          </a:p>
          <a:p>
            <a:pPr>
              <a:lnSpc>
                <a:spcPct val="113333"/>
              </a:lnSpc>
              <a:buNone/>
            </a:pPr>
            <a:r>
              <a:rPr lang="en-US" sz="1200" b="1" dirty="0">
                <a:solidFill>
                  <a:srgbClr val="000000"/>
                </a:solidFill>
                <a:effectLst/>
                <a:latin typeface="Consolas" panose="020B0609020204030204" pitchFamily="49" charset="0"/>
              </a:rPr>
              <a:t>            </a:t>
            </a:r>
            <a:r>
              <a:rPr lang="en-US" sz="1200" b="1" dirty="0">
                <a:solidFill>
                  <a:srgbClr val="A31515"/>
                </a:solidFill>
                <a:effectLst/>
                <a:latin typeface="Consolas" panose="020B0609020204030204" pitchFamily="49" charset="0"/>
              </a:rPr>
              <a:t>"Mohamed"</a:t>
            </a:r>
            <a:r>
              <a:rPr lang="en-US" sz="1200" b="1" dirty="0">
                <a:solidFill>
                  <a:srgbClr val="000000"/>
                </a:solidFill>
                <a:effectLst/>
                <a:latin typeface="Consolas" panose="020B0609020204030204" pitchFamily="49" charset="0"/>
              </a:rPr>
              <a:t>,</a:t>
            </a:r>
          </a:p>
          <a:p>
            <a:pPr>
              <a:lnSpc>
                <a:spcPct val="113333"/>
              </a:lnSpc>
              <a:buNone/>
            </a:pPr>
            <a:r>
              <a:rPr lang="en-US" sz="1200" b="1" dirty="0">
                <a:solidFill>
                  <a:srgbClr val="000000"/>
                </a:solidFill>
                <a:effectLst/>
                <a:latin typeface="Consolas" panose="020B0609020204030204" pitchFamily="49" charset="0"/>
              </a:rPr>
              <a:t>            </a:t>
            </a:r>
            <a:r>
              <a:rPr lang="en-US" sz="1200" b="1" dirty="0">
                <a:solidFill>
                  <a:srgbClr val="A31515"/>
                </a:solidFill>
                <a:effectLst/>
                <a:latin typeface="Consolas" panose="020B0609020204030204" pitchFamily="49" charset="0"/>
              </a:rPr>
              <a:t>"Ahmed"</a:t>
            </a:r>
            <a:r>
              <a:rPr lang="en-US" sz="1200" b="1" dirty="0">
                <a:solidFill>
                  <a:srgbClr val="000000"/>
                </a:solidFill>
                <a:effectLst/>
                <a:latin typeface="Consolas" panose="020B0609020204030204" pitchFamily="49" charset="0"/>
              </a:rPr>
              <a:t>,</a:t>
            </a:r>
          </a:p>
          <a:p>
            <a:pPr>
              <a:lnSpc>
                <a:spcPct val="113333"/>
              </a:lnSpc>
              <a:buNone/>
            </a:pPr>
            <a:r>
              <a:rPr lang="en-US" sz="1200" b="1" dirty="0">
                <a:solidFill>
                  <a:srgbClr val="000000"/>
                </a:solidFill>
                <a:effectLst/>
                <a:latin typeface="Consolas" panose="020B0609020204030204" pitchFamily="49" charset="0"/>
              </a:rPr>
              <a:t>            </a:t>
            </a:r>
            <a:r>
              <a:rPr lang="en-US" sz="1200" b="1" dirty="0">
                <a:solidFill>
                  <a:srgbClr val="A31515"/>
                </a:solidFill>
                <a:effectLst/>
                <a:latin typeface="Consolas" panose="020B0609020204030204" pitchFamily="49" charset="0"/>
              </a:rPr>
              <a:t>"Jaamac"</a:t>
            </a:r>
            <a:r>
              <a:rPr lang="en-US" sz="1200" b="1" dirty="0">
                <a:solidFill>
                  <a:srgbClr val="000000"/>
                </a:solidFill>
                <a:effectLst/>
                <a:latin typeface="Consolas" panose="020B0609020204030204" pitchFamily="49" charset="0"/>
              </a:rPr>
              <a:t>,</a:t>
            </a:r>
          </a:p>
          <a:p>
            <a:pPr>
              <a:lnSpc>
                <a:spcPct val="113333"/>
              </a:lnSpc>
              <a:buNone/>
            </a:pPr>
            <a:r>
              <a:rPr lang="en-US" sz="1200" b="1" dirty="0">
                <a:solidFill>
                  <a:srgbClr val="000000"/>
                </a:solidFill>
                <a:effectLst/>
                <a:latin typeface="Consolas" panose="020B0609020204030204" pitchFamily="49" charset="0"/>
              </a:rPr>
              <a:t>            </a:t>
            </a:r>
            <a:r>
              <a:rPr lang="en-US" sz="1200" b="1" dirty="0">
                <a:solidFill>
                  <a:srgbClr val="098658"/>
                </a:solidFill>
                <a:effectLst/>
                <a:latin typeface="Consolas" panose="020B0609020204030204" pitchFamily="49" charset="0"/>
              </a:rPr>
              <a:t>21</a:t>
            </a:r>
            <a:endParaRPr lang="en-US" sz="1200" b="1" dirty="0">
              <a:solidFill>
                <a:srgbClr val="000000"/>
              </a:solidFill>
              <a:effectLst/>
              <a:latin typeface="Consolas" panose="020B0609020204030204" pitchFamily="49" charset="0"/>
            </a:endParaRPr>
          </a:p>
          <a:p>
            <a:pPr>
              <a:lnSpc>
                <a:spcPct val="113333"/>
              </a:lnSpc>
              <a:buNone/>
            </a:pPr>
            <a:r>
              <a:rPr lang="en-US" sz="1200" b="1" dirty="0">
                <a:solidFill>
                  <a:srgbClr val="000000"/>
                </a:solidFill>
                <a:effectLst/>
                <a:latin typeface="Consolas" panose="020B0609020204030204" pitchFamily="49" charset="0"/>
              </a:rPr>
              <a:t>);</a:t>
            </a:r>
          </a:p>
          <a:p>
            <a:pPr>
              <a:lnSpc>
                <a:spcPct val="113333"/>
              </a:lnSpc>
              <a:buNone/>
            </a:pPr>
            <a:r>
              <a:rPr lang="en-US" sz="1200" b="1" dirty="0">
                <a:solidFill>
                  <a:srgbClr val="008000"/>
                </a:solidFill>
                <a:effectLst/>
                <a:latin typeface="Consolas" panose="020B0609020204030204" pitchFamily="49" charset="0"/>
              </a:rPr>
              <a:t>//check if a variable is an array</a:t>
            </a:r>
            <a:endParaRPr lang="en-US" sz="1200" b="1" dirty="0">
              <a:solidFill>
                <a:srgbClr val="000000"/>
              </a:solidFill>
              <a:effectLst/>
              <a:latin typeface="Consolas" panose="020B0609020204030204" pitchFamily="49" charset="0"/>
            </a:endParaRPr>
          </a:p>
          <a:p>
            <a:pPr>
              <a:lnSpc>
                <a:spcPct val="113333"/>
              </a:lnSpc>
              <a:buNone/>
            </a:pPr>
            <a:r>
              <a:rPr lang="en-US" sz="1200" b="1" dirty="0">
                <a:solidFill>
                  <a:srgbClr val="0000FF"/>
                </a:solidFill>
                <a:effectLst/>
                <a:latin typeface="Consolas" panose="020B0609020204030204" pitchFamily="49" charset="0"/>
              </a:rPr>
              <a:t>if</a:t>
            </a:r>
            <a:r>
              <a:rPr lang="en-US" sz="1200" b="1" dirty="0">
                <a:solidFill>
                  <a:srgbClr val="000000"/>
                </a:solidFill>
                <a:effectLst/>
                <a:latin typeface="Consolas" panose="020B0609020204030204" pitchFamily="49" charset="0"/>
              </a:rPr>
              <a:t>(is_array($info))</a:t>
            </a:r>
          </a:p>
          <a:p>
            <a:pPr>
              <a:lnSpc>
                <a:spcPct val="113333"/>
              </a:lnSpc>
              <a:buNone/>
            </a:pPr>
            <a:r>
              <a:rPr lang="en-US" sz="1200" b="1" dirty="0">
                <a:solidFill>
                  <a:srgbClr val="000000"/>
                </a:solidFill>
                <a:effectLst/>
                <a:latin typeface="Consolas" panose="020B0609020204030204" pitchFamily="49" charset="0"/>
              </a:rPr>
              <a:t>{</a:t>
            </a:r>
          </a:p>
          <a:p>
            <a:pPr>
              <a:lnSpc>
                <a:spcPct val="113333"/>
              </a:lnSpc>
              <a:buNone/>
            </a:pPr>
            <a:r>
              <a:rPr lang="en-US" sz="1200" b="1" dirty="0">
                <a:solidFill>
                  <a:srgbClr val="000000"/>
                </a:solidFill>
                <a:effectLst/>
                <a:latin typeface="Consolas" panose="020B0609020204030204" pitchFamily="49" charset="0"/>
              </a:rPr>
              <a:t>    echo </a:t>
            </a:r>
            <a:r>
              <a:rPr lang="en-US" sz="1200" b="1" dirty="0">
                <a:solidFill>
                  <a:srgbClr val="A31515"/>
                </a:solidFill>
                <a:effectLst/>
                <a:latin typeface="Consolas" panose="020B0609020204030204" pitchFamily="49" charset="0"/>
              </a:rPr>
              <a:t>"Yes, it is an array"</a:t>
            </a:r>
            <a:r>
              <a:rPr lang="en-US" sz="1200" b="1" dirty="0">
                <a:solidFill>
                  <a:srgbClr val="000000"/>
                </a:solidFill>
                <a:effectLst/>
                <a:latin typeface="Consolas" panose="020B0609020204030204" pitchFamily="49" charset="0"/>
              </a:rPr>
              <a:t>;</a:t>
            </a:r>
          </a:p>
          <a:p>
            <a:pPr>
              <a:lnSpc>
                <a:spcPct val="113333"/>
              </a:lnSpc>
              <a:buNone/>
            </a:pPr>
            <a:r>
              <a:rPr lang="en-US" sz="1200" b="1" dirty="0">
                <a:solidFill>
                  <a:srgbClr val="000000"/>
                </a:solidFill>
                <a:effectLst/>
                <a:latin typeface="Consolas" panose="020B0609020204030204" pitchFamily="49" charset="0"/>
              </a:rPr>
              <a:t>}</a:t>
            </a:r>
          </a:p>
          <a:p>
            <a:pPr>
              <a:lnSpc>
                <a:spcPct val="113333"/>
              </a:lnSpc>
              <a:buNone/>
            </a:pPr>
            <a:r>
              <a:rPr lang="en-US" sz="1200" b="1" dirty="0">
                <a:solidFill>
                  <a:srgbClr val="0000FF"/>
                </a:solidFill>
                <a:effectLst/>
                <a:latin typeface="Consolas" panose="020B0609020204030204" pitchFamily="49" charset="0"/>
              </a:rPr>
              <a:t>else</a:t>
            </a:r>
            <a:endParaRPr lang="en-US" sz="1200" b="1" dirty="0">
              <a:solidFill>
                <a:srgbClr val="000000"/>
              </a:solidFill>
              <a:effectLst/>
              <a:latin typeface="Consolas" panose="020B0609020204030204" pitchFamily="49" charset="0"/>
            </a:endParaRPr>
          </a:p>
          <a:p>
            <a:pPr>
              <a:lnSpc>
                <a:spcPct val="113333"/>
              </a:lnSpc>
              <a:buNone/>
            </a:pPr>
            <a:r>
              <a:rPr lang="en-US" sz="1200" b="1" dirty="0">
                <a:solidFill>
                  <a:srgbClr val="000000"/>
                </a:solidFill>
                <a:effectLst/>
                <a:latin typeface="Consolas" panose="020B0609020204030204" pitchFamily="49" charset="0"/>
              </a:rPr>
              <a:t>{</a:t>
            </a:r>
          </a:p>
          <a:p>
            <a:pPr>
              <a:lnSpc>
                <a:spcPct val="113333"/>
              </a:lnSpc>
              <a:buNone/>
            </a:pPr>
            <a:r>
              <a:rPr lang="en-US" sz="1200" b="1" dirty="0">
                <a:solidFill>
                  <a:srgbClr val="000000"/>
                </a:solidFill>
                <a:effectLst/>
                <a:latin typeface="Consolas" panose="020B0609020204030204" pitchFamily="49" charset="0"/>
              </a:rPr>
              <a:t>    echo </a:t>
            </a:r>
            <a:r>
              <a:rPr lang="en-US" sz="1200" b="1" dirty="0">
                <a:solidFill>
                  <a:srgbClr val="A31515"/>
                </a:solidFill>
                <a:effectLst/>
                <a:latin typeface="Consolas" panose="020B0609020204030204" pitchFamily="49" charset="0"/>
              </a:rPr>
              <a:t>"No, it is not an array"</a:t>
            </a:r>
            <a:r>
              <a:rPr lang="en-US" sz="1200" b="1" dirty="0">
                <a:solidFill>
                  <a:srgbClr val="000000"/>
                </a:solidFill>
                <a:effectLst/>
                <a:latin typeface="Consolas" panose="020B0609020204030204" pitchFamily="49" charset="0"/>
              </a:rPr>
              <a:t>;</a:t>
            </a:r>
          </a:p>
          <a:p>
            <a:pPr>
              <a:lnSpc>
                <a:spcPct val="113333"/>
              </a:lnSpc>
              <a:buNone/>
            </a:pPr>
            <a:r>
              <a:rPr lang="en-US" sz="1200" b="1" dirty="0">
                <a:solidFill>
                  <a:srgbClr val="000000"/>
                </a:solidFill>
                <a:effectLst/>
                <a:latin typeface="Consolas" panose="020B0609020204030204" pitchFamily="49" charset="0"/>
              </a:rPr>
              <a:t>}</a:t>
            </a:r>
          </a:p>
        </p:txBody>
      </p:sp>
      <p:sp>
        <p:nvSpPr>
          <p:cNvPr id="4" name="Slide Number Placeholder 3">
            <a:extLst>
              <a:ext uri="{FF2B5EF4-FFF2-40B4-BE49-F238E27FC236}">
                <a16:creationId xmlns:a16="http://schemas.microsoft.com/office/drawing/2014/main" id="{E3ACBDD0-5F86-A343-4E73-659D9366B8BC}"/>
              </a:ext>
            </a:extLst>
          </p:cNvPr>
          <p:cNvSpPr>
            <a:spLocks noGrp="1"/>
          </p:cNvSpPr>
          <p:nvPr>
            <p:ph type="sldNum" idx="12"/>
          </p:nvPr>
        </p:nvSpPr>
        <p:spPr/>
        <p:txBody>
          <a:bodyPr/>
          <a:lstStyle/>
          <a:p>
            <a:pPr>
              <a:defRPr/>
            </a:pPr>
            <a:fld id="{4716B21C-4A26-4CFD-920A-1CD4A66544B7}" type="slidenum">
              <a:rPr lang="en-US" smtClean="0"/>
              <a:pPr>
                <a:defRPr/>
              </a:pPr>
              <a:t>17</a:t>
            </a:fld>
            <a:endParaRPr lang="en-US"/>
          </a:p>
        </p:txBody>
      </p:sp>
      <p:sp>
        <p:nvSpPr>
          <p:cNvPr id="5" name="Text Placeholder 2">
            <a:extLst>
              <a:ext uri="{FF2B5EF4-FFF2-40B4-BE49-F238E27FC236}">
                <a16:creationId xmlns:a16="http://schemas.microsoft.com/office/drawing/2014/main" id="{BF54BD61-0619-DF49-B06B-70E69B080EDD}"/>
              </a:ext>
            </a:extLst>
          </p:cNvPr>
          <p:cNvSpPr txBox="1">
            <a:spLocks/>
          </p:cNvSpPr>
          <p:nvPr/>
        </p:nvSpPr>
        <p:spPr>
          <a:xfrm>
            <a:off x="5089585" y="663968"/>
            <a:ext cx="5917591" cy="2824690"/>
          </a:xfrm>
          <a:prstGeom prst="rect">
            <a:avLst/>
          </a:prstGeom>
          <a:noFill/>
          <a:ln w="57150">
            <a:solidFill>
              <a:srgbClr val="0070C0"/>
            </a:solid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L="609585" marR="0" lvl="0" indent="-457189" algn="l" rtl="0" eaLnBrk="1" hangingPunct="1">
              <a:lnSpc>
                <a:spcPct val="115000"/>
              </a:lnSpc>
              <a:spcBef>
                <a:spcPts val="0"/>
              </a:spcBef>
              <a:spcAft>
                <a:spcPts val="0"/>
              </a:spcAft>
              <a:buClr>
                <a:schemeClr val="accent3"/>
              </a:buClr>
              <a:buSzPts val="1800"/>
              <a:buFont typeface="Proxima Nova"/>
              <a:buChar char="●"/>
              <a:defRPr sz="1800" b="0" i="0" u="none" strike="noStrike" cap="none">
                <a:solidFill>
                  <a:schemeClr val="accent3"/>
                </a:solidFill>
                <a:latin typeface="Proxima Nova"/>
                <a:ea typeface="Proxima Nova"/>
                <a:cs typeface="Proxima Nova"/>
                <a:sym typeface="Proxima Nova"/>
              </a:defRPr>
            </a:lvl1pPr>
            <a:lvl2pPr marL="1219170" marR="0" lvl="1" indent="-423323" algn="l" rtl="0" eaLnBrk="1" hangingPunct="1">
              <a:lnSpc>
                <a:spcPct val="115000"/>
              </a:lnSpc>
              <a:spcBef>
                <a:spcPts val="0"/>
              </a:spcBef>
              <a:spcAft>
                <a:spcPts val="0"/>
              </a:spcAft>
              <a:buClr>
                <a:schemeClr val="accent3"/>
              </a:buClr>
              <a:buSzPts val="1400"/>
              <a:buFont typeface="Proxima Nova"/>
              <a:buChar char="○"/>
              <a:defRPr sz="1867" b="0" i="0" u="none" strike="noStrike" cap="none">
                <a:solidFill>
                  <a:schemeClr val="accent3"/>
                </a:solidFill>
                <a:latin typeface="Proxima Nova"/>
                <a:ea typeface="Proxima Nova"/>
                <a:cs typeface="Proxima Nova"/>
                <a:sym typeface="Proxima Nova"/>
              </a:defRPr>
            </a:lvl2pPr>
            <a:lvl3pPr marL="1828754" marR="0" lvl="2" indent="-423323" algn="l" rtl="0" eaLnBrk="1" hangingPunct="1">
              <a:lnSpc>
                <a:spcPct val="115000"/>
              </a:lnSpc>
              <a:spcBef>
                <a:spcPts val="0"/>
              </a:spcBef>
              <a:spcAft>
                <a:spcPts val="0"/>
              </a:spcAft>
              <a:buClr>
                <a:schemeClr val="accent3"/>
              </a:buClr>
              <a:buSzPts val="1400"/>
              <a:buFont typeface="Proxima Nova"/>
              <a:buChar char="■"/>
              <a:defRPr sz="1867" b="0" i="0" u="none" strike="noStrike" cap="none">
                <a:solidFill>
                  <a:schemeClr val="accent3"/>
                </a:solidFill>
                <a:latin typeface="Proxima Nova"/>
                <a:ea typeface="Proxima Nova"/>
                <a:cs typeface="Proxima Nova"/>
                <a:sym typeface="Proxima Nova"/>
              </a:defRPr>
            </a:lvl3pPr>
            <a:lvl4pPr marL="2438339" marR="0" lvl="3" indent="-423323" algn="l" rtl="0" eaLnBrk="1" hangingPunct="1">
              <a:lnSpc>
                <a:spcPct val="115000"/>
              </a:lnSpc>
              <a:spcBef>
                <a:spcPts val="0"/>
              </a:spcBef>
              <a:spcAft>
                <a:spcPts val="0"/>
              </a:spcAft>
              <a:buClr>
                <a:schemeClr val="accent3"/>
              </a:buClr>
              <a:buSzPts val="1400"/>
              <a:buFont typeface="Proxima Nova"/>
              <a:buChar char="●"/>
              <a:defRPr sz="1867" b="0" i="0" u="none" strike="noStrike" cap="none">
                <a:solidFill>
                  <a:schemeClr val="accent3"/>
                </a:solidFill>
                <a:latin typeface="Proxima Nova"/>
                <a:ea typeface="Proxima Nova"/>
                <a:cs typeface="Proxima Nova"/>
                <a:sym typeface="Proxima Nova"/>
              </a:defRPr>
            </a:lvl4pPr>
            <a:lvl5pPr marL="3047924" marR="0" lvl="4" indent="-423323" algn="l" rtl="0" eaLnBrk="1" hangingPunct="1">
              <a:lnSpc>
                <a:spcPct val="115000"/>
              </a:lnSpc>
              <a:spcBef>
                <a:spcPts val="0"/>
              </a:spcBef>
              <a:spcAft>
                <a:spcPts val="0"/>
              </a:spcAft>
              <a:buClr>
                <a:schemeClr val="accent3"/>
              </a:buClr>
              <a:buSzPts val="1400"/>
              <a:buFont typeface="Proxima Nova"/>
              <a:buChar char="○"/>
              <a:defRPr sz="1867" b="0" i="0" u="none" strike="noStrike" cap="none">
                <a:solidFill>
                  <a:schemeClr val="accent3"/>
                </a:solidFill>
                <a:latin typeface="Proxima Nova"/>
                <a:ea typeface="Proxima Nova"/>
                <a:cs typeface="Proxima Nova"/>
                <a:sym typeface="Proxima Nova"/>
              </a:defRPr>
            </a:lvl5pPr>
            <a:lvl6pPr marL="3657509" marR="0" lvl="5" indent="-423323" algn="l" rtl="0" eaLnBrk="1" hangingPunct="1">
              <a:lnSpc>
                <a:spcPct val="115000"/>
              </a:lnSpc>
              <a:spcBef>
                <a:spcPts val="0"/>
              </a:spcBef>
              <a:spcAft>
                <a:spcPts val="0"/>
              </a:spcAft>
              <a:buClr>
                <a:schemeClr val="accent3"/>
              </a:buClr>
              <a:buSzPts val="1400"/>
              <a:buFont typeface="Proxima Nova"/>
              <a:buChar char="■"/>
              <a:defRPr sz="1867" b="0" i="0" u="none" strike="noStrike" cap="none">
                <a:solidFill>
                  <a:schemeClr val="accent3"/>
                </a:solidFill>
                <a:latin typeface="Proxima Nova"/>
                <a:ea typeface="Proxima Nova"/>
                <a:cs typeface="Proxima Nova"/>
                <a:sym typeface="Proxima Nova"/>
              </a:defRPr>
            </a:lvl6pPr>
            <a:lvl7pPr marL="4267093" marR="0" lvl="6" indent="-423323" algn="l" rtl="0" eaLnBrk="1" hangingPunct="1">
              <a:lnSpc>
                <a:spcPct val="115000"/>
              </a:lnSpc>
              <a:spcBef>
                <a:spcPts val="0"/>
              </a:spcBef>
              <a:spcAft>
                <a:spcPts val="0"/>
              </a:spcAft>
              <a:buClr>
                <a:schemeClr val="accent3"/>
              </a:buClr>
              <a:buSzPts val="1400"/>
              <a:buFont typeface="Proxima Nova"/>
              <a:buChar char="●"/>
              <a:defRPr sz="1867" b="0" i="0" u="none" strike="noStrike" cap="none">
                <a:solidFill>
                  <a:schemeClr val="accent3"/>
                </a:solidFill>
                <a:latin typeface="Proxima Nova"/>
                <a:ea typeface="Proxima Nova"/>
                <a:cs typeface="Proxima Nova"/>
                <a:sym typeface="Proxima Nova"/>
              </a:defRPr>
            </a:lvl7pPr>
            <a:lvl8pPr marL="4876678" marR="0" lvl="7" indent="-423323" algn="l" rtl="0" eaLnBrk="1" hangingPunct="1">
              <a:lnSpc>
                <a:spcPct val="115000"/>
              </a:lnSpc>
              <a:spcBef>
                <a:spcPts val="0"/>
              </a:spcBef>
              <a:spcAft>
                <a:spcPts val="0"/>
              </a:spcAft>
              <a:buClr>
                <a:schemeClr val="accent3"/>
              </a:buClr>
              <a:buSzPts val="1400"/>
              <a:buFont typeface="Proxima Nova"/>
              <a:buChar char="○"/>
              <a:defRPr sz="1867" b="0" i="0" u="none" strike="noStrike" cap="none">
                <a:solidFill>
                  <a:schemeClr val="accent3"/>
                </a:solidFill>
                <a:latin typeface="Proxima Nova"/>
                <a:ea typeface="Proxima Nova"/>
                <a:cs typeface="Proxima Nova"/>
                <a:sym typeface="Proxima Nova"/>
              </a:defRPr>
            </a:lvl8pPr>
            <a:lvl9pPr marL="5486263" marR="0" lvl="8" indent="-423323" algn="l" rtl="0" eaLnBrk="1" hangingPunct="1">
              <a:lnSpc>
                <a:spcPct val="115000"/>
              </a:lnSpc>
              <a:spcBef>
                <a:spcPts val="0"/>
              </a:spcBef>
              <a:spcAft>
                <a:spcPts val="0"/>
              </a:spcAft>
              <a:buClr>
                <a:schemeClr val="accent3"/>
              </a:buClr>
              <a:buSzPts val="1400"/>
              <a:buFont typeface="Proxima Nova"/>
              <a:buChar char="■"/>
              <a:defRPr sz="1867" b="0" i="0" u="none" strike="noStrike" cap="none">
                <a:solidFill>
                  <a:schemeClr val="accent3"/>
                </a:solidFill>
                <a:latin typeface="Proxima Nova"/>
                <a:ea typeface="Proxima Nova"/>
                <a:cs typeface="Proxima Nova"/>
                <a:sym typeface="Proxima Nova"/>
              </a:defRPr>
            </a:lvl9pPr>
          </a:lstStyle>
          <a:p>
            <a:pPr>
              <a:lnSpc>
                <a:spcPct val="113333"/>
              </a:lnSpc>
              <a:buNone/>
            </a:pPr>
            <a:r>
              <a:rPr lang="en-US" sz="1800" b="1" dirty="0">
                <a:solidFill>
                  <a:srgbClr val="008000"/>
                </a:solidFill>
                <a:effectLst/>
                <a:latin typeface="Consolas" panose="020B0609020204030204" pitchFamily="49" charset="0"/>
              </a:rPr>
              <a:t>//check if a specific value exists in an array</a:t>
            </a:r>
            <a:endParaRPr lang="en-US" sz="1800" b="1" dirty="0">
              <a:solidFill>
                <a:srgbClr val="000000"/>
              </a:solidFill>
              <a:effectLst/>
              <a:latin typeface="Consolas" panose="020B0609020204030204" pitchFamily="49" charset="0"/>
            </a:endParaRPr>
          </a:p>
          <a:p>
            <a:pPr>
              <a:lnSpc>
                <a:spcPct val="113333"/>
              </a:lnSpc>
              <a:buNone/>
            </a:pPr>
            <a:r>
              <a:rPr lang="en-US" sz="1800" b="1" dirty="0">
                <a:solidFill>
                  <a:srgbClr val="0000FF"/>
                </a:solidFill>
                <a:effectLst/>
                <a:latin typeface="Consolas" panose="020B0609020204030204" pitchFamily="49" charset="0"/>
              </a:rPr>
              <a:t>if</a:t>
            </a:r>
            <a:r>
              <a:rPr lang="en-US" sz="1800" b="1" dirty="0">
                <a:solidFill>
                  <a:srgbClr val="000000"/>
                </a:solidFill>
                <a:effectLst/>
                <a:latin typeface="Consolas" panose="020B0609020204030204" pitchFamily="49" charset="0"/>
              </a:rPr>
              <a:t>(in_array(</a:t>
            </a:r>
            <a:r>
              <a:rPr lang="en-US" sz="1800" b="1" dirty="0">
                <a:solidFill>
                  <a:srgbClr val="A31515"/>
                </a:solidFill>
                <a:effectLst/>
                <a:latin typeface="Consolas" panose="020B0609020204030204" pitchFamily="49" charset="0"/>
              </a:rPr>
              <a:t>"21"</a:t>
            </a:r>
            <a:r>
              <a:rPr lang="en-US" sz="1800" b="1" dirty="0">
                <a:solidFill>
                  <a:srgbClr val="000000"/>
                </a:solidFill>
                <a:effectLst/>
                <a:latin typeface="Consolas" panose="020B0609020204030204" pitchFamily="49" charset="0"/>
              </a:rPr>
              <a:t>, $info))</a:t>
            </a:r>
          </a:p>
          <a:p>
            <a:pPr>
              <a:lnSpc>
                <a:spcPct val="113333"/>
              </a:lnSpc>
              <a:buNone/>
            </a:pPr>
            <a:r>
              <a:rPr lang="en-US" sz="1800" b="1" dirty="0">
                <a:solidFill>
                  <a:srgbClr val="000000"/>
                </a:solidFill>
                <a:effectLst/>
                <a:latin typeface="Consolas" panose="020B0609020204030204" pitchFamily="49" charset="0"/>
              </a:rPr>
              <a:t>{</a:t>
            </a:r>
          </a:p>
          <a:p>
            <a:pPr>
              <a:lnSpc>
                <a:spcPct val="113333"/>
              </a:lnSpc>
              <a:buNone/>
            </a:pPr>
            <a:r>
              <a:rPr lang="en-US" sz="1800" b="1" dirty="0">
                <a:solidFill>
                  <a:srgbClr val="000000"/>
                </a:solidFill>
                <a:effectLst/>
                <a:latin typeface="Consolas" panose="020B0609020204030204" pitchFamily="49" charset="0"/>
              </a:rPr>
              <a:t>    echo </a:t>
            </a:r>
            <a:r>
              <a:rPr lang="en-US" sz="1800" b="1" dirty="0">
                <a:solidFill>
                  <a:srgbClr val="A31515"/>
                </a:solidFill>
                <a:effectLst/>
                <a:latin typeface="Consolas" panose="020B0609020204030204" pitchFamily="49" charset="0"/>
              </a:rPr>
              <a:t>"&lt;</a:t>
            </a:r>
            <a:r>
              <a:rPr lang="en-US" sz="1800" b="1" dirty="0" err="1">
                <a:solidFill>
                  <a:srgbClr val="A31515"/>
                </a:solidFill>
                <a:effectLst/>
                <a:latin typeface="Consolas" panose="020B0609020204030204" pitchFamily="49" charset="0"/>
              </a:rPr>
              <a:t>br</a:t>
            </a:r>
            <a:r>
              <a:rPr lang="en-US" sz="1800" b="1" dirty="0">
                <a:solidFill>
                  <a:srgbClr val="A31515"/>
                </a:solidFill>
                <a:effectLst/>
                <a:latin typeface="Consolas" panose="020B0609020204030204" pitchFamily="49" charset="0"/>
              </a:rPr>
              <a:t>&gt;Mohamed exists in the array"</a:t>
            </a:r>
            <a:r>
              <a:rPr lang="en-US" sz="1800" b="1" dirty="0">
                <a:solidFill>
                  <a:srgbClr val="000000"/>
                </a:solidFill>
                <a:effectLst/>
                <a:latin typeface="Consolas" panose="020B0609020204030204" pitchFamily="49" charset="0"/>
              </a:rPr>
              <a:t>;</a:t>
            </a:r>
          </a:p>
          <a:p>
            <a:pPr>
              <a:lnSpc>
                <a:spcPct val="113333"/>
              </a:lnSpc>
              <a:buNone/>
            </a:pPr>
            <a:r>
              <a:rPr lang="en-US" sz="1800" b="1" dirty="0">
                <a:solidFill>
                  <a:srgbClr val="000000"/>
                </a:solidFill>
                <a:effectLst/>
                <a:latin typeface="Consolas" panose="020B0609020204030204" pitchFamily="49" charset="0"/>
              </a:rPr>
              <a:t>}</a:t>
            </a:r>
          </a:p>
          <a:p>
            <a:pPr>
              <a:lnSpc>
                <a:spcPct val="113333"/>
              </a:lnSpc>
              <a:buNone/>
            </a:pPr>
            <a:r>
              <a:rPr lang="en-US" sz="1800" b="1" dirty="0">
                <a:solidFill>
                  <a:srgbClr val="0000FF"/>
                </a:solidFill>
                <a:effectLst/>
                <a:latin typeface="Consolas" panose="020B0609020204030204" pitchFamily="49" charset="0"/>
              </a:rPr>
              <a:t>else</a:t>
            </a:r>
            <a:endParaRPr lang="en-US" sz="1800" b="1" dirty="0">
              <a:solidFill>
                <a:srgbClr val="000000"/>
              </a:solidFill>
              <a:effectLst/>
              <a:latin typeface="Consolas" panose="020B0609020204030204" pitchFamily="49" charset="0"/>
            </a:endParaRPr>
          </a:p>
          <a:p>
            <a:pPr>
              <a:lnSpc>
                <a:spcPct val="113333"/>
              </a:lnSpc>
              <a:buNone/>
            </a:pPr>
            <a:r>
              <a:rPr lang="en-US" sz="1800" b="1" dirty="0">
                <a:solidFill>
                  <a:srgbClr val="000000"/>
                </a:solidFill>
                <a:effectLst/>
                <a:latin typeface="Consolas" panose="020B0609020204030204" pitchFamily="49" charset="0"/>
              </a:rPr>
              <a:t>{ </a:t>
            </a:r>
          </a:p>
          <a:p>
            <a:pPr>
              <a:lnSpc>
                <a:spcPct val="113333"/>
              </a:lnSpc>
              <a:buNone/>
            </a:pPr>
            <a:r>
              <a:rPr lang="en-US" sz="1800" b="1" dirty="0">
                <a:solidFill>
                  <a:srgbClr val="000000"/>
                </a:solidFill>
                <a:effectLst/>
                <a:latin typeface="Consolas" panose="020B0609020204030204" pitchFamily="49" charset="0"/>
              </a:rPr>
              <a:t>    echo </a:t>
            </a:r>
            <a:r>
              <a:rPr lang="en-US" sz="1800" b="1" dirty="0">
                <a:solidFill>
                  <a:srgbClr val="A31515"/>
                </a:solidFill>
                <a:effectLst/>
                <a:latin typeface="Consolas" panose="020B0609020204030204" pitchFamily="49" charset="0"/>
              </a:rPr>
              <a:t>"&lt;</a:t>
            </a:r>
            <a:r>
              <a:rPr lang="en-US" sz="1800" b="1" dirty="0" err="1">
                <a:solidFill>
                  <a:srgbClr val="A31515"/>
                </a:solidFill>
                <a:effectLst/>
                <a:latin typeface="Consolas" panose="020B0609020204030204" pitchFamily="49" charset="0"/>
              </a:rPr>
              <a:t>br</a:t>
            </a:r>
            <a:r>
              <a:rPr lang="en-US" sz="1800" b="1" dirty="0">
                <a:solidFill>
                  <a:srgbClr val="A31515"/>
                </a:solidFill>
                <a:effectLst/>
                <a:latin typeface="Consolas" panose="020B0609020204030204" pitchFamily="49" charset="0"/>
              </a:rPr>
              <a:t>&gt;Mohamed does not exist in the array"</a:t>
            </a:r>
            <a:r>
              <a:rPr lang="en-US" sz="1800" b="1" dirty="0">
                <a:solidFill>
                  <a:srgbClr val="000000"/>
                </a:solidFill>
                <a:effectLst/>
                <a:latin typeface="Consolas" panose="020B0609020204030204" pitchFamily="49" charset="0"/>
              </a:rPr>
              <a:t>;</a:t>
            </a:r>
          </a:p>
          <a:p>
            <a:pPr>
              <a:lnSpc>
                <a:spcPct val="113333"/>
              </a:lnSpc>
              <a:buNone/>
            </a:pPr>
            <a:r>
              <a:rPr lang="en-US" sz="1800" b="1" dirty="0">
                <a:solidFill>
                  <a:srgbClr val="000000"/>
                </a:solidFill>
                <a:effectLst/>
                <a:latin typeface="Consolas" panose="020B0609020204030204" pitchFamily="49" charset="0"/>
              </a:rPr>
              <a:t>}</a:t>
            </a:r>
          </a:p>
        </p:txBody>
      </p:sp>
      <p:sp>
        <p:nvSpPr>
          <p:cNvPr id="9" name="TextBox 8">
            <a:extLst>
              <a:ext uri="{FF2B5EF4-FFF2-40B4-BE49-F238E27FC236}">
                <a16:creationId xmlns:a16="http://schemas.microsoft.com/office/drawing/2014/main" id="{D1B1310F-4264-1C23-F561-53C28B86F7AA}"/>
              </a:ext>
            </a:extLst>
          </p:cNvPr>
          <p:cNvSpPr txBox="1"/>
          <p:nvPr/>
        </p:nvSpPr>
        <p:spPr>
          <a:xfrm>
            <a:off x="1975043" y="3488657"/>
            <a:ext cx="9032133" cy="2424190"/>
          </a:xfrm>
          <a:prstGeom prst="rect">
            <a:avLst/>
          </a:prstGeom>
          <a:noFill/>
          <a:ln w="57150">
            <a:solidFill>
              <a:srgbClr val="0070C0"/>
            </a:solidFill>
          </a:ln>
        </p:spPr>
        <p:txBody>
          <a:bodyPr wrap="square">
            <a:spAutoFit/>
          </a:bodyPr>
          <a:lstStyle/>
          <a:p>
            <a:pPr>
              <a:lnSpc>
                <a:spcPct val="113333"/>
              </a:lnSpc>
              <a:buNone/>
            </a:pPr>
            <a:r>
              <a:rPr lang="en-US" sz="1500" b="1" dirty="0">
                <a:solidFill>
                  <a:srgbClr val="008000"/>
                </a:solidFill>
                <a:effectLst/>
                <a:latin typeface="Consolas" panose="020B0609020204030204" pitchFamily="49" charset="0"/>
              </a:rPr>
              <a:t>//check if specific key exists in an array using </a:t>
            </a:r>
            <a:r>
              <a:rPr lang="en-US" sz="1500" b="1" dirty="0" err="1">
                <a:solidFill>
                  <a:srgbClr val="008000"/>
                </a:solidFill>
                <a:effectLst/>
                <a:latin typeface="Consolas" panose="020B0609020204030204" pitchFamily="49" charset="0"/>
              </a:rPr>
              <a:t>in_array</a:t>
            </a:r>
            <a:r>
              <a:rPr lang="en-US" sz="1500" b="1" dirty="0">
                <a:solidFill>
                  <a:srgbClr val="008000"/>
                </a:solidFill>
                <a:effectLst/>
                <a:latin typeface="Consolas" panose="020B0609020204030204" pitchFamily="49" charset="0"/>
              </a:rPr>
              <a:t> </a:t>
            </a:r>
            <a:endParaRPr lang="en-US" sz="1500" b="1" dirty="0">
              <a:solidFill>
                <a:srgbClr val="000000"/>
              </a:solidFill>
              <a:effectLst/>
              <a:latin typeface="Consolas" panose="020B0609020204030204" pitchFamily="49" charset="0"/>
            </a:endParaRPr>
          </a:p>
          <a:p>
            <a:pPr>
              <a:lnSpc>
                <a:spcPct val="113333"/>
              </a:lnSpc>
              <a:buNone/>
            </a:pPr>
            <a:r>
              <a:rPr lang="en-US" sz="1500" b="1" dirty="0">
                <a:solidFill>
                  <a:srgbClr val="0000FF"/>
                </a:solidFill>
                <a:effectLst/>
                <a:latin typeface="Consolas" panose="020B0609020204030204" pitchFamily="49" charset="0"/>
              </a:rPr>
              <a:t>if</a:t>
            </a:r>
            <a:r>
              <a:rPr lang="en-US" sz="1500" b="1" dirty="0">
                <a:solidFill>
                  <a:srgbClr val="000000"/>
                </a:solidFill>
                <a:effectLst/>
                <a:latin typeface="Consolas" panose="020B0609020204030204" pitchFamily="49" charset="0"/>
              </a:rPr>
              <a:t>(in_array(</a:t>
            </a:r>
            <a:r>
              <a:rPr lang="en-US" sz="1500" b="1" dirty="0">
                <a:solidFill>
                  <a:srgbClr val="A31515"/>
                </a:solidFill>
                <a:effectLst/>
                <a:latin typeface="Consolas" panose="020B0609020204030204" pitchFamily="49" charset="0"/>
              </a:rPr>
              <a:t>"Ahmed"</a:t>
            </a:r>
            <a:r>
              <a:rPr lang="en-US" sz="1500" b="1" dirty="0">
                <a:solidFill>
                  <a:srgbClr val="000000"/>
                </a:solidFill>
                <a:effectLst/>
                <a:latin typeface="Consolas" panose="020B0609020204030204" pitchFamily="49" charset="0"/>
              </a:rPr>
              <a:t>, $student[</a:t>
            </a:r>
            <a:r>
              <a:rPr lang="en-US" sz="1500" b="1" dirty="0">
                <a:solidFill>
                  <a:srgbClr val="098658"/>
                </a:solidFill>
                <a:effectLst/>
                <a:latin typeface="Consolas" panose="020B0609020204030204" pitchFamily="49" charset="0"/>
              </a:rPr>
              <a:t>1</a:t>
            </a:r>
            <a:r>
              <a:rPr lang="en-US" sz="1500" b="1" dirty="0">
                <a:solidFill>
                  <a:srgbClr val="000000"/>
                </a:solidFill>
                <a:effectLst/>
                <a:latin typeface="Consolas" panose="020B0609020204030204" pitchFamily="49" charset="0"/>
              </a:rPr>
              <a:t>]))</a:t>
            </a:r>
          </a:p>
          <a:p>
            <a:pPr>
              <a:lnSpc>
                <a:spcPct val="113333"/>
              </a:lnSpc>
              <a:buNone/>
            </a:pPr>
            <a:r>
              <a:rPr lang="en-US" sz="1500" b="1" dirty="0">
                <a:solidFill>
                  <a:srgbClr val="000000"/>
                </a:solidFill>
                <a:effectLst/>
                <a:latin typeface="Consolas" panose="020B0609020204030204" pitchFamily="49" charset="0"/>
              </a:rPr>
              <a:t>{</a:t>
            </a:r>
          </a:p>
          <a:p>
            <a:pPr>
              <a:lnSpc>
                <a:spcPct val="113333"/>
              </a:lnSpc>
              <a:buNone/>
            </a:pPr>
            <a:r>
              <a:rPr lang="en-US" sz="1500" b="1" dirty="0">
                <a:solidFill>
                  <a:srgbClr val="000000"/>
                </a:solidFill>
                <a:effectLst/>
                <a:latin typeface="Consolas" panose="020B0609020204030204" pitchFamily="49" charset="0"/>
              </a:rPr>
              <a:t>    echo </a:t>
            </a:r>
            <a:r>
              <a:rPr lang="en-US" sz="1500" b="1" dirty="0">
                <a:solidFill>
                  <a:srgbClr val="A31515"/>
                </a:solidFill>
                <a:effectLst/>
                <a:latin typeface="Consolas" panose="020B0609020204030204" pitchFamily="49" charset="0"/>
              </a:rPr>
              <a:t>"Yes, Ahmed exists in the array"</a:t>
            </a:r>
            <a:r>
              <a:rPr lang="en-US" sz="1500" b="1" dirty="0">
                <a:solidFill>
                  <a:srgbClr val="000000"/>
                </a:solidFill>
                <a:effectLst/>
                <a:latin typeface="Consolas" panose="020B0609020204030204" pitchFamily="49" charset="0"/>
              </a:rPr>
              <a:t>;</a:t>
            </a:r>
          </a:p>
          <a:p>
            <a:pPr>
              <a:lnSpc>
                <a:spcPct val="113333"/>
              </a:lnSpc>
              <a:buNone/>
            </a:pPr>
            <a:r>
              <a:rPr lang="en-US" sz="1500" b="1" dirty="0">
                <a:solidFill>
                  <a:srgbClr val="000000"/>
                </a:solidFill>
                <a:effectLst/>
                <a:latin typeface="Consolas" panose="020B0609020204030204" pitchFamily="49" charset="0"/>
              </a:rPr>
              <a:t>}</a:t>
            </a:r>
          </a:p>
          <a:p>
            <a:pPr>
              <a:lnSpc>
                <a:spcPct val="113333"/>
              </a:lnSpc>
              <a:buNone/>
            </a:pPr>
            <a:r>
              <a:rPr lang="en-US" sz="1500" b="1" dirty="0">
                <a:solidFill>
                  <a:srgbClr val="0000FF"/>
                </a:solidFill>
                <a:effectLst/>
                <a:latin typeface="Consolas" panose="020B0609020204030204" pitchFamily="49" charset="0"/>
              </a:rPr>
              <a:t>else</a:t>
            </a:r>
            <a:endParaRPr lang="en-US" sz="1500" b="1" dirty="0">
              <a:solidFill>
                <a:srgbClr val="000000"/>
              </a:solidFill>
              <a:effectLst/>
              <a:latin typeface="Consolas" panose="020B0609020204030204" pitchFamily="49" charset="0"/>
            </a:endParaRPr>
          </a:p>
          <a:p>
            <a:pPr>
              <a:lnSpc>
                <a:spcPct val="113333"/>
              </a:lnSpc>
              <a:buNone/>
            </a:pPr>
            <a:r>
              <a:rPr lang="en-US" sz="1500" b="1" dirty="0">
                <a:solidFill>
                  <a:srgbClr val="000000"/>
                </a:solidFill>
                <a:effectLst/>
                <a:latin typeface="Consolas" panose="020B0609020204030204" pitchFamily="49" charset="0"/>
              </a:rPr>
              <a:t>{</a:t>
            </a:r>
          </a:p>
          <a:p>
            <a:pPr>
              <a:lnSpc>
                <a:spcPct val="113333"/>
              </a:lnSpc>
              <a:buNone/>
            </a:pPr>
            <a:r>
              <a:rPr lang="en-US" sz="1500" b="1" dirty="0">
                <a:solidFill>
                  <a:srgbClr val="000000"/>
                </a:solidFill>
                <a:effectLst/>
                <a:latin typeface="Consolas" panose="020B0609020204030204" pitchFamily="49" charset="0"/>
              </a:rPr>
              <a:t>    echo </a:t>
            </a:r>
            <a:r>
              <a:rPr lang="en-US" sz="1500" b="1" dirty="0">
                <a:solidFill>
                  <a:srgbClr val="A31515"/>
                </a:solidFill>
                <a:effectLst/>
                <a:latin typeface="Consolas" panose="020B0609020204030204" pitchFamily="49" charset="0"/>
              </a:rPr>
              <a:t>"No, Ahmed does not exist in the array"</a:t>
            </a:r>
            <a:r>
              <a:rPr lang="en-US" sz="1500" b="1" dirty="0">
                <a:solidFill>
                  <a:srgbClr val="000000"/>
                </a:solidFill>
                <a:effectLst/>
                <a:latin typeface="Consolas" panose="020B0609020204030204" pitchFamily="49" charset="0"/>
              </a:rPr>
              <a:t>;</a:t>
            </a:r>
          </a:p>
          <a:p>
            <a:pPr>
              <a:lnSpc>
                <a:spcPct val="113333"/>
              </a:lnSpc>
              <a:buNone/>
            </a:pPr>
            <a:r>
              <a:rPr lang="en-US" sz="1500" b="1" dirty="0">
                <a:solidFill>
                  <a:srgbClr val="000000"/>
                </a:solidFill>
                <a:effectLst/>
                <a:latin typeface="Consolas" panose="020B0609020204030204" pitchFamily="49" charset="0"/>
              </a:rPr>
              <a:t>}</a:t>
            </a:r>
          </a:p>
        </p:txBody>
      </p:sp>
      <p:pic>
        <p:nvPicPr>
          <p:cNvPr id="11" name="Picture 10">
            <a:extLst>
              <a:ext uri="{FF2B5EF4-FFF2-40B4-BE49-F238E27FC236}">
                <a16:creationId xmlns:a16="http://schemas.microsoft.com/office/drawing/2014/main" id="{D7F7C90F-9F19-9AAB-5BB0-3C688A0C58D3}"/>
              </a:ext>
            </a:extLst>
          </p:cNvPr>
          <p:cNvPicPr>
            <a:picLocks noChangeAspect="1"/>
          </p:cNvPicPr>
          <p:nvPr/>
        </p:nvPicPr>
        <p:blipFill>
          <a:blip r:embed="rId2"/>
          <a:stretch>
            <a:fillRect/>
          </a:stretch>
        </p:blipFill>
        <p:spPr>
          <a:xfrm>
            <a:off x="1690778" y="5989744"/>
            <a:ext cx="9433305" cy="656597"/>
          </a:xfrm>
          <a:prstGeom prst="rect">
            <a:avLst/>
          </a:prstGeom>
        </p:spPr>
      </p:pic>
      <p:sp>
        <p:nvSpPr>
          <p:cNvPr id="13" name="Rectangle 12">
            <a:extLst>
              <a:ext uri="{FF2B5EF4-FFF2-40B4-BE49-F238E27FC236}">
                <a16:creationId xmlns:a16="http://schemas.microsoft.com/office/drawing/2014/main" id="{07DEF059-468D-68E2-6FFD-03C0B64141CE}"/>
              </a:ext>
            </a:extLst>
          </p:cNvPr>
          <p:cNvSpPr/>
          <p:nvPr/>
        </p:nvSpPr>
        <p:spPr>
          <a:xfrm>
            <a:off x="0" y="-58270"/>
            <a:ext cx="12192000" cy="722237"/>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5" name="TextBox 14">
            <a:extLst>
              <a:ext uri="{FF2B5EF4-FFF2-40B4-BE49-F238E27FC236}">
                <a16:creationId xmlns:a16="http://schemas.microsoft.com/office/drawing/2014/main" id="{48E4C1B3-0E79-7B97-B8A5-05CBC4A2A59E}"/>
              </a:ext>
            </a:extLst>
          </p:cNvPr>
          <p:cNvSpPr txBox="1"/>
          <p:nvPr/>
        </p:nvSpPr>
        <p:spPr>
          <a:xfrm>
            <a:off x="155394" y="73325"/>
            <a:ext cx="8634923" cy="646331"/>
          </a:xfrm>
          <a:prstGeom prst="rect">
            <a:avLst/>
          </a:prstGeom>
          <a:noFill/>
        </p:spPr>
        <p:txBody>
          <a:bodyPr wrap="square" rtlCol="0">
            <a:spAutoFit/>
          </a:bodyPr>
          <a:lstStyle/>
          <a:p>
            <a:r>
              <a:rPr lang="en-GB" sz="3600" b="1" kern="1200" spc="-5" dirty="0">
                <a:solidFill>
                  <a:srgbClr val="FFC000"/>
                </a:solidFill>
                <a:latin typeface="Calibri" panose="020F0502020204030204"/>
                <a:ea typeface="+mn-ea"/>
                <a:cs typeface="+mn-cs"/>
              </a:rPr>
              <a:t>Example (is_array, in_array, count</a:t>
            </a:r>
            <a:endParaRPr lang="en-US" sz="3600" b="1" kern="1200" spc="-5" dirty="0">
              <a:solidFill>
                <a:srgbClr val="FFC000"/>
              </a:solidFill>
              <a:latin typeface="Calibri" panose="020F0502020204030204"/>
              <a:ea typeface="+mn-ea"/>
              <a:cs typeface="+mn-cs"/>
            </a:endParaRPr>
          </a:p>
        </p:txBody>
      </p:sp>
      <p:pic>
        <p:nvPicPr>
          <p:cNvPr id="17" name="object 3">
            <a:extLst>
              <a:ext uri="{FF2B5EF4-FFF2-40B4-BE49-F238E27FC236}">
                <a16:creationId xmlns:a16="http://schemas.microsoft.com/office/drawing/2014/main" id="{75D23161-3C0B-23F3-EEC0-059C27FF0DA8}"/>
              </a:ext>
            </a:extLst>
          </p:cNvPr>
          <p:cNvPicPr/>
          <p:nvPr/>
        </p:nvPicPr>
        <p:blipFill>
          <a:blip r:embed="rId3" cstate="print"/>
          <a:stretch>
            <a:fillRect/>
          </a:stretch>
        </p:blipFill>
        <p:spPr>
          <a:xfrm>
            <a:off x="11007176" y="103356"/>
            <a:ext cx="1029430" cy="1020942"/>
          </a:xfrm>
          <a:prstGeom prst="ellipse">
            <a:avLst/>
          </a:prstGeom>
          <a:ln>
            <a:noFill/>
          </a:ln>
          <a:effectLst>
            <a:softEdge rad="112500"/>
          </a:effectLst>
        </p:spPr>
      </p:pic>
    </p:spTree>
    <p:extLst>
      <p:ext uri="{BB962C8B-B14F-4D97-AF65-F5344CB8AC3E}">
        <p14:creationId xmlns:p14="http://schemas.microsoft.com/office/powerpoint/2010/main" val="39718901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0" y="875131"/>
            <a:ext cx="12089714" cy="5867291"/>
          </a:xfrm>
        </p:spPr>
        <p:txBody>
          <a:bodyPr>
            <a:noAutofit/>
          </a:bodyPr>
          <a:lstStyle/>
          <a:p>
            <a:r>
              <a:rPr lang="en-US" sz="2800" dirty="0">
                <a:solidFill>
                  <a:srgbClr val="0070C0"/>
                </a:solidFill>
              </a:rPr>
              <a:t>explode</a:t>
            </a:r>
            <a:r>
              <a:rPr lang="en-US" sz="2800" dirty="0"/>
              <a:t>: Place a string containing several words separated by a single character (e.g. space) into an array.</a:t>
            </a:r>
          </a:p>
          <a:p>
            <a:r>
              <a:rPr lang="en-US" sz="2800" dirty="0"/>
              <a:t>For example: </a:t>
            </a:r>
          </a:p>
          <a:p>
            <a:pPr>
              <a:lnSpc>
                <a:spcPct val="113333"/>
              </a:lnSpc>
              <a:buNone/>
            </a:pPr>
            <a:r>
              <a:rPr lang="en-US" sz="2800" dirty="0">
                <a:solidFill>
                  <a:srgbClr val="0070C0"/>
                </a:solidFill>
              </a:rPr>
              <a:t>	 </a:t>
            </a:r>
            <a:r>
              <a:rPr lang="en-US" sz="2800" dirty="0">
                <a:solidFill>
                  <a:srgbClr val="000000"/>
                </a:solidFill>
                <a:latin typeface="Consolas" panose="020B0609020204030204" pitchFamily="49" charset="0"/>
              </a:rPr>
              <a:t>$a = </a:t>
            </a:r>
            <a:r>
              <a:rPr lang="en-US" sz="2800" dirty="0">
                <a:solidFill>
                  <a:srgbClr val="A31515"/>
                </a:solidFill>
                <a:latin typeface="Consolas" panose="020B0609020204030204" pitchFamily="49" charset="0"/>
              </a:rPr>
              <a:t>"The quick brown fox jumps over the lazy dog"</a:t>
            </a:r>
            <a:r>
              <a:rPr lang="en-US" sz="2800" dirty="0">
                <a:solidFill>
                  <a:srgbClr val="000000"/>
                </a:solidFill>
                <a:latin typeface="Consolas" panose="020B0609020204030204" pitchFamily="49" charset="0"/>
              </a:rPr>
              <a:t>;</a:t>
            </a:r>
          </a:p>
          <a:p>
            <a:pPr>
              <a:lnSpc>
                <a:spcPct val="113333"/>
              </a:lnSpc>
              <a:buNone/>
            </a:pPr>
            <a:r>
              <a:rPr lang="en-US" sz="2800" dirty="0">
                <a:solidFill>
                  <a:srgbClr val="000000"/>
                </a:solidFill>
                <a:latin typeface="Consolas" panose="020B0609020204030204" pitchFamily="49" charset="0"/>
              </a:rPr>
              <a:t>   $b = explode (</a:t>
            </a:r>
            <a:r>
              <a:rPr lang="en-US" sz="2800" dirty="0">
                <a:solidFill>
                  <a:srgbClr val="A31515"/>
                </a:solidFill>
                <a:latin typeface="Consolas" panose="020B0609020204030204" pitchFamily="49" charset="0"/>
              </a:rPr>
              <a:t>" "</a:t>
            </a:r>
            <a:r>
              <a:rPr lang="en-US" sz="2800" dirty="0">
                <a:solidFill>
                  <a:srgbClr val="000000"/>
                </a:solidFill>
                <a:latin typeface="Consolas" panose="020B0609020204030204" pitchFamily="49" charset="0"/>
              </a:rPr>
              <a:t>, $a);</a:t>
            </a:r>
          </a:p>
          <a:p>
            <a:r>
              <a:rPr lang="en-US" sz="2800" dirty="0">
                <a:solidFill>
                  <a:srgbClr val="0070C0"/>
                </a:solidFill>
              </a:rPr>
              <a:t>shuffle</a:t>
            </a:r>
            <a:r>
              <a:rPr lang="en-US" sz="2800" dirty="0"/>
              <a:t>:</a:t>
            </a:r>
            <a:r>
              <a:rPr lang="en-US" sz="2800" dirty="0">
                <a:solidFill>
                  <a:srgbClr val="0070C0"/>
                </a:solidFill>
              </a:rPr>
              <a:t> </a:t>
            </a:r>
            <a:r>
              <a:rPr lang="en-US" sz="2800" dirty="0"/>
              <a:t>Shuffles an array and put elements in random order.</a:t>
            </a:r>
          </a:p>
          <a:p>
            <a:pPr>
              <a:lnSpc>
                <a:spcPct val="113333"/>
              </a:lnSpc>
              <a:buNone/>
            </a:pPr>
            <a:r>
              <a:rPr lang="en-US" sz="2800" dirty="0"/>
              <a:t>	</a:t>
            </a:r>
            <a:r>
              <a:rPr lang="en-US" sz="2800" dirty="0">
                <a:solidFill>
                  <a:srgbClr val="000000"/>
                </a:solidFill>
                <a:latin typeface="Consolas" panose="020B0609020204030204" pitchFamily="49" charset="0"/>
              </a:rPr>
              <a:t>shuffle($b);</a:t>
            </a:r>
          </a:p>
          <a:p>
            <a:pPr>
              <a:lnSpc>
                <a:spcPct val="113333"/>
              </a:lnSpc>
              <a:buNone/>
            </a:pPr>
            <a:r>
              <a:rPr lang="en-US" sz="2800" dirty="0">
                <a:solidFill>
                  <a:srgbClr val="000000"/>
                </a:solidFill>
                <a:latin typeface="Consolas" panose="020B0609020204030204" pitchFamily="49" charset="0"/>
              </a:rPr>
              <a:t>	echo </a:t>
            </a:r>
            <a:r>
              <a:rPr lang="en-US" sz="2800" dirty="0">
                <a:solidFill>
                  <a:srgbClr val="A31515"/>
                </a:solidFill>
                <a:latin typeface="Consolas" panose="020B0609020204030204" pitchFamily="49" charset="0"/>
              </a:rPr>
              <a:t>"&lt;pre&gt;"</a:t>
            </a:r>
            <a:r>
              <a:rPr lang="en-US" sz="2800" dirty="0">
                <a:solidFill>
                  <a:srgbClr val="000000"/>
                </a:solidFill>
                <a:latin typeface="Consolas" panose="020B0609020204030204" pitchFamily="49" charset="0"/>
              </a:rPr>
              <a:t>;</a:t>
            </a:r>
          </a:p>
          <a:p>
            <a:pPr>
              <a:lnSpc>
                <a:spcPct val="113333"/>
              </a:lnSpc>
              <a:buNone/>
            </a:pPr>
            <a:r>
              <a:rPr lang="en-US" sz="2800" dirty="0">
                <a:solidFill>
                  <a:srgbClr val="000000"/>
                </a:solidFill>
                <a:latin typeface="Consolas" panose="020B0609020204030204" pitchFamily="49" charset="0"/>
              </a:rPr>
              <a:t>	</a:t>
            </a:r>
            <a:r>
              <a:rPr lang="en-US" sz="2800" dirty="0" err="1">
                <a:solidFill>
                  <a:srgbClr val="000000"/>
                </a:solidFill>
                <a:latin typeface="Consolas" panose="020B0609020204030204" pitchFamily="49" charset="0"/>
              </a:rPr>
              <a:t>print_r</a:t>
            </a:r>
            <a:r>
              <a:rPr lang="en-US" sz="2800" dirty="0">
                <a:solidFill>
                  <a:srgbClr val="000000"/>
                </a:solidFill>
                <a:latin typeface="Consolas" panose="020B0609020204030204" pitchFamily="49" charset="0"/>
              </a:rPr>
              <a:t>($b);</a:t>
            </a:r>
          </a:p>
          <a:p>
            <a:pPr>
              <a:lnSpc>
                <a:spcPct val="113333"/>
              </a:lnSpc>
              <a:buNone/>
            </a:pPr>
            <a:r>
              <a:rPr lang="en-US" sz="2800" dirty="0">
                <a:solidFill>
                  <a:srgbClr val="000000"/>
                </a:solidFill>
                <a:latin typeface="Consolas" panose="020B0609020204030204" pitchFamily="49" charset="0"/>
              </a:rPr>
              <a:t>	echo </a:t>
            </a:r>
            <a:r>
              <a:rPr lang="en-US" sz="2800" dirty="0">
                <a:solidFill>
                  <a:srgbClr val="A31515"/>
                </a:solidFill>
                <a:latin typeface="Consolas" panose="020B0609020204030204" pitchFamily="49" charset="0"/>
              </a:rPr>
              <a:t>"&lt;/pre&gt;"</a:t>
            </a:r>
            <a:r>
              <a:rPr lang="en-US" sz="2800" dirty="0">
                <a:solidFill>
                  <a:srgbClr val="000000"/>
                </a:solidFill>
                <a:latin typeface="Consolas" panose="020B0609020204030204" pitchFamily="49" charset="0"/>
              </a:rPr>
              <a:t>;</a:t>
            </a:r>
          </a:p>
          <a:p>
            <a:endParaRPr lang="en-US" sz="3600" dirty="0"/>
          </a:p>
        </p:txBody>
      </p:sp>
      <p:sp>
        <p:nvSpPr>
          <p:cNvPr id="4" name="Slide Number Placeholder 3"/>
          <p:cNvSpPr>
            <a:spLocks noGrp="1"/>
          </p:cNvSpPr>
          <p:nvPr>
            <p:ph type="sldNum" idx="12"/>
          </p:nvPr>
        </p:nvSpPr>
        <p:spPr/>
        <p:txBody>
          <a:bodyPr/>
          <a:lstStyle/>
          <a:p>
            <a:pPr>
              <a:defRPr/>
            </a:pPr>
            <a:fld id="{1DFD1671-737C-44E1-8E5C-EC48A34B655F}" type="slidenum">
              <a:rPr lang="en-US" smtClean="0"/>
              <a:pPr>
                <a:defRPr/>
              </a:pPr>
              <a:t>18</a:t>
            </a:fld>
            <a:endParaRPr lang="en-US"/>
          </a:p>
        </p:txBody>
      </p:sp>
      <p:grpSp>
        <p:nvGrpSpPr>
          <p:cNvPr id="11" name="Group 10">
            <a:extLst>
              <a:ext uri="{FF2B5EF4-FFF2-40B4-BE49-F238E27FC236}">
                <a16:creationId xmlns:a16="http://schemas.microsoft.com/office/drawing/2014/main" id="{16E9A476-4F1A-95CA-0040-8F3893EAE2C2}"/>
              </a:ext>
            </a:extLst>
          </p:cNvPr>
          <p:cNvGrpSpPr/>
          <p:nvPr/>
        </p:nvGrpSpPr>
        <p:grpSpPr>
          <a:xfrm>
            <a:off x="9242862" y="3820381"/>
            <a:ext cx="1586204" cy="2737659"/>
            <a:chOff x="9090155" y="3528201"/>
            <a:chExt cx="1586204" cy="2737659"/>
          </a:xfrm>
        </p:grpSpPr>
        <p:pic>
          <p:nvPicPr>
            <p:cNvPr id="8" name="Picture 7">
              <a:extLst>
                <a:ext uri="{FF2B5EF4-FFF2-40B4-BE49-F238E27FC236}">
                  <a16:creationId xmlns:a16="http://schemas.microsoft.com/office/drawing/2014/main" id="{EB69AE91-8503-6FA2-6C99-FF1C85165739}"/>
                </a:ext>
              </a:extLst>
            </p:cNvPr>
            <p:cNvPicPr>
              <a:picLocks noChangeAspect="1"/>
            </p:cNvPicPr>
            <p:nvPr/>
          </p:nvPicPr>
          <p:blipFill>
            <a:blip r:embed="rId2"/>
            <a:stretch>
              <a:fillRect/>
            </a:stretch>
          </p:blipFill>
          <p:spPr>
            <a:xfrm>
              <a:off x="9510236" y="3912641"/>
              <a:ext cx="1166123" cy="2353219"/>
            </a:xfrm>
            <a:prstGeom prst="rect">
              <a:avLst/>
            </a:prstGeom>
          </p:spPr>
        </p:pic>
        <p:sp>
          <p:nvSpPr>
            <p:cNvPr id="9" name="Rectangle 8">
              <a:extLst>
                <a:ext uri="{FF2B5EF4-FFF2-40B4-BE49-F238E27FC236}">
                  <a16:creationId xmlns:a16="http://schemas.microsoft.com/office/drawing/2014/main" id="{BB64D7F5-2AA2-9A94-6B51-D7D9365333DD}"/>
                </a:ext>
              </a:extLst>
            </p:cNvPr>
            <p:cNvSpPr/>
            <p:nvPr/>
          </p:nvSpPr>
          <p:spPr>
            <a:xfrm>
              <a:off x="9090155" y="3528201"/>
              <a:ext cx="1586204"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shuffle()</a:t>
              </a:r>
            </a:p>
          </p:txBody>
        </p:sp>
      </p:grpSp>
      <p:grpSp>
        <p:nvGrpSpPr>
          <p:cNvPr id="12" name="Group 11">
            <a:extLst>
              <a:ext uri="{FF2B5EF4-FFF2-40B4-BE49-F238E27FC236}">
                <a16:creationId xmlns:a16="http://schemas.microsoft.com/office/drawing/2014/main" id="{9BABF9E0-70FF-C690-6D80-56D82C00CF9B}"/>
              </a:ext>
            </a:extLst>
          </p:cNvPr>
          <p:cNvGrpSpPr/>
          <p:nvPr/>
        </p:nvGrpSpPr>
        <p:grpSpPr>
          <a:xfrm>
            <a:off x="10503509" y="1440731"/>
            <a:ext cx="1586204" cy="2888976"/>
            <a:chOff x="9242555" y="442877"/>
            <a:chExt cx="1586204" cy="2888976"/>
          </a:xfrm>
        </p:grpSpPr>
        <p:pic>
          <p:nvPicPr>
            <p:cNvPr id="6" name="Picture 5">
              <a:extLst>
                <a:ext uri="{FF2B5EF4-FFF2-40B4-BE49-F238E27FC236}">
                  <a16:creationId xmlns:a16="http://schemas.microsoft.com/office/drawing/2014/main" id="{0357B341-C60C-6DB9-3A54-93CDC24536F2}"/>
                </a:ext>
              </a:extLst>
            </p:cNvPr>
            <p:cNvPicPr>
              <a:picLocks noChangeAspect="1"/>
            </p:cNvPicPr>
            <p:nvPr/>
          </p:nvPicPr>
          <p:blipFill>
            <a:blip r:embed="rId3"/>
            <a:stretch>
              <a:fillRect/>
            </a:stretch>
          </p:blipFill>
          <p:spPr>
            <a:xfrm>
              <a:off x="9536673" y="796518"/>
              <a:ext cx="1223498" cy="2535335"/>
            </a:xfrm>
            <a:prstGeom prst="rect">
              <a:avLst/>
            </a:prstGeom>
          </p:spPr>
        </p:pic>
        <p:sp>
          <p:nvSpPr>
            <p:cNvPr id="10" name="Rectangle 9">
              <a:extLst>
                <a:ext uri="{FF2B5EF4-FFF2-40B4-BE49-F238E27FC236}">
                  <a16:creationId xmlns:a16="http://schemas.microsoft.com/office/drawing/2014/main" id="{0C42488B-5305-12ED-9EEA-54C23F06A99B}"/>
                </a:ext>
              </a:extLst>
            </p:cNvPr>
            <p:cNvSpPr/>
            <p:nvPr/>
          </p:nvSpPr>
          <p:spPr>
            <a:xfrm>
              <a:off x="9242555" y="442877"/>
              <a:ext cx="1586204"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explode()</a:t>
              </a:r>
            </a:p>
          </p:txBody>
        </p:sp>
      </p:grpSp>
      <p:sp>
        <p:nvSpPr>
          <p:cNvPr id="7" name="Rectangle 6">
            <a:extLst>
              <a:ext uri="{FF2B5EF4-FFF2-40B4-BE49-F238E27FC236}">
                <a16:creationId xmlns:a16="http://schemas.microsoft.com/office/drawing/2014/main" id="{3B9EF8D5-637B-6999-8AFC-FC46B05C8ACF}"/>
              </a:ext>
            </a:extLst>
          </p:cNvPr>
          <p:cNvSpPr/>
          <p:nvPr/>
        </p:nvSpPr>
        <p:spPr>
          <a:xfrm>
            <a:off x="0" y="-58270"/>
            <a:ext cx="12192000" cy="899347"/>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4" name="TextBox 13">
            <a:extLst>
              <a:ext uri="{FF2B5EF4-FFF2-40B4-BE49-F238E27FC236}">
                <a16:creationId xmlns:a16="http://schemas.microsoft.com/office/drawing/2014/main" id="{DD205454-D208-BBB0-4F5D-293034AA7E8B}"/>
              </a:ext>
            </a:extLst>
          </p:cNvPr>
          <p:cNvSpPr txBox="1"/>
          <p:nvPr/>
        </p:nvSpPr>
        <p:spPr>
          <a:xfrm>
            <a:off x="155394" y="73325"/>
            <a:ext cx="8634923" cy="646331"/>
          </a:xfrm>
          <a:prstGeom prst="rect">
            <a:avLst/>
          </a:prstGeom>
          <a:noFill/>
        </p:spPr>
        <p:txBody>
          <a:bodyPr wrap="square" rtlCol="0">
            <a:spAutoFit/>
          </a:bodyPr>
          <a:lstStyle/>
          <a:p>
            <a:r>
              <a:rPr lang="en-GB" sz="3600" b="1" kern="1200" spc="-5" dirty="0">
                <a:solidFill>
                  <a:srgbClr val="FFC000"/>
                </a:solidFill>
                <a:latin typeface="Calibri" panose="020F0502020204030204"/>
                <a:ea typeface="+mn-ea"/>
                <a:cs typeface="+mn-cs"/>
              </a:rPr>
              <a:t>Explode , Shuffle function</a:t>
            </a:r>
            <a:endParaRPr lang="en-US" sz="3600" b="1" kern="1200" spc="-5" dirty="0">
              <a:solidFill>
                <a:srgbClr val="FFC000"/>
              </a:solidFill>
              <a:latin typeface="Calibri" panose="020F0502020204030204"/>
              <a:ea typeface="+mn-ea"/>
              <a:cs typeface="+mn-cs"/>
            </a:endParaRPr>
          </a:p>
        </p:txBody>
      </p:sp>
      <p:pic>
        <p:nvPicPr>
          <p:cNvPr id="16" name="object 3">
            <a:extLst>
              <a:ext uri="{FF2B5EF4-FFF2-40B4-BE49-F238E27FC236}">
                <a16:creationId xmlns:a16="http://schemas.microsoft.com/office/drawing/2014/main" id="{0B6BAD61-A5E0-3837-15F5-632721F6E567}"/>
              </a:ext>
            </a:extLst>
          </p:cNvPr>
          <p:cNvPicPr/>
          <p:nvPr/>
        </p:nvPicPr>
        <p:blipFill>
          <a:blip r:embed="rId4" cstate="print"/>
          <a:stretch>
            <a:fillRect/>
          </a:stretch>
        </p:blipFill>
        <p:spPr>
          <a:xfrm>
            <a:off x="11147696" y="-92324"/>
            <a:ext cx="1029430" cy="1020942"/>
          </a:xfrm>
          <a:prstGeom prst="ellipse">
            <a:avLst/>
          </a:prstGeom>
          <a:ln>
            <a:noFill/>
          </a:ln>
          <a:effectLst>
            <a:softEdge rad="112500"/>
          </a:effectLst>
        </p:spPr>
      </p:pic>
    </p:spTree>
    <p:extLst>
      <p:ext uri="{BB962C8B-B14F-4D97-AF65-F5344CB8AC3E}">
        <p14:creationId xmlns:p14="http://schemas.microsoft.com/office/powerpoint/2010/main" val="2915932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fade">
                                      <p:cBhvr>
                                        <p:cTn id="38" dur="500"/>
                                        <p:tgtEl>
                                          <p:spTgt spid="3">
                                            <p:txEl>
                                              <p:pRg st="8" end="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0" y="790061"/>
            <a:ext cx="11662411" cy="5081704"/>
          </a:xfrm>
        </p:spPr>
        <p:txBody>
          <a:bodyPr>
            <a:normAutofit/>
          </a:bodyPr>
          <a:lstStyle/>
          <a:p>
            <a:r>
              <a:rPr lang="en-US" sz="3200" dirty="0" err="1">
                <a:solidFill>
                  <a:srgbClr val="0070C0"/>
                </a:solidFill>
              </a:rPr>
              <a:t>array_merge</a:t>
            </a:r>
            <a:r>
              <a:rPr lang="en-US" sz="3200" dirty="0"/>
              <a:t>:</a:t>
            </a:r>
            <a:r>
              <a:rPr lang="en-US" sz="3200" dirty="0">
                <a:solidFill>
                  <a:srgbClr val="0070C0"/>
                </a:solidFill>
              </a:rPr>
              <a:t> </a:t>
            </a:r>
            <a:r>
              <a:rPr lang="en-US" sz="3200" dirty="0"/>
              <a:t>Merges one or more arrays into one array.</a:t>
            </a:r>
          </a:p>
          <a:p>
            <a:pPr>
              <a:lnSpc>
                <a:spcPct val="113333"/>
              </a:lnSpc>
              <a:buNone/>
            </a:pPr>
            <a:r>
              <a:rPr lang="en-US" dirty="0">
                <a:solidFill>
                  <a:srgbClr val="000000"/>
                </a:solidFill>
                <a:latin typeface="Consolas" panose="020B0609020204030204" pitchFamily="49" charset="0"/>
              </a:rPr>
              <a:t>$a1 = array (</a:t>
            </a:r>
            <a:r>
              <a:rPr lang="en-US" dirty="0">
                <a:solidFill>
                  <a:srgbClr val="098658"/>
                </a:solidFill>
                <a:latin typeface="Consolas" panose="020B0609020204030204" pitchFamily="49" charset="0"/>
              </a:rPr>
              <a:t>1</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2</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3</a:t>
            </a:r>
            <a:r>
              <a:rPr lang="en-US" dirty="0">
                <a:solidFill>
                  <a:srgbClr val="000000"/>
                </a:solidFill>
                <a:latin typeface="Consolas" panose="020B0609020204030204" pitchFamily="49" charset="0"/>
              </a:rPr>
              <a:t>,);</a:t>
            </a:r>
          </a:p>
          <a:p>
            <a:pPr>
              <a:lnSpc>
                <a:spcPct val="113333"/>
              </a:lnSpc>
              <a:buNone/>
            </a:pPr>
            <a:r>
              <a:rPr lang="en-US" dirty="0">
                <a:solidFill>
                  <a:srgbClr val="000000"/>
                </a:solidFill>
                <a:latin typeface="Consolas" panose="020B0609020204030204" pitchFamily="49" charset="0"/>
              </a:rPr>
              <a:t>$a2 = array (</a:t>
            </a:r>
            <a:r>
              <a:rPr lang="en-US" dirty="0">
                <a:solidFill>
                  <a:srgbClr val="098658"/>
                </a:solidFill>
                <a:latin typeface="Consolas" panose="020B0609020204030204" pitchFamily="49" charset="0"/>
              </a:rPr>
              <a:t>1</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5</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6</a:t>
            </a:r>
            <a:r>
              <a:rPr lang="en-US" dirty="0">
                <a:solidFill>
                  <a:srgbClr val="000000"/>
                </a:solidFill>
                <a:latin typeface="Consolas" panose="020B0609020204030204" pitchFamily="49" charset="0"/>
              </a:rPr>
              <a:t>,);</a:t>
            </a:r>
          </a:p>
          <a:p>
            <a:pPr>
              <a:lnSpc>
                <a:spcPct val="113333"/>
              </a:lnSpc>
              <a:buNone/>
            </a:pPr>
            <a:r>
              <a:rPr lang="en-US" dirty="0">
                <a:solidFill>
                  <a:srgbClr val="000000"/>
                </a:solidFill>
                <a:latin typeface="Consolas" panose="020B0609020204030204" pitchFamily="49" charset="0"/>
              </a:rPr>
              <a:t>$a3 = </a:t>
            </a:r>
            <a:r>
              <a:rPr lang="en-US" dirty="0" err="1">
                <a:solidFill>
                  <a:srgbClr val="000000"/>
                </a:solidFill>
                <a:latin typeface="Consolas" panose="020B0609020204030204" pitchFamily="49" charset="0"/>
              </a:rPr>
              <a:t>array_merge</a:t>
            </a:r>
            <a:r>
              <a:rPr lang="en-US" dirty="0">
                <a:solidFill>
                  <a:srgbClr val="000000"/>
                </a:solidFill>
                <a:latin typeface="Consolas" panose="020B0609020204030204" pitchFamily="49" charset="0"/>
              </a:rPr>
              <a:t>($a1,$a2);</a:t>
            </a:r>
          </a:p>
          <a:p>
            <a:pPr>
              <a:lnSpc>
                <a:spcPct val="113333"/>
              </a:lnSpc>
              <a:buNone/>
            </a:pPr>
            <a:r>
              <a:rPr lang="en-US" dirty="0">
                <a:solidFill>
                  <a:srgbClr val="000000"/>
                </a:solidFill>
                <a:latin typeface="Consolas" panose="020B0609020204030204" pitchFamily="49" charset="0"/>
              </a:rPr>
              <a:t>echo </a:t>
            </a:r>
            <a:r>
              <a:rPr lang="en-US" dirty="0">
                <a:solidFill>
                  <a:srgbClr val="A31515"/>
                </a:solidFill>
                <a:latin typeface="Consolas" panose="020B0609020204030204" pitchFamily="49" charset="0"/>
              </a:rPr>
              <a:t>"&lt;pre&gt;"</a:t>
            </a:r>
            <a:r>
              <a:rPr lang="en-US" dirty="0">
                <a:solidFill>
                  <a:srgbClr val="000000"/>
                </a:solidFill>
                <a:latin typeface="Consolas" panose="020B0609020204030204" pitchFamily="49" charset="0"/>
              </a:rPr>
              <a:t>;</a:t>
            </a:r>
          </a:p>
          <a:p>
            <a:pPr>
              <a:lnSpc>
                <a:spcPct val="113333"/>
              </a:lnSpc>
              <a:buNone/>
            </a:pPr>
            <a:r>
              <a:rPr lang="en-US" dirty="0">
                <a:solidFill>
                  <a:srgbClr val="000000"/>
                </a:solidFill>
                <a:latin typeface="Consolas" panose="020B0609020204030204" pitchFamily="49" charset="0"/>
              </a:rPr>
              <a:t>print_r($a3);</a:t>
            </a:r>
          </a:p>
          <a:p>
            <a:pPr>
              <a:lnSpc>
                <a:spcPct val="113333"/>
              </a:lnSpc>
              <a:buNone/>
            </a:pPr>
            <a:r>
              <a:rPr lang="en-US" dirty="0">
                <a:solidFill>
                  <a:srgbClr val="000000"/>
                </a:solidFill>
                <a:latin typeface="Consolas" panose="020B0609020204030204" pitchFamily="49" charset="0"/>
              </a:rPr>
              <a:t>echo </a:t>
            </a:r>
            <a:r>
              <a:rPr lang="en-US" dirty="0">
                <a:solidFill>
                  <a:srgbClr val="A31515"/>
                </a:solidFill>
                <a:latin typeface="Consolas" panose="020B0609020204030204" pitchFamily="49" charset="0"/>
              </a:rPr>
              <a:t>"&lt;/pre&gt;"</a:t>
            </a:r>
            <a:r>
              <a:rPr lang="en-US" dirty="0">
                <a:solidFill>
                  <a:srgbClr val="000000"/>
                </a:solidFill>
                <a:latin typeface="Consolas" panose="020B0609020204030204" pitchFamily="49" charset="0"/>
              </a:rPr>
              <a:t>;</a:t>
            </a:r>
          </a:p>
          <a:p>
            <a:r>
              <a:rPr lang="en-US" sz="3200" dirty="0" err="1">
                <a:solidFill>
                  <a:srgbClr val="0070C0"/>
                </a:solidFill>
              </a:rPr>
              <a:t>array_reverse</a:t>
            </a:r>
            <a:r>
              <a:rPr lang="en-US" sz="3200" dirty="0"/>
              <a:t>: Return an array in the reverse order.</a:t>
            </a:r>
          </a:p>
          <a:p>
            <a:pPr>
              <a:lnSpc>
                <a:spcPct val="113333"/>
              </a:lnSpc>
              <a:buNone/>
            </a:pPr>
            <a:r>
              <a:rPr lang="en-US" sz="3200" dirty="0"/>
              <a:t>	</a:t>
            </a:r>
            <a:r>
              <a:rPr lang="en-US" sz="3200" dirty="0">
                <a:solidFill>
                  <a:srgbClr val="000000"/>
                </a:solidFill>
                <a:latin typeface="Consolas" panose="020B0609020204030204" pitchFamily="49" charset="0"/>
              </a:rPr>
              <a:t>$p =</a:t>
            </a:r>
            <a:r>
              <a:rPr lang="en-US" sz="3200" dirty="0" err="1">
                <a:solidFill>
                  <a:srgbClr val="000000"/>
                </a:solidFill>
                <a:latin typeface="Consolas" panose="020B0609020204030204" pitchFamily="49" charset="0"/>
              </a:rPr>
              <a:t>array_reverse</a:t>
            </a:r>
            <a:r>
              <a:rPr lang="en-US" sz="3200" dirty="0">
                <a:solidFill>
                  <a:srgbClr val="000000"/>
                </a:solidFill>
                <a:latin typeface="Consolas" panose="020B0609020204030204" pitchFamily="49" charset="0"/>
              </a:rPr>
              <a:t>($a3);</a:t>
            </a:r>
          </a:p>
          <a:p>
            <a:endParaRPr lang="en-US" sz="3200" dirty="0"/>
          </a:p>
        </p:txBody>
      </p:sp>
      <p:sp>
        <p:nvSpPr>
          <p:cNvPr id="4" name="Slide Number Placeholder 3"/>
          <p:cNvSpPr>
            <a:spLocks noGrp="1"/>
          </p:cNvSpPr>
          <p:nvPr>
            <p:ph type="sldNum" idx="12"/>
          </p:nvPr>
        </p:nvSpPr>
        <p:spPr/>
        <p:txBody>
          <a:bodyPr/>
          <a:lstStyle/>
          <a:p>
            <a:pPr>
              <a:defRPr/>
            </a:pPr>
            <a:fld id="{1DFD1671-737C-44E1-8E5C-EC48A34B655F}" type="slidenum">
              <a:rPr lang="en-US" smtClean="0"/>
              <a:pPr>
                <a:defRPr/>
              </a:pPr>
              <a:t>19</a:t>
            </a:fld>
            <a:endParaRPr lang="en-US"/>
          </a:p>
        </p:txBody>
      </p:sp>
      <p:grpSp>
        <p:nvGrpSpPr>
          <p:cNvPr id="12" name="Group 11">
            <a:extLst>
              <a:ext uri="{FF2B5EF4-FFF2-40B4-BE49-F238E27FC236}">
                <a16:creationId xmlns:a16="http://schemas.microsoft.com/office/drawing/2014/main" id="{127E1204-F04D-71AB-711C-E1D6D2EC3411}"/>
              </a:ext>
            </a:extLst>
          </p:cNvPr>
          <p:cNvGrpSpPr/>
          <p:nvPr/>
        </p:nvGrpSpPr>
        <p:grpSpPr>
          <a:xfrm>
            <a:off x="10552482" y="911482"/>
            <a:ext cx="1624644" cy="3150462"/>
            <a:chOff x="9767596" y="604225"/>
            <a:chExt cx="1624644" cy="3150462"/>
          </a:xfrm>
        </p:grpSpPr>
        <p:pic>
          <p:nvPicPr>
            <p:cNvPr id="6" name="Picture 5">
              <a:extLst>
                <a:ext uri="{FF2B5EF4-FFF2-40B4-BE49-F238E27FC236}">
                  <a16:creationId xmlns:a16="http://schemas.microsoft.com/office/drawing/2014/main" id="{383DC99C-54EE-A9AD-D72C-D173CF508C29}"/>
                </a:ext>
              </a:extLst>
            </p:cNvPr>
            <p:cNvPicPr>
              <a:picLocks noChangeAspect="1"/>
            </p:cNvPicPr>
            <p:nvPr/>
          </p:nvPicPr>
          <p:blipFill>
            <a:blip r:embed="rId2"/>
            <a:stretch>
              <a:fillRect/>
            </a:stretch>
          </p:blipFill>
          <p:spPr>
            <a:xfrm>
              <a:off x="10371219" y="966243"/>
              <a:ext cx="1021021" cy="2788444"/>
            </a:xfrm>
            <a:prstGeom prst="rect">
              <a:avLst/>
            </a:prstGeom>
          </p:spPr>
        </p:pic>
        <p:sp>
          <p:nvSpPr>
            <p:cNvPr id="7" name="Rectangle 6">
              <a:extLst>
                <a:ext uri="{FF2B5EF4-FFF2-40B4-BE49-F238E27FC236}">
                  <a16:creationId xmlns:a16="http://schemas.microsoft.com/office/drawing/2014/main" id="{764E9D32-1BA7-088D-ED41-0EB491913B2B}"/>
                </a:ext>
              </a:extLst>
            </p:cNvPr>
            <p:cNvSpPr/>
            <p:nvPr/>
          </p:nvSpPr>
          <p:spPr>
            <a:xfrm>
              <a:off x="9767596" y="604225"/>
              <a:ext cx="1586204"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array_merge</a:t>
              </a:r>
              <a:r>
                <a:rPr lang="en-US" dirty="0">
                  <a:solidFill>
                    <a:schemeClr val="tx1"/>
                  </a:solidFill>
                </a:rPr>
                <a:t>()</a:t>
              </a:r>
            </a:p>
          </p:txBody>
        </p:sp>
      </p:grpSp>
      <p:grpSp>
        <p:nvGrpSpPr>
          <p:cNvPr id="11" name="Group 10">
            <a:extLst>
              <a:ext uri="{FF2B5EF4-FFF2-40B4-BE49-F238E27FC236}">
                <a16:creationId xmlns:a16="http://schemas.microsoft.com/office/drawing/2014/main" id="{EA4BF805-F532-2CAB-C41A-B61B9F432945}"/>
              </a:ext>
            </a:extLst>
          </p:cNvPr>
          <p:cNvGrpSpPr/>
          <p:nvPr/>
        </p:nvGrpSpPr>
        <p:grpSpPr>
          <a:xfrm>
            <a:off x="9528791" y="4061944"/>
            <a:ext cx="2663209" cy="2682683"/>
            <a:chOff x="5617029" y="3964147"/>
            <a:chExt cx="2663209" cy="2682683"/>
          </a:xfrm>
        </p:grpSpPr>
        <p:pic>
          <p:nvPicPr>
            <p:cNvPr id="9" name="Picture 8">
              <a:extLst>
                <a:ext uri="{FF2B5EF4-FFF2-40B4-BE49-F238E27FC236}">
                  <a16:creationId xmlns:a16="http://schemas.microsoft.com/office/drawing/2014/main" id="{927D999E-3940-F34D-3CC6-51C83A9848FC}"/>
                </a:ext>
              </a:extLst>
            </p:cNvPr>
            <p:cNvPicPr>
              <a:picLocks noChangeAspect="1"/>
            </p:cNvPicPr>
            <p:nvPr/>
          </p:nvPicPr>
          <p:blipFill>
            <a:blip r:embed="rId3"/>
            <a:stretch>
              <a:fillRect/>
            </a:stretch>
          </p:blipFill>
          <p:spPr>
            <a:xfrm>
              <a:off x="7259217" y="3964147"/>
              <a:ext cx="1021021" cy="2682683"/>
            </a:xfrm>
            <a:prstGeom prst="rect">
              <a:avLst/>
            </a:prstGeom>
          </p:spPr>
        </p:pic>
        <p:sp>
          <p:nvSpPr>
            <p:cNvPr id="10" name="Rectangle 9">
              <a:extLst>
                <a:ext uri="{FF2B5EF4-FFF2-40B4-BE49-F238E27FC236}">
                  <a16:creationId xmlns:a16="http://schemas.microsoft.com/office/drawing/2014/main" id="{C431E40E-2200-0A5E-AFCF-D62A1AEDD1FE}"/>
                </a:ext>
              </a:extLst>
            </p:cNvPr>
            <p:cNvSpPr/>
            <p:nvPr/>
          </p:nvSpPr>
          <p:spPr>
            <a:xfrm>
              <a:off x="5617029" y="5122925"/>
              <a:ext cx="1774371"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array_reverse</a:t>
              </a:r>
              <a:r>
                <a:rPr lang="en-US" dirty="0">
                  <a:solidFill>
                    <a:schemeClr val="tx1"/>
                  </a:solidFill>
                </a:rPr>
                <a:t>()</a:t>
              </a:r>
            </a:p>
          </p:txBody>
        </p:sp>
      </p:grpSp>
      <p:sp>
        <p:nvSpPr>
          <p:cNvPr id="8" name="Rectangle 7">
            <a:extLst>
              <a:ext uri="{FF2B5EF4-FFF2-40B4-BE49-F238E27FC236}">
                <a16:creationId xmlns:a16="http://schemas.microsoft.com/office/drawing/2014/main" id="{B61CC502-5D24-A347-4FC3-1DEA2FBC055D}"/>
              </a:ext>
            </a:extLst>
          </p:cNvPr>
          <p:cNvSpPr/>
          <p:nvPr/>
        </p:nvSpPr>
        <p:spPr>
          <a:xfrm>
            <a:off x="0" y="-58270"/>
            <a:ext cx="12192000" cy="899347"/>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4" name="TextBox 13">
            <a:extLst>
              <a:ext uri="{FF2B5EF4-FFF2-40B4-BE49-F238E27FC236}">
                <a16:creationId xmlns:a16="http://schemas.microsoft.com/office/drawing/2014/main" id="{4A5CF274-33F3-0828-24A4-4EF49EF916F4}"/>
              </a:ext>
            </a:extLst>
          </p:cNvPr>
          <p:cNvSpPr txBox="1"/>
          <p:nvPr/>
        </p:nvSpPr>
        <p:spPr>
          <a:xfrm>
            <a:off x="155394" y="73325"/>
            <a:ext cx="8634923" cy="646331"/>
          </a:xfrm>
          <a:prstGeom prst="rect">
            <a:avLst/>
          </a:prstGeom>
          <a:noFill/>
        </p:spPr>
        <p:txBody>
          <a:bodyPr wrap="square" rtlCol="0">
            <a:spAutoFit/>
          </a:bodyPr>
          <a:lstStyle/>
          <a:p>
            <a:r>
              <a:rPr lang="en-GB" sz="3600" b="1" kern="1200" spc="-5" dirty="0" err="1">
                <a:solidFill>
                  <a:srgbClr val="FFC000"/>
                </a:solidFill>
                <a:latin typeface="Calibri" panose="020F0502020204030204"/>
                <a:ea typeface="+mn-ea"/>
                <a:cs typeface="+mn-cs"/>
              </a:rPr>
              <a:t>Array_Merge</a:t>
            </a:r>
            <a:r>
              <a:rPr lang="en-GB" sz="3600" b="1" kern="1200" spc="-5" dirty="0">
                <a:solidFill>
                  <a:srgbClr val="FFC000"/>
                </a:solidFill>
                <a:latin typeface="Calibri" panose="020F0502020204030204"/>
                <a:ea typeface="+mn-ea"/>
                <a:cs typeface="+mn-cs"/>
              </a:rPr>
              <a:t> , </a:t>
            </a:r>
            <a:r>
              <a:rPr lang="en-GB" sz="3600" b="1" kern="1200" spc="-5" dirty="0" err="1">
                <a:solidFill>
                  <a:srgbClr val="FFC000"/>
                </a:solidFill>
                <a:latin typeface="Calibri" panose="020F0502020204030204"/>
                <a:ea typeface="+mn-ea"/>
                <a:cs typeface="+mn-cs"/>
              </a:rPr>
              <a:t>Array_Reverse</a:t>
            </a:r>
            <a:r>
              <a:rPr lang="en-GB" sz="3600" b="1" kern="1200" spc="-5" dirty="0">
                <a:solidFill>
                  <a:srgbClr val="FFC000"/>
                </a:solidFill>
                <a:latin typeface="Calibri" panose="020F0502020204030204"/>
                <a:ea typeface="+mn-ea"/>
                <a:cs typeface="+mn-cs"/>
              </a:rPr>
              <a:t> function</a:t>
            </a:r>
            <a:endParaRPr lang="en-US" sz="3600" b="1" kern="1200" spc="-5" dirty="0">
              <a:solidFill>
                <a:srgbClr val="FFC000"/>
              </a:solidFill>
              <a:latin typeface="Calibri" panose="020F0502020204030204"/>
              <a:ea typeface="+mn-ea"/>
              <a:cs typeface="+mn-cs"/>
            </a:endParaRPr>
          </a:p>
        </p:txBody>
      </p:sp>
      <p:pic>
        <p:nvPicPr>
          <p:cNvPr id="16" name="object 3">
            <a:extLst>
              <a:ext uri="{FF2B5EF4-FFF2-40B4-BE49-F238E27FC236}">
                <a16:creationId xmlns:a16="http://schemas.microsoft.com/office/drawing/2014/main" id="{D31B5869-D84D-A037-D729-BA15D18FB061}"/>
              </a:ext>
            </a:extLst>
          </p:cNvPr>
          <p:cNvPicPr/>
          <p:nvPr/>
        </p:nvPicPr>
        <p:blipFill>
          <a:blip r:embed="rId4" cstate="print"/>
          <a:stretch>
            <a:fillRect/>
          </a:stretch>
        </p:blipFill>
        <p:spPr>
          <a:xfrm>
            <a:off x="11147696" y="-92324"/>
            <a:ext cx="1029430" cy="1020942"/>
          </a:xfrm>
          <a:prstGeom prst="ellipse">
            <a:avLst/>
          </a:prstGeom>
          <a:ln>
            <a:noFill/>
          </a:ln>
          <a:effectLst>
            <a:softEdge rad="112500"/>
          </a:effectLst>
        </p:spPr>
      </p:pic>
    </p:spTree>
    <p:extLst>
      <p:ext uri="{BB962C8B-B14F-4D97-AF65-F5344CB8AC3E}">
        <p14:creationId xmlns:p14="http://schemas.microsoft.com/office/powerpoint/2010/main" val="3628036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animEffect transition="in" filter="fade">
                                      <p:cBhvr>
                                        <p:cTn id="17" dur="500"/>
                                        <p:tgtEl>
                                          <p:spTgt spid="3">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fade">
                                      <p:cBhvr>
                                        <p:cTn id="32" dur="5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500"/>
                                        <p:tgtEl>
                                          <p:spTgt spid="3">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fade">
                                      <p:cBhvr>
                                        <p:cTn id="47" dur="500"/>
                                        <p:tgtEl>
                                          <p:spTgt spid="3">
                                            <p:txEl>
                                              <p:pRg st="6" end="6"/>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3">
                                            <p:txEl>
                                              <p:pRg st="8" end="8"/>
                                            </p:txEl>
                                          </p:spTgt>
                                        </p:tgtEl>
                                        <p:attrNameLst>
                                          <p:attrName>style.visibility</p:attrName>
                                        </p:attrNameLst>
                                      </p:cBhvr>
                                      <p:to>
                                        <p:strVal val="visible"/>
                                      </p:to>
                                    </p:set>
                                    <p:animEffect transition="in" filter="fade">
                                      <p:cBhvr>
                                        <p:cTn id="50" dur="500"/>
                                        <p:tgtEl>
                                          <p:spTgt spid="3">
                                            <p:txEl>
                                              <p:pRg st="8" end="8"/>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0" y="851251"/>
            <a:ext cx="12177126" cy="5891172"/>
          </a:xfrm>
        </p:spPr>
        <p:txBody>
          <a:bodyPr>
            <a:normAutofit fontScale="92500" lnSpcReduction="10000"/>
          </a:bodyPr>
          <a:lstStyle/>
          <a:p>
            <a:r>
              <a:rPr lang="en-US" sz="3200" dirty="0" err="1">
                <a:solidFill>
                  <a:srgbClr val="0070C0"/>
                </a:solidFill>
              </a:rPr>
              <a:t>array_push</a:t>
            </a:r>
            <a:r>
              <a:rPr lang="en-US" sz="3200" dirty="0"/>
              <a:t>:</a:t>
            </a:r>
            <a:r>
              <a:rPr lang="en-US" sz="3200" dirty="0">
                <a:solidFill>
                  <a:srgbClr val="0070C0"/>
                </a:solidFill>
              </a:rPr>
              <a:t> </a:t>
            </a:r>
            <a:r>
              <a:rPr lang="en-US" sz="3200" dirty="0"/>
              <a:t>adds elements to the end of the array and returns the new number of elements in the array.</a:t>
            </a:r>
          </a:p>
          <a:p>
            <a:pPr marL="457200" lvl="1" indent="0">
              <a:buNone/>
            </a:pPr>
            <a:r>
              <a:rPr lang="en-US" sz="3200" dirty="0">
                <a:solidFill>
                  <a:srgbClr val="0070C0"/>
                </a:solidFill>
              </a:rPr>
              <a:t>  $a = array (2, 4, 6, 8);</a:t>
            </a:r>
          </a:p>
          <a:p>
            <a:pPr marL="457200" lvl="1" indent="0">
              <a:buNone/>
            </a:pPr>
            <a:r>
              <a:rPr lang="en-US" sz="3200" dirty="0">
                <a:solidFill>
                  <a:srgbClr val="0070C0"/>
                </a:solidFill>
              </a:rPr>
              <a:t>  array_push($a, 10); // Output 5</a:t>
            </a:r>
            <a:endParaRPr lang="en-US" sz="3200" dirty="0"/>
          </a:p>
          <a:p>
            <a:r>
              <a:rPr lang="en-US" sz="3200" dirty="0" err="1">
                <a:solidFill>
                  <a:srgbClr val="0070C0"/>
                </a:solidFill>
              </a:rPr>
              <a:t>array_pop</a:t>
            </a:r>
            <a:r>
              <a:rPr lang="en-US" sz="3200" dirty="0"/>
              <a:t>:</a:t>
            </a:r>
            <a:r>
              <a:rPr lang="en-US" sz="3200" dirty="0">
                <a:solidFill>
                  <a:srgbClr val="0070C0"/>
                </a:solidFill>
              </a:rPr>
              <a:t> </a:t>
            </a:r>
            <a:r>
              <a:rPr lang="en-US" sz="3200" dirty="0"/>
              <a:t>removes the last element of an array and returns the removed element.</a:t>
            </a:r>
          </a:p>
          <a:p>
            <a:pPr marL="457200" lvl="1" indent="0">
              <a:buNone/>
            </a:pPr>
            <a:r>
              <a:rPr lang="en-US" sz="3200" dirty="0">
                <a:solidFill>
                  <a:srgbClr val="0070C0"/>
                </a:solidFill>
              </a:rPr>
              <a:t>$a = array (1, 2, 3, 4);</a:t>
            </a:r>
          </a:p>
          <a:p>
            <a:pPr marL="457200" lvl="1" indent="0">
              <a:buNone/>
            </a:pPr>
            <a:r>
              <a:rPr lang="en-US" sz="3200" dirty="0" err="1">
                <a:solidFill>
                  <a:srgbClr val="0070C0"/>
                </a:solidFill>
              </a:rPr>
              <a:t>array_pop</a:t>
            </a:r>
            <a:r>
              <a:rPr lang="en-US" sz="3200" dirty="0">
                <a:solidFill>
                  <a:srgbClr val="0070C0"/>
                </a:solidFill>
              </a:rPr>
              <a:t>($a); // Output 4</a:t>
            </a:r>
          </a:p>
          <a:p>
            <a:pPr marL="457200" lvl="1" indent="0">
              <a:buNone/>
            </a:pPr>
            <a:r>
              <a:rPr lang="en-US" sz="3200" dirty="0">
                <a:solidFill>
                  <a:srgbClr val="0070C0"/>
                </a:solidFill>
              </a:rPr>
              <a:t>end: </a:t>
            </a:r>
            <a:r>
              <a:rPr lang="en-US" sz="3200" dirty="0"/>
              <a:t>Sets the internal pointer of an array to its last element and returns its value.</a:t>
            </a:r>
          </a:p>
          <a:p>
            <a:pPr>
              <a:lnSpc>
                <a:spcPct val="113333"/>
              </a:lnSpc>
              <a:buNone/>
            </a:pPr>
            <a:r>
              <a:rPr lang="en-US" dirty="0">
                <a:solidFill>
                  <a:srgbClr val="000000"/>
                </a:solidFill>
                <a:latin typeface="Consolas" panose="020B0609020204030204" pitchFamily="49" charset="0"/>
              </a:rPr>
              <a:t>	</a:t>
            </a:r>
            <a:r>
              <a:rPr lang="en-US" sz="3000" dirty="0">
                <a:solidFill>
                  <a:srgbClr val="000000"/>
                </a:solidFill>
                <a:latin typeface="Consolas" panose="020B0609020204030204" pitchFamily="49" charset="0"/>
              </a:rPr>
              <a:t>$last=end($p);</a:t>
            </a:r>
          </a:p>
          <a:p>
            <a:pPr>
              <a:lnSpc>
                <a:spcPct val="113333"/>
              </a:lnSpc>
              <a:buNone/>
            </a:pPr>
            <a:r>
              <a:rPr lang="en-US" sz="3000" dirty="0">
                <a:solidFill>
                  <a:srgbClr val="000000"/>
                </a:solidFill>
                <a:latin typeface="Consolas" panose="020B0609020204030204" pitchFamily="49" charset="0"/>
              </a:rPr>
              <a:t>	echo </a:t>
            </a:r>
            <a:r>
              <a:rPr lang="en-US" sz="3000" dirty="0">
                <a:solidFill>
                  <a:srgbClr val="A31515"/>
                </a:solidFill>
                <a:latin typeface="Consolas" panose="020B0609020204030204" pitchFamily="49" charset="0"/>
              </a:rPr>
              <a:t>"The last element of the array is: "</a:t>
            </a:r>
            <a:r>
              <a:rPr lang="en-US" sz="3000" dirty="0">
                <a:solidFill>
                  <a:srgbClr val="000000"/>
                </a:solidFill>
                <a:latin typeface="Consolas" panose="020B0609020204030204" pitchFamily="49" charset="0"/>
              </a:rPr>
              <a:t> . $last;</a:t>
            </a:r>
          </a:p>
          <a:p>
            <a:pPr>
              <a:lnSpc>
                <a:spcPct val="113333"/>
              </a:lnSpc>
              <a:buNone/>
            </a:pPr>
            <a:endParaRPr lang="en-US" dirty="0">
              <a:solidFill>
                <a:srgbClr val="000000"/>
              </a:solidFill>
              <a:latin typeface="Consolas" panose="020B0609020204030204" pitchFamily="49" charset="0"/>
            </a:endParaRPr>
          </a:p>
          <a:p>
            <a:pPr marL="457200" lvl="1" indent="0">
              <a:buNone/>
            </a:pPr>
            <a:endParaRPr lang="en-US" sz="3200" dirty="0"/>
          </a:p>
        </p:txBody>
      </p:sp>
      <p:sp>
        <p:nvSpPr>
          <p:cNvPr id="4" name="Slide Number Placeholder 3"/>
          <p:cNvSpPr>
            <a:spLocks noGrp="1"/>
          </p:cNvSpPr>
          <p:nvPr>
            <p:ph type="sldNum" idx="12"/>
          </p:nvPr>
        </p:nvSpPr>
        <p:spPr/>
        <p:txBody>
          <a:bodyPr/>
          <a:lstStyle/>
          <a:p>
            <a:pPr>
              <a:defRPr/>
            </a:pPr>
            <a:fld id="{1DFD1671-737C-44E1-8E5C-EC48A34B655F}" type="slidenum">
              <a:rPr lang="en-US" smtClean="0"/>
              <a:pPr>
                <a:defRPr/>
              </a:pPr>
              <a:t>20</a:t>
            </a:fld>
            <a:endParaRPr lang="en-US"/>
          </a:p>
        </p:txBody>
      </p:sp>
      <p:sp>
        <p:nvSpPr>
          <p:cNvPr id="6" name="Rectangle 5">
            <a:extLst>
              <a:ext uri="{FF2B5EF4-FFF2-40B4-BE49-F238E27FC236}">
                <a16:creationId xmlns:a16="http://schemas.microsoft.com/office/drawing/2014/main" id="{AF4C7ED7-124C-85BC-72E0-9ACFFD04FB68}"/>
              </a:ext>
            </a:extLst>
          </p:cNvPr>
          <p:cNvSpPr/>
          <p:nvPr/>
        </p:nvSpPr>
        <p:spPr>
          <a:xfrm>
            <a:off x="0" y="-58270"/>
            <a:ext cx="12192000" cy="899347"/>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TextBox 7">
            <a:extLst>
              <a:ext uri="{FF2B5EF4-FFF2-40B4-BE49-F238E27FC236}">
                <a16:creationId xmlns:a16="http://schemas.microsoft.com/office/drawing/2014/main" id="{A0BF4BA8-C4E7-9975-315E-B4F891BB390B}"/>
              </a:ext>
            </a:extLst>
          </p:cNvPr>
          <p:cNvSpPr txBox="1"/>
          <p:nvPr/>
        </p:nvSpPr>
        <p:spPr>
          <a:xfrm>
            <a:off x="155394" y="73325"/>
            <a:ext cx="8634923" cy="646331"/>
          </a:xfrm>
          <a:prstGeom prst="rect">
            <a:avLst/>
          </a:prstGeom>
          <a:noFill/>
        </p:spPr>
        <p:txBody>
          <a:bodyPr wrap="square" rtlCol="0">
            <a:spAutoFit/>
          </a:bodyPr>
          <a:lstStyle/>
          <a:p>
            <a:r>
              <a:rPr lang="en-GB" sz="3600" b="1" kern="1200" spc="-5" dirty="0">
                <a:solidFill>
                  <a:srgbClr val="FFC000"/>
                </a:solidFill>
                <a:latin typeface="Calibri" panose="020F0502020204030204"/>
                <a:ea typeface="+mn-ea"/>
                <a:cs typeface="+mn-cs"/>
              </a:rPr>
              <a:t>array_push, </a:t>
            </a:r>
            <a:r>
              <a:rPr lang="en-GB" sz="3600" b="1" kern="1200" spc="-5" dirty="0" err="1">
                <a:solidFill>
                  <a:srgbClr val="FFC000"/>
                </a:solidFill>
                <a:latin typeface="Calibri" panose="020F0502020204030204"/>
                <a:ea typeface="+mn-ea"/>
                <a:cs typeface="+mn-cs"/>
              </a:rPr>
              <a:t>array_pop</a:t>
            </a:r>
            <a:r>
              <a:rPr lang="en-GB" sz="3600" b="1" kern="1200" spc="-5" dirty="0">
                <a:solidFill>
                  <a:srgbClr val="FFC000"/>
                </a:solidFill>
                <a:latin typeface="Calibri" panose="020F0502020204030204"/>
                <a:ea typeface="+mn-ea"/>
                <a:cs typeface="+mn-cs"/>
              </a:rPr>
              <a:t>, end function</a:t>
            </a:r>
            <a:endParaRPr lang="en-US" sz="3600" b="1" kern="1200" spc="-5" dirty="0">
              <a:solidFill>
                <a:srgbClr val="FFC000"/>
              </a:solidFill>
              <a:latin typeface="Calibri" panose="020F0502020204030204"/>
              <a:ea typeface="+mn-ea"/>
              <a:cs typeface="+mn-cs"/>
            </a:endParaRPr>
          </a:p>
        </p:txBody>
      </p:sp>
      <p:pic>
        <p:nvPicPr>
          <p:cNvPr id="10" name="object 3">
            <a:extLst>
              <a:ext uri="{FF2B5EF4-FFF2-40B4-BE49-F238E27FC236}">
                <a16:creationId xmlns:a16="http://schemas.microsoft.com/office/drawing/2014/main" id="{C444F4F1-1051-E571-20E9-670225BA9D20}"/>
              </a:ext>
            </a:extLst>
          </p:cNvPr>
          <p:cNvPicPr/>
          <p:nvPr/>
        </p:nvPicPr>
        <p:blipFill>
          <a:blip r:embed="rId2" cstate="print"/>
          <a:stretch>
            <a:fillRect/>
          </a:stretch>
        </p:blipFill>
        <p:spPr>
          <a:xfrm>
            <a:off x="11147696" y="-92324"/>
            <a:ext cx="1029430" cy="1020942"/>
          </a:xfrm>
          <a:prstGeom prst="ellipse">
            <a:avLst/>
          </a:prstGeom>
          <a:ln>
            <a:noFill/>
          </a:ln>
          <a:effectLst>
            <a:softEdge rad="112500"/>
          </a:effectLst>
        </p:spPr>
      </p:pic>
      <p:sp>
        <p:nvSpPr>
          <p:cNvPr id="2" name="Rectangle 1">
            <a:extLst>
              <a:ext uri="{FF2B5EF4-FFF2-40B4-BE49-F238E27FC236}">
                <a16:creationId xmlns:a16="http://schemas.microsoft.com/office/drawing/2014/main" id="{4C6C66FE-D6FB-02E0-1351-E1FAAB08AA16}"/>
              </a:ext>
            </a:extLst>
          </p:cNvPr>
          <p:cNvSpPr/>
          <p:nvPr/>
        </p:nvSpPr>
        <p:spPr>
          <a:xfrm>
            <a:off x="14874" y="-58270"/>
            <a:ext cx="12192000" cy="899347"/>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5" name="TextBox 4">
            <a:extLst>
              <a:ext uri="{FF2B5EF4-FFF2-40B4-BE49-F238E27FC236}">
                <a16:creationId xmlns:a16="http://schemas.microsoft.com/office/drawing/2014/main" id="{A816853D-11F3-4A3C-038D-22DDCD070F05}"/>
              </a:ext>
            </a:extLst>
          </p:cNvPr>
          <p:cNvSpPr txBox="1"/>
          <p:nvPr/>
        </p:nvSpPr>
        <p:spPr>
          <a:xfrm>
            <a:off x="170268" y="73325"/>
            <a:ext cx="8634923" cy="646331"/>
          </a:xfrm>
          <a:prstGeom prst="rect">
            <a:avLst/>
          </a:prstGeom>
          <a:noFill/>
        </p:spPr>
        <p:txBody>
          <a:bodyPr wrap="square" rtlCol="0">
            <a:spAutoFit/>
          </a:bodyPr>
          <a:lstStyle/>
          <a:p>
            <a:r>
              <a:rPr lang="en-GB" sz="3600" b="1" kern="1200" spc="-5" dirty="0">
                <a:solidFill>
                  <a:srgbClr val="FFC000"/>
                </a:solidFill>
                <a:latin typeface="Calibri" panose="020F0502020204030204"/>
                <a:ea typeface="+mn-ea"/>
                <a:cs typeface="+mn-cs"/>
              </a:rPr>
              <a:t>array_push, </a:t>
            </a:r>
            <a:r>
              <a:rPr lang="en-GB" sz="3600" b="1" kern="1200" spc="-5" dirty="0" err="1">
                <a:solidFill>
                  <a:srgbClr val="FFC000"/>
                </a:solidFill>
                <a:latin typeface="Calibri" panose="020F0502020204030204"/>
                <a:ea typeface="+mn-ea"/>
                <a:cs typeface="+mn-cs"/>
              </a:rPr>
              <a:t>array_pop</a:t>
            </a:r>
            <a:r>
              <a:rPr lang="en-GB" sz="3600" b="1" kern="1200" spc="-5" dirty="0">
                <a:solidFill>
                  <a:srgbClr val="FFC000"/>
                </a:solidFill>
                <a:latin typeface="Calibri" panose="020F0502020204030204"/>
                <a:ea typeface="+mn-ea"/>
                <a:cs typeface="+mn-cs"/>
              </a:rPr>
              <a:t>, end function</a:t>
            </a:r>
            <a:endParaRPr lang="en-US" sz="3600" b="1" kern="1200" spc="-5" dirty="0">
              <a:solidFill>
                <a:srgbClr val="FFC000"/>
              </a:solidFill>
              <a:latin typeface="Calibri" panose="020F0502020204030204"/>
              <a:ea typeface="+mn-ea"/>
              <a:cs typeface="+mn-cs"/>
            </a:endParaRPr>
          </a:p>
        </p:txBody>
      </p:sp>
      <p:pic>
        <p:nvPicPr>
          <p:cNvPr id="7" name="object 3">
            <a:extLst>
              <a:ext uri="{FF2B5EF4-FFF2-40B4-BE49-F238E27FC236}">
                <a16:creationId xmlns:a16="http://schemas.microsoft.com/office/drawing/2014/main" id="{A27C0A2A-73DA-2343-A008-11FDDB47AF4A}"/>
              </a:ext>
            </a:extLst>
          </p:cNvPr>
          <p:cNvPicPr/>
          <p:nvPr/>
        </p:nvPicPr>
        <p:blipFill>
          <a:blip r:embed="rId2" cstate="print"/>
          <a:stretch>
            <a:fillRect/>
          </a:stretch>
        </p:blipFill>
        <p:spPr>
          <a:xfrm>
            <a:off x="11162570" y="-92324"/>
            <a:ext cx="1029430" cy="1020942"/>
          </a:xfrm>
          <a:prstGeom prst="ellipse">
            <a:avLst/>
          </a:prstGeom>
          <a:ln>
            <a:noFill/>
          </a:ln>
          <a:effectLst>
            <a:softEdge rad="112500"/>
          </a:effectLst>
        </p:spPr>
      </p:pic>
    </p:spTree>
    <p:extLst>
      <p:ext uri="{BB962C8B-B14F-4D97-AF65-F5344CB8AC3E}">
        <p14:creationId xmlns:p14="http://schemas.microsoft.com/office/powerpoint/2010/main" val="1247030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415600" y="1536632"/>
            <a:ext cx="11360800" cy="4897621"/>
          </a:xfrm>
        </p:spPr>
        <p:txBody>
          <a:bodyPr>
            <a:normAutofit fontScale="92500" lnSpcReduction="10000"/>
          </a:bodyPr>
          <a:lstStyle/>
          <a:p>
            <a:pPr>
              <a:lnSpc>
                <a:spcPct val="124000"/>
              </a:lnSpc>
            </a:pPr>
            <a:r>
              <a:rPr lang="en-US" altLang="en-US" sz="3200" dirty="0"/>
              <a:t>A function is </a:t>
            </a:r>
            <a:r>
              <a:rPr lang="en-US" altLang="en-US" sz="3200" dirty="0">
                <a:solidFill>
                  <a:srgbClr val="0070C0"/>
                </a:solidFill>
              </a:rPr>
              <a:t>a set of statements that performs a particular task and, optionally, returns a value</a:t>
            </a:r>
            <a:r>
              <a:rPr lang="en-US" altLang="en-US" sz="3200" dirty="0"/>
              <a:t>.</a:t>
            </a:r>
          </a:p>
          <a:p>
            <a:pPr>
              <a:lnSpc>
                <a:spcPct val="124000"/>
              </a:lnSpc>
            </a:pPr>
            <a:r>
              <a:rPr lang="en-US" altLang="en-US" sz="3200" dirty="0"/>
              <a:t>You can pull out a section of code that you have used more than once, place it into a function, and call the function by name when you want. </a:t>
            </a:r>
          </a:p>
          <a:p>
            <a:pPr>
              <a:lnSpc>
                <a:spcPct val="124000"/>
              </a:lnSpc>
            </a:pPr>
            <a:r>
              <a:rPr lang="en-US" altLang="en-US" sz="3200" dirty="0"/>
              <a:t>Functions can take values called </a:t>
            </a:r>
            <a:r>
              <a:rPr lang="en-US" altLang="en-US" sz="3200" b="1" dirty="0">
                <a:solidFill>
                  <a:srgbClr val="0070C0"/>
                </a:solidFill>
              </a:rPr>
              <a:t>arguments</a:t>
            </a:r>
            <a:r>
              <a:rPr lang="en-US" altLang="en-US" sz="3200" b="1" dirty="0"/>
              <a:t> </a:t>
            </a:r>
            <a:r>
              <a:rPr lang="en-US" altLang="en-US" sz="3200" dirty="0"/>
              <a:t>as input, perform some operations, and then</a:t>
            </a:r>
            <a:r>
              <a:rPr lang="en-US" altLang="en-US" sz="3200" b="1" dirty="0"/>
              <a:t> </a:t>
            </a:r>
            <a:r>
              <a:rPr lang="en-US" altLang="en-US" sz="3200" dirty="0">
                <a:solidFill>
                  <a:srgbClr val="0070C0"/>
                </a:solidFill>
              </a:rPr>
              <a:t>may return another value</a:t>
            </a:r>
            <a:r>
              <a:rPr lang="en-US" altLang="en-US" sz="3200" dirty="0"/>
              <a:t>.</a:t>
            </a:r>
          </a:p>
          <a:p>
            <a:pPr>
              <a:lnSpc>
                <a:spcPct val="124000"/>
              </a:lnSpc>
            </a:pPr>
            <a:r>
              <a:rPr lang="en-US" altLang="en-US" sz="3200" dirty="0">
                <a:solidFill>
                  <a:srgbClr val="0070C0"/>
                </a:solidFill>
              </a:rPr>
              <a:t>The real power of PHP comes from its functions; it has more than 1000 built-in functions.</a:t>
            </a:r>
          </a:p>
        </p:txBody>
      </p:sp>
      <p:sp>
        <p:nvSpPr>
          <p:cNvPr id="4" name="Slide Number Placeholder 3"/>
          <p:cNvSpPr>
            <a:spLocks noGrp="1"/>
          </p:cNvSpPr>
          <p:nvPr>
            <p:ph type="sldNum" idx="12"/>
          </p:nvPr>
        </p:nvSpPr>
        <p:spPr/>
        <p:txBody>
          <a:bodyPr/>
          <a:lstStyle/>
          <a:p>
            <a:pPr>
              <a:defRPr/>
            </a:pPr>
            <a:fld id="{0826631B-767C-471C-94C9-7882A1E965AC}" type="slidenum">
              <a:rPr lang="en-US" smtClean="0"/>
              <a:pPr>
                <a:defRPr/>
              </a:pPr>
              <a:t>21</a:t>
            </a:fld>
            <a:endParaRPr lang="en-US"/>
          </a:p>
        </p:txBody>
      </p:sp>
      <p:sp>
        <p:nvSpPr>
          <p:cNvPr id="6" name="Rectangle 5">
            <a:extLst>
              <a:ext uri="{FF2B5EF4-FFF2-40B4-BE49-F238E27FC236}">
                <a16:creationId xmlns:a16="http://schemas.microsoft.com/office/drawing/2014/main" id="{12E2699A-461C-B01E-89F7-861DCD86EAFC}"/>
              </a:ext>
            </a:extLst>
          </p:cNvPr>
          <p:cNvSpPr/>
          <p:nvPr/>
        </p:nvSpPr>
        <p:spPr>
          <a:xfrm>
            <a:off x="14874" y="-58270"/>
            <a:ext cx="12192000" cy="899347"/>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TextBox 7">
            <a:extLst>
              <a:ext uri="{FF2B5EF4-FFF2-40B4-BE49-F238E27FC236}">
                <a16:creationId xmlns:a16="http://schemas.microsoft.com/office/drawing/2014/main" id="{D7B1EA86-9D99-D69A-0EFA-2F25A5E50812}"/>
              </a:ext>
            </a:extLst>
          </p:cNvPr>
          <p:cNvSpPr txBox="1"/>
          <p:nvPr/>
        </p:nvSpPr>
        <p:spPr>
          <a:xfrm>
            <a:off x="170268" y="73325"/>
            <a:ext cx="8634923" cy="646331"/>
          </a:xfrm>
          <a:prstGeom prst="rect">
            <a:avLst/>
          </a:prstGeom>
          <a:noFill/>
        </p:spPr>
        <p:txBody>
          <a:bodyPr wrap="square" rtlCol="0">
            <a:spAutoFit/>
          </a:bodyPr>
          <a:lstStyle/>
          <a:p>
            <a:r>
              <a:rPr lang="en-GB" sz="3600" b="1" kern="1200" spc="-5" dirty="0">
                <a:solidFill>
                  <a:srgbClr val="FFC000"/>
                </a:solidFill>
                <a:latin typeface="Calibri" panose="020F0502020204030204"/>
                <a:ea typeface="+mn-ea"/>
                <a:cs typeface="+mn-cs"/>
              </a:rPr>
              <a:t>Introduction to function</a:t>
            </a:r>
            <a:endParaRPr lang="en-US" sz="3600" b="1" kern="1200" spc="-5" dirty="0">
              <a:solidFill>
                <a:srgbClr val="FFC000"/>
              </a:solidFill>
              <a:latin typeface="Calibri" panose="020F0502020204030204"/>
              <a:ea typeface="+mn-ea"/>
              <a:cs typeface="+mn-cs"/>
            </a:endParaRPr>
          </a:p>
        </p:txBody>
      </p:sp>
      <p:pic>
        <p:nvPicPr>
          <p:cNvPr id="10" name="object 3">
            <a:extLst>
              <a:ext uri="{FF2B5EF4-FFF2-40B4-BE49-F238E27FC236}">
                <a16:creationId xmlns:a16="http://schemas.microsoft.com/office/drawing/2014/main" id="{B90EF5B3-39C0-40A0-7994-1E189E71FC0D}"/>
              </a:ext>
            </a:extLst>
          </p:cNvPr>
          <p:cNvPicPr/>
          <p:nvPr/>
        </p:nvPicPr>
        <p:blipFill>
          <a:blip r:embed="rId2" cstate="print"/>
          <a:stretch>
            <a:fillRect/>
          </a:stretch>
        </p:blipFill>
        <p:spPr>
          <a:xfrm>
            <a:off x="11162570" y="-92324"/>
            <a:ext cx="1029430" cy="1020942"/>
          </a:xfrm>
          <a:prstGeom prst="ellipse">
            <a:avLst/>
          </a:prstGeom>
          <a:ln>
            <a:noFill/>
          </a:ln>
          <a:effectLst>
            <a:softEdge rad="112500"/>
          </a:effectLst>
        </p:spPr>
      </p:pic>
    </p:spTree>
    <p:extLst>
      <p:ext uri="{BB962C8B-B14F-4D97-AF65-F5344CB8AC3E}">
        <p14:creationId xmlns:p14="http://schemas.microsoft.com/office/powerpoint/2010/main" val="1682457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4874" y="875131"/>
            <a:ext cx="12192000" cy="5430778"/>
          </a:xfrm>
        </p:spPr>
        <p:txBody>
          <a:bodyPr/>
          <a:lstStyle/>
          <a:p>
            <a:r>
              <a:rPr lang="en-US" altLang="en-US" sz="3200" dirty="0"/>
              <a:t>The function transfers any argument values into new variables, called </a:t>
            </a:r>
            <a:r>
              <a:rPr lang="en-US" altLang="en-US" sz="3200" b="1" dirty="0">
                <a:solidFill>
                  <a:srgbClr val="0070C0"/>
                </a:solidFill>
              </a:rPr>
              <a:t>parameters</a:t>
            </a:r>
            <a:r>
              <a:rPr lang="en-US" altLang="en-US" sz="3200" dirty="0"/>
              <a:t>, which can then be used within the function. </a:t>
            </a:r>
          </a:p>
          <a:p>
            <a:r>
              <a:rPr lang="en-US" altLang="en-US" sz="3200" dirty="0"/>
              <a:t>A function will be </a:t>
            </a:r>
            <a:r>
              <a:rPr lang="en-US" altLang="en-US" sz="3200" b="1" dirty="0">
                <a:solidFill>
                  <a:srgbClr val="0070C0"/>
                </a:solidFill>
              </a:rPr>
              <a:t>executed by a call </a:t>
            </a:r>
            <a:r>
              <a:rPr lang="en-US" altLang="en-US" sz="3200" dirty="0"/>
              <a:t>to the function, just write its name and supply any arguments if there any.</a:t>
            </a:r>
          </a:p>
          <a:p>
            <a:r>
              <a:rPr lang="en-US" altLang="en-US" sz="3200" dirty="0"/>
              <a:t>A function will not execute automatically when a page loads.</a:t>
            </a:r>
          </a:p>
          <a:p>
            <a:pPr marL="0" indent="0">
              <a:buNone/>
            </a:pPr>
            <a:endParaRPr lang="en-US" altLang="en-US" sz="3200" dirty="0"/>
          </a:p>
        </p:txBody>
      </p:sp>
      <p:sp>
        <p:nvSpPr>
          <p:cNvPr id="4" name="Slide Number Placeholder 3"/>
          <p:cNvSpPr>
            <a:spLocks noGrp="1"/>
          </p:cNvSpPr>
          <p:nvPr>
            <p:ph type="sldNum" idx="12"/>
          </p:nvPr>
        </p:nvSpPr>
        <p:spPr/>
        <p:txBody>
          <a:bodyPr/>
          <a:lstStyle/>
          <a:p>
            <a:pPr>
              <a:defRPr/>
            </a:pPr>
            <a:fld id="{0826631B-767C-471C-94C9-7882A1E965AC}" type="slidenum">
              <a:rPr lang="en-US" smtClean="0"/>
              <a:pPr>
                <a:defRPr/>
              </a:pPr>
              <a:t>22</a:t>
            </a:fld>
            <a:endParaRPr lang="en-US"/>
          </a:p>
        </p:txBody>
      </p:sp>
      <p:sp>
        <p:nvSpPr>
          <p:cNvPr id="6" name="Rectangle 5">
            <a:extLst>
              <a:ext uri="{FF2B5EF4-FFF2-40B4-BE49-F238E27FC236}">
                <a16:creationId xmlns:a16="http://schemas.microsoft.com/office/drawing/2014/main" id="{10254CE0-D0D5-5A72-477B-EC683B22F285}"/>
              </a:ext>
            </a:extLst>
          </p:cNvPr>
          <p:cNvSpPr/>
          <p:nvPr/>
        </p:nvSpPr>
        <p:spPr>
          <a:xfrm>
            <a:off x="14874" y="-58270"/>
            <a:ext cx="12192000" cy="899347"/>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TextBox 7">
            <a:extLst>
              <a:ext uri="{FF2B5EF4-FFF2-40B4-BE49-F238E27FC236}">
                <a16:creationId xmlns:a16="http://schemas.microsoft.com/office/drawing/2014/main" id="{67BB5705-307D-AF8A-92DF-A615E4BA7FBD}"/>
              </a:ext>
            </a:extLst>
          </p:cNvPr>
          <p:cNvSpPr txBox="1"/>
          <p:nvPr/>
        </p:nvSpPr>
        <p:spPr>
          <a:xfrm>
            <a:off x="170268" y="73325"/>
            <a:ext cx="8634923" cy="646331"/>
          </a:xfrm>
          <a:prstGeom prst="rect">
            <a:avLst/>
          </a:prstGeom>
          <a:noFill/>
        </p:spPr>
        <p:txBody>
          <a:bodyPr wrap="square" rtlCol="0">
            <a:spAutoFit/>
          </a:bodyPr>
          <a:lstStyle/>
          <a:p>
            <a:r>
              <a:rPr lang="en-GB" sz="3600" b="1" kern="1200" spc="-5" dirty="0">
                <a:solidFill>
                  <a:srgbClr val="FFC000"/>
                </a:solidFill>
                <a:latin typeface="Calibri" panose="020F0502020204030204"/>
                <a:ea typeface="+mn-ea"/>
                <a:cs typeface="+mn-cs"/>
              </a:rPr>
              <a:t>Introduction to function</a:t>
            </a:r>
            <a:endParaRPr lang="en-US" sz="3600" b="1" kern="1200" spc="-5" dirty="0">
              <a:solidFill>
                <a:srgbClr val="FFC000"/>
              </a:solidFill>
              <a:latin typeface="Calibri" panose="020F0502020204030204"/>
              <a:ea typeface="+mn-ea"/>
              <a:cs typeface="+mn-cs"/>
            </a:endParaRPr>
          </a:p>
        </p:txBody>
      </p:sp>
      <p:pic>
        <p:nvPicPr>
          <p:cNvPr id="10" name="object 3">
            <a:extLst>
              <a:ext uri="{FF2B5EF4-FFF2-40B4-BE49-F238E27FC236}">
                <a16:creationId xmlns:a16="http://schemas.microsoft.com/office/drawing/2014/main" id="{32CDE0A2-A5D9-FF0B-2F77-E80C7FBB182F}"/>
              </a:ext>
            </a:extLst>
          </p:cNvPr>
          <p:cNvPicPr/>
          <p:nvPr/>
        </p:nvPicPr>
        <p:blipFill>
          <a:blip r:embed="rId2" cstate="print"/>
          <a:stretch>
            <a:fillRect/>
          </a:stretch>
        </p:blipFill>
        <p:spPr>
          <a:xfrm>
            <a:off x="11162570" y="-92324"/>
            <a:ext cx="1029430" cy="1020942"/>
          </a:xfrm>
          <a:prstGeom prst="ellipse">
            <a:avLst/>
          </a:prstGeom>
          <a:ln>
            <a:noFill/>
          </a:ln>
          <a:effectLst>
            <a:softEdge rad="112500"/>
          </a:effectLst>
        </p:spPr>
      </p:pic>
    </p:spTree>
    <p:extLst>
      <p:ext uri="{BB962C8B-B14F-4D97-AF65-F5344CB8AC3E}">
        <p14:creationId xmlns:p14="http://schemas.microsoft.com/office/powerpoint/2010/main" val="3319684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70268" y="962671"/>
            <a:ext cx="12021732" cy="5254951"/>
          </a:xfrm>
        </p:spPr>
        <p:txBody>
          <a:bodyPr>
            <a:normAutofit fontScale="92500" lnSpcReduction="10000"/>
          </a:bodyPr>
          <a:lstStyle/>
          <a:p>
            <a:pPr marL="0" indent="0">
              <a:buNone/>
            </a:pPr>
            <a:r>
              <a:rPr lang="en-US" sz="3200" dirty="0"/>
              <a:t>Functions have many advantages over inline code. For example, they:</a:t>
            </a:r>
          </a:p>
          <a:p>
            <a:pPr lvl="1"/>
            <a:r>
              <a:rPr lang="en-US" sz="3200" dirty="0"/>
              <a:t>Involve less typing and less code.</a:t>
            </a:r>
          </a:p>
          <a:p>
            <a:pPr lvl="1"/>
            <a:r>
              <a:rPr lang="en-US" sz="3200" dirty="0"/>
              <a:t>Reduce syntax and other programming errors.</a:t>
            </a:r>
          </a:p>
          <a:p>
            <a:pPr lvl="1"/>
            <a:r>
              <a:rPr lang="en-US" sz="3200" dirty="0"/>
              <a:t>Decrease the loading time of program files.</a:t>
            </a:r>
          </a:p>
          <a:p>
            <a:pPr lvl="1"/>
            <a:r>
              <a:rPr lang="en-US" sz="3200" dirty="0"/>
              <a:t>Decrease execution time, because each function is compiled only once, no matter how often you call it.</a:t>
            </a:r>
          </a:p>
          <a:p>
            <a:pPr lvl="1"/>
            <a:r>
              <a:rPr lang="en-US" sz="3200" dirty="0"/>
              <a:t>Accept arguments and can therefore be used for general as well as specific cases.</a:t>
            </a:r>
          </a:p>
          <a:p>
            <a:pPr lvl="1"/>
            <a:r>
              <a:rPr lang="en-US" sz="3200" dirty="0">
                <a:solidFill>
                  <a:srgbClr val="0070C0"/>
                </a:solidFill>
              </a:rPr>
              <a:t>Code reusability </a:t>
            </a:r>
            <a:r>
              <a:rPr lang="en-US" sz="3200" dirty="0"/>
              <a:t>because functions are defined only once and can be invoked many times.</a:t>
            </a:r>
          </a:p>
          <a:p>
            <a:pPr lvl="1"/>
            <a:endParaRPr lang="en-US" sz="3200" dirty="0"/>
          </a:p>
        </p:txBody>
      </p:sp>
      <p:sp>
        <p:nvSpPr>
          <p:cNvPr id="4" name="Slide Number Placeholder 3"/>
          <p:cNvSpPr>
            <a:spLocks noGrp="1"/>
          </p:cNvSpPr>
          <p:nvPr>
            <p:ph type="sldNum" idx="12"/>
          </p:nvPr>
        </p:nvSpPr>
        <p:spPr/>
        <p:txBody>
          <a:bodyPr/>
          <a:lstStyle/>
          <a:p>
            <a:pPr>
              <a:defRPr/>
            </a:pPr>
            <a:fld id="{0826631B-767C-471C-94C9-7882A1E965AC}" type="slidenum">
              <a:rPr lang="en-US" smtClean="0"/>
              <a:pPr>
                <a:defRPr/>
              </a:pPr>
              <a:t>23</a:t>
            </a:fld>
            <a:endParaRPr lang="en-US"/>
          </a:p>
        </p:txBody>
      </p:sp>
      <p:sp>
        <p:nvSpPr>
          <p:cNvPr id="6" name="Rectangle 5">
            <a:extLst>
              <a:ext uri="{FF2B5EF4-FFF2-40B4-BE49-F238E27FC236}">
                <a16:creationId xmlns:a16="http://schemas.microsoft.com/office/drawing/2014/main" id="{65B78A8E-F2FD-970D-4DC2-57A244F05079}"/>
              </a:ext>
            </a:extLst>
          </p:cNvPr>
          <p:cNvSpPr/>
          <p:nvPr/>
        </p:nvSpPr>
        <p:spPr>
          <a:xfrm>
            <a:off x="14874" y="-58270"/>
            <a:ext cx="12192000" cy="899347"/>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TextBox 7">
            <a:extLst>
              <a:ext uri="{FF2B5EF4-FFF2-40B4-BE49-F238E27FC236}">
                <a16:creationId xmlns:a16="http://schemas.microsoft.com/office/drawing/2014/main" id="{B77B6FDB-EED7-7D37-E0A3-C79687D93348}"/>
              </a:ext>
            </a:extLst>
          </p:cNvPr>
          <p:cNvSpPr txBox="1"/>
          <p:nvPr/>
        </p:nvSpPr>
        <p:spPr>
          <a:xfrm>
            <a:off x="170268" y="73325"/>
            <a:ext cx="8634923" cy="646331"/>
          </a:xfrm>
          <a:prstGeom prst="rect">
            <a:avLst/>
          </a:prstGeom>
          <a:noFill/>
        </p:spPr>
        <p:txBody>
          <a:bodyPr wrap="square" rtlCol="0">
            <a:spAutoFit/>
          </a:bodyPr>
          <a:lstStyle/>
          <a:p>
            <a:r>
              <a:rPr lang="en-GB" sz="3600" b="1" kern="1200" spc="-5" dirty="0">
                <a:solidFill>
                  <a:srgbClr val="FFC000"/>
                </a:solidFill>
                <a:latin typeface="Calibri" panose="020F0502020204030204"/>
                <a:ea typeface="+mn-ea"/>
                <a:cs typeface="+mn-cs"/>
              </a:rPr>
              <a:t>Advantages</a:t>
            </a:r>
            <a:endParaRPr lang="en-US" sz="3600" b="1" kern="1200" spc="-5" dirty="0">
              <a:solidFill>
                <a:srgbClr val="FFC000"/>
              </a:solidFill>
              <a:latin typeface="Calibri" panose="020F0502020204030204"/>
              <a:ea typeface="+mn-ea"/>
              <a:cs typeface="+mn-cs"/>
            </a:endParaRPr>
          </a:p>
        </p:txBody>
      </p:sp>
      <p:pic>
        <p:nvPicPr>
          <p:cNvPr id="10" name="object 3">
            <a:extLst>
              <a:ext uri="{FF2B5EF4-FFF2-40B4-BE49-F238E27FC236}">
                <a16:creationId xmlns:a16="http://schemas.microsoft.com/office/drawing/2014/main" id="{A4C0CF81-ACF1-877E-10CC-5CB833F6026E}"/>
              </a:ext>
            </a:extLst>
          </p:cNvPr>
          <p:cNvPicPr/>
          <p:nvPr/>
        </p:nvPicPr>
        <p:blipFill>
          <a:blip r:embed="rId2" cstate="print"/>
          <a:stretch>
            <a:fillRect/>
          </a:stretch>
        </p:blipFill>
        <p:spPr>
          <a:xfrm>
            <a:off x="11162570" y="-92324"/>
            <a:ext cx="1029430" cy="1020942"/>
          </a:xfrm>
          <a:prstGeom prst="ellipse">
            <a:avLst/>
          </a:prstGeom>
          <a:ln>
            <a:noFill/>
          </a:ln>
          <a:effectLst>
            <a:softEdge rad="112500"/>
          </a:effectLst>
        </p:spPr>
      </p:pic>
    </p:spTree>
    <p:extLst>
      <p:ext uri="{BB962C8B-B14F-4D97-AF65-F5344CB8AC3E}">
        <p14:creationId xmlns:p14="http://schemas.microsoft.com/office/powerpoint/2010/main" val="2221041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4874" y="875131"/>
            <a:ext cx="11360800" cy="4908772"/>
          </a:xfrm>
        </p:spPr>
        <p:txBody>
          <a:bodyPr>
            <a:normAutofit fontScale="92500" lnSpcReduction="20000"/>
          </a:bodyPr>
          <a:lstStyle/>
          <a:p>
            <a:pPr marL="0" indent="0" fontAlgn="auto">
              <a:spcAft>
                <a:spcPts val="0"/>
              </a:spcAft>
              <a:buFont typeface="Wingdings 3" panose="05040102010807070707" pitchFamily="18" charset="2"/>
              <a:buNone/>
              <a:defRPr/>
            </a:pPr>
            <a:r>
              <a:rPr lang="en-US" sz="3200" dirty="0"/>
              <a:t>The general syntax for a function is as follows:</a:t>
            </a:r>
          </a:p>
          <a:p>
            <a:pPr marL="609585" lvl="1" indent="0">
              <a:buFont typeface="Wingdings 3" panose="05040102010807070707" pitchFamily="18" charset="2"/>
              <a:buNone/>
              <a:defRPr/>
            </a:pPr>
            <a:r>
              <a:rPr lang="en-US" sz="3267" dirty="0">
                <a:solidFill>
                  <a:srgbClr val="0070C0"/>
                </a:solidFill>
              </a:rPr>
              <a:t>function </a:t>
            </a:r>
            <a:r>
              <a:rPr lang="en-US" sz="3267" dirty="0" err="1">
                <a:solidFill>
                  <a:srgbClr val="0070C0"/>
                </a:solidFill>
              </a:rPr>
              <a:t>function_name</a:t>
            </a:r>
            <a:r>
              <a:rPr lang="en-US" sz="3267" dirty="0">
                <a:solidFill>
                  <a:srgbClr val="0070C0"/>
                </a:solidFill>
              </a:rPr>
              <a:t>([parameter [, ...]])</a:t>
            </a:r>
          </a:p>
          <a:p>
            <a:pPr marL="609585" lvl="1" indent="0">
              <a:buFont typeface="Wingdings 3" panose="05040102010807070707" pitchFamily="18" charset="2"/>
              <a:buNone/>
              <a:defRPr/>
            </a:pPr>
            <a:r>
              <a:rPr lang="en-US" sz="3267" dirty="0">
                <a:solidFill>
                  <a:srgbClr val="0070C0"/>
                </a:solidFill>
              </a:rPr>
              <a:t>{</a:t>
            </a:r>
          </a:p>
          <a:p>
            <a:pPr marL="609585" lvl="1" indent="0">
              <a:buFont typeface="Wingdings 3" panose="05040102010807070707" pitchFamily="18" charset="2"/>
              <a:buNone/>
              <a:defRPr/>
            </a:pPr>
            <a:r>
              <a:rPr lang="en-US" sz="3267" dirty="0">
                <a:solidFill>
                  <a:srgbClr val="0070C0"/>
                </a:solidFill>
              </a:rPr>
              <a:t>	// Statements</a:t>
            </a:r>
          </a:p>
          <a:p>
            <a:pPr marL="609585" lvl="1" indent="0">
              <a:buFont typeface="Wingdings 3" panose="05040102010807070707" pitchFamily="18" charset="2"/>
              <a:buNone/>
              <a:defRPr/>
            </a:pPr>
            <a:r>
              <a:rPr lang="en-US" sz="3267" dirty="0">
                <a:solidFill>
                  <a:srgbClr val="0070C0"/>
                </a:solidFill>
              </a:rPr>
              <a:t>}</a:t>
            </a:r>
          </a:p>
          <a:p>
            <a:pPr marL="0" indent="0">
              <a:buNone/>
            </a:pPr>
            <a:r>
              <a:rPr lang="en-US" sz="3200" dirty="0"/>
              <a:t>The first line of the syntax indicates the following:</a:t>
            </a:r>
          </a:p>
          <a:p>
            <a:pPr lvl="1"/>
            <a:r>
              <a:rPr lang="en-US" sz="3200" dirty="0"/>
              <a:t>A definition starts with the word </a:t>
            </a:r>
            <a:r>
              <a:rPr lang="en-US" sz="3200" b="1" dirty="0">
                <a:solidFill>
                  <a:srgbClr val="0070C0"/>
                </a:solidFill>
              </a:rPr>
              <a:t>function</a:t>
            </a:r>
            <a:r>
              <a:rPr lang="en-US" sz="3200" dirty="0"/>
              <a:t>.</a:t>
            </a:r>
          </a:p>
          <a:p>
            <a:pPr lvl="1"/>
            <a:r>
              <a:rPr lang="en-US" sz="3200" dirty="0"/>
              <a:t>A </a:t>
            </a:r>
            <a:r>
              <a:rPr lang="en-US" sz="3200" dirty="0">
                <a:solidFill>
                  <a:srgbClr val="0070C0"/>
                </a:solidFill>
              </a:rPr>
              <a:t>name</a:t>
            </a:r>
            <a:r>
              <a:rPr lang="en-US" sz="3200" dirty="0"/>
              <a:t> follows, which must start with a letter or underscore, followed by any number of letters, numbers, or underscores.</a:t>
            </a:r>
          </a:p>
        </p:txBody>
      </p:sp>
      <p:sp>
        <p:nvSpPr>
          <p:cNvPr id="4" name="Slide Number Placeholder 3"/>
          <p:cNvSpPr>
            <a:spLocks noGrp="1"/>
          </p:cNvSpPr>
          <p:nvPr>
            <p:ph type="sldNum" idx="12"/>
          </p:nvPr>
        </p:nvSpPr>
        <p:spPr/>
        <p:txBody>
          <a:bodyPr/>
          <a:lstStyle/>
          <a:p>
            <a:pPr>
              <a:defRPr/>
            </a:pPr>
            <a:fld id="{0826631B-767C-471C-94C9-7882A1E965AC}" type="slidenum">
              <a:rPr lang="en-US" smtClean="0"/>
              <a:pPr>
                <a:defRPr/>
              </a:pPr>
              <a:t>24</a:t>
            </a:fld>
            <a:endParaRPr lang="en-US" dirty="0"/>
          </a:p>
        </p:txBody>
      </p:sp>
      <p:sp>
        <p:nvSpPr>
          <p:cNvPr id="10" name="Rectangle 9">
            <a:extLst>
              <a:ext uri="{FF2B5EF4-FFF2-40B4-BE49-F238E27FC236}">
                <a16:creationId xmlns:a16="http://schemas.microsoft.com/office/drawing/2014/main" id="{698FCF71-47E6-5600-7C57-1A7EBC5D6293}"/>
              </a:ext>
            </a:extLst>
          </p:cNvPr>
          <p:cNvSpPr/>
          <p:nvPr/>
        </p:nvSpPr>
        <p:spPr>
          <a:xfrm>
            <a:off x="14874" y="-58270"/>
            <a:ext cx="12192000" cy="899347"/>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2" name="TextBox 11">
            <a:extLst>
              <a:ext uri="{FF2B5EF4-FFF2-40B4-BE49-F238E27FC236}">
                <a16:creationId xmlns:a16="http://schemas.microsoft.com/office/drawing/2014/main" id="{F682DFEC-78A0-3954-3907-F16B9194F238}"/>
              </a:ext>
            </a:extLst>
          </p:cNvPr>
          <p:cNvSpPr txBox="1"/>
          <p:nvPr/>
        </p:nvSpPr>
        <p:spPr>
          <a:xfrm>
            <a:off x="170268" y="73325"/>
            <a:ext cx="8634923" cy="646331"/>
          </a:xfrm>
          <a:prstGeom prst="rect">
            <a:avLst/>
          </a:prstGeom>
          <a:noFill/>
        </p:spPr>
        <p:txBody>
          <a:bodyPr wrap="square" rtlCol="0">
            <a:spAutoFit/>
          </a:bodyPr>
          <a:lstStyle/>
          <a:p>
            <a:r>
              <a:rPr lang="en-GB" sz="3600" b="1" kern="1200" spc="-5" dirty="0">
                <a:solidFill>
                  <a:srgbClr val="FFC000"/>
                </a:solidFill>
                <a:latin typeface="Calibri" panose="020F0502020204030204"/>
                <a:ea typeface="+mn-ea"/>
                <a:cs typeface="+mn-cs"/>
              </a:rPr>
              <a:t>Defining a Function</a:t>
            </a:r>
            <a:endParaRPr lang="en-US" sz="3600" b="1" kern="1200" spc="-5" dirty="0">
              <a:solidFill>
                <a:srgbClr val="FFC000"/>
              </a:solidFill>
              <a:latin typeface="Calibri" panose="020F0502020204030204"/>
              <a:ea typeface="+mn-ea"/>
              <a:cs typeface="+mn-cs"/>
            </a:endParaRPr>
          </a:p>
        </p:txBody>
      </p:sp>
      <p:pic>
        <p:nvPicPr>
          <p:cNvPr id="14" name="object 3">
            <a:extLst>
              <a:ext uri="{FF2B5EF4-FFF2-40B4-BE49-F238E27FC236}">
                <a16:creationId xmlns:a16="http://schemas.microsoft.com/office/drawing/2014/main" id="{42907467-6244-9D23-C095-944597140765}"/>
              </a:ext>
            </a:extLst>
          </p:cNvPr>
          <p:cNvPicPr/>
          <p:nvPr/>
        </p:nvPicPr>
        <p:blipFill>
          <a:blip r:embed="rId2" cstate="print"/>
          <a:stretch>
            <a:fillRect/>
          </a:stretch>
        </p:blipFill>
        <p:spPr>
          <a:xfrm>
            <a:off x="11162570" y="-92324"/>
            <a:ext cx="1029430" cy="1020942"/>
          </a:xfrm>
          <a:prstGeom prst="ellipse">
            <a:avLst/>
          </a:prstGeom>
          <a:ln>
            <a:noFill/>
          </a:ln>
          <a:effectLst>
            <a:softEdge rad="112500"/>
          </a:effectLst>
        </p:spPr>
      </p:pic>
    </p:spTree>
    <p:extLst>
      <p:ext uri="{BB962C8B-B14F-4D97-AF65-F5344CB8AC3E}">
        <p14:creationId xmlns:p14="http://schemas.microsoft.com/office/powerpoint/2010/main" val="543469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500"/>
                                        <p:tgtEl>
                                          <p:spTgt spid="3">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4874" y="875131"/>
            <a:ext cx="12192000" cy="4525005"/>
          </a:xfrm>
        </p:spPr>
        <p:txBody>
          <a:bodyPr>
            <a:normAutofit lnSpcReduction="10000"/>
          </a:bodyPr>
          <a:lstStyle/>
          <a:p>
            <a:pPr lvl="1"/>
            <a:r>
              <a:rPr lang="en-US" sz="3200" dirty="0"/>
              <a:t>The </a:t>
            </a:r>
            <a:r>
              <a:rPr lang="en-US" sz="3200" dirty="0">
                <a:solidFill>
                  <a:srgbClr val="0070C0"/>
                </a:solidFill>
              </a:rPr>
              <a:t>parentheses</a:t>
            </a:r>
            <a:r>
              <a:rPr lang="en-US" sz="3200" dirty="0"/>
              <a:t> are required.</a:t>
            </a:r>
          </a:p>
          <a:p>
            <a:pPr lvl="1"/>
            <a:r>
              <a:rPr lang="en-US" sz="3200" dirty="0"/>
              <a:t>One or more parameters, separated by commas, are optional (as indicated by the square brackets).</a:t>
            </a:r>
          </a:p>
          <a:p>
            <a:r>
              <a:rPr lang="en-US" altLang="en-US" sz="3200" dirty="0">
                <a:solidFill>
                  <a:srgbClr val="0070C0"/>
                </a:solidFill>
              </a:rPr>
              <a:t>Remember that function names are NOT case-sensitive</a:t>
            </a:r>
            <a:r>
              <a:rPr lang="en-US" altLang="en-US" sz="3200" dirty="0"/>
              <a:t> in PHP</a:t>
            </a:r>
            <a:r>
              <a:rPr lang="en-US" altLang="en-US" sz="3200" dirty="0">
                <a:solidFill>
                  <a:srgbClr val="0070C0"/>
                </a:solidFill>
              </a:rPr>
              <a:t>.</a:t>
            </a:r>
          </a:p>
          <a:p>
            <a:r>
              <a:rPr lang="en-US" altLang="en-US" sz="3200" dirty="0"/>
              <a:t>Any parameter names are listed in parentheses after the function name. </a:t>
            </a:r>
          </a:p>
          <a:p>
            <a:r>
              <a:rPr lang="en-US" altLang="en-US" sz="3200" dirty="0"/>
              <a:t>The code that forms the body of the function is placed in braces { } after the parentheses.</a:t>
            </a:r>
          </a:p>
        </p:txBody>
      </p:sp>
      <p:sp>
        <p:nvSpPr>
          <p:cNvPr id="4" name="Slide Number Placeholder 3"/>
          <p:cNvSpPr>
            <a:spLocks noGrp="1"/>
          </p:cNvSpPr>
          <p:nvPr>
            <p:ph type="sldNum" idx="12"/>
          </p:nvPr>
        </p:nvSpPr>
        <p:spPr/>
        <p:txBody>
          <a:bodyPr/>
          <a:lstStyle/>
          <a:p>
            <a:pPr>
              <a:defRPr/>
            </a:pPr>
            <a:fld id="{0826631B-767C-471C-94C9-7882A1E965AC}" type="slidenum">
              <a:rPr lang="en-US" smtClean="0"/>
              <a:pPr>
                <a:defRPr/>
              </a:pPr>
              <a:t>25</a:t>
            </a:fld>
            <a:endParaRPr lang="en-US"/>
          </a:p>
        </p:txBody>
      </p:sp>
      <p:sp>
        <p:nvSpPr>
          <p:cNvPr id="6" name="Rectangle 5">
            <a:extLst>
              <a:ext uri="{FF2B5EF4-FFF2-40B4-BE49-F238E27FC236}">
                <a16:creationId xmlns:a16="http://schemas.microsoft.com/office/drawing/2014/main" id="{7737A648-81FB-D19E-FD06-6F9E712FCB08}"/>
              </a:ext>
            </a:extLst>
          </p:cNvPr>
          <p:cNvSpPr/>
          <p:nvPr/>
        </p:nvSpPr>
        <p:spPr>
          <a:xfrm>
            <a:off x="14874" y="-58270"/>
            <a:ext cx="12192000" cy="899347"/>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TextBox 7">
            <a:extLst>
              <a:ext uri="{FF2B5EF4-FFF2-40B4-BE49-F238E27FC236}">
                <a16:creationId xmlns:a16="http://schemas.microsoft.com/office/drawing/2014/main" id="{2CA8EED2-00EA-A6B2-E83A-AD11952E9386}"/>
              </a:ext>
            </a:extLst>
          </p:cNvPr>
          <p:cNvSpPr txBox="1"/>
          <p:nvPr/>
        </p:nvSpPr>
        <p:spPr>
          <a:xfrm>
            <a:off x="170268" y="73325"/>
            <a:ext cx="8634923" cy="646331"/>
          </a:xfrm>
          <a:prstGeom prst="rect">
            <a:avLst/>
          </a:prstGeom>
          <a:noFill/>
        </p:spPr>
        <p:txBody>
          <a:bodyPr wrap="square" rtlCol="0">
            <a:spAutoFit/>
          </a:bodyPr>
          <a:lstStyle/>
          <a:p>
            <a:r>
              <a:rPr lang="en-GB" sz="3600" b="1" kern="1200" spc="-5" dirty="0">
                <a:solidFill>
                  <a:srgbClr val="FFC000"/>
                </a:solidFill>
                <a:latin typeface="Calibri" panose="020F0502020204030204"/>
                <a:ea typeface="+mn-ea"/>
                <a:cs typeface="+mn-cs"/>
              </a:rPr>
              <a:t>Defining a Function</a:t>
            </a:r>
            <a:endParaRPr lang="en-US" sz="3600" b="1" kern="1200" spc="-5" dirty="0">
              <a:solidFill>
                <a:srgbClr val="FFC000"/>
              </a:solidFill>
              <a:latin typeface="Calibri" panose="020F0502020204030204"/>
              <a:ea typeface="+mn-ea"/>
              <a:cs typeface="+mn-cs"/>
            </a:endParaRPr>
          </a:p>
        </p:txBody>
      </p:sp>
      <p:pic>
        <p:nvPicPr>
          <p:cNvPr id="10" name="object 3">
            <a:extLst>
              <a:ext uri="{FF2B5EF4-FFF2-40B4-BE49-F238E27FC236}">
                <a16:creationId xmlns:a16="http://schemas.microsoft.com/office/drawing/2014/main" id="{50EE133A-535A-1E7A-D771-415BD266B8BB}"/>
              </a:ext>
            </a:extLst>
          </p:cNvPr>
          <p:cNvPicPr/>
          <p:nvPr/>
        </p:nvPicPr>
        <p:blipFill>
          <a:blip r:embed="rId2" cstate="print"/>
          <a:stretch>
            <a:fillRect/>
          </a:stretch>
        </p:blipFill>
        <p:spPr>
          <a:xfrm>
            <a:off x="11162570" y="-92324"/>
            <a:ext cx="1029430" cy="1020942"/>
          </a:xfrm>
          <a:prstGeom prst="ellipse">
            <a:avLst/>
          </a:prstGeom>
          <a:ln>
            <a:noFill/>
          </a:ln>
          <a:effectLst>
            <a:softEdge rad="112500"/>
          </a:effectLst>
        </p:spPr>
      </p:pic>
    </p:spTree>
    <p:extLst>
      <p:ext uri="{BB962C8B-B14F-4D97-AF65-F5344CB8AC3E}">
        <p14:creationId xmlns:p14="http://schemas.microsoft.com/office/powerpoint/2010/main" val="2255026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0" y="841077"/>
            <a:ext cx="12192000" cy="4446915"/>
          </a:xfrm>
        </p:spPr>
        <p:txBody>
          <a:bodyPr/>
          <a:lstStyle/>
          <a:p>
            <a:pPr marL="228600" lvl="1">
              <a:spcBef>
                <a:spcPts val="1000"/>
              </a:spcBef>
            </a:pPr>
            <a:r>
              <a:rPr lang="en-US" sz="3200" dirty="0"/>
              <a:t>The opening curly brace ({) starts the statements that will execute when you call the function; a matching curly brace (}) must close it.</a:t>
            </a:r>
          </a:p>
          <a:p>
            <a:pPr marL="228600" lvl="1">
              <a:spcBef>
                <a:spcPts val="1000"/>
              </a:spcBef>
            </a:pPr>
            <a:r>
              <a:rPr lang="en-US" sz="3200" dirty="0"/>
              <a:t>These statements may include </a:t>
            </a:r>
            <a:r>
              <a:rPr lang="en-US" sz="3200" dirty="0">
                <a:solidFill>
                  <a:srgbClr val="0070C0"/>
                </a:solidFill>
              </a:rPr>
              <a:t>return</a:t>
            </a:r>
            <a:r>
              <a:rPr lang="en-US" sz="3200" dirty="0"/>
              <a:t> statement, which force the function to cease execution and return to the calling code. If a value is attached to the return statement, the calling code can retrieve it.</a:t>
            </a:r>
            <a:endParaRPr lang="en-US" altLang="en-US" sz="3200" dirty="0"/>
          </a:p>
        </p:txBody>
      </p:sp>
      <p:sp>
        <p:nvSpPr>
          <p:cNvPr id="4" name="Slide Number Placeholder 3"/>
          <p:cNvSpPr>
            <a:spLocks noGrp="1"/>
          </p:cNvSpPr>
          <p:nvPr>
            <p:ph type="sldNum" idx="12"/>
          </p:nvPr>
        </p:nvSpPr>
        <p:spPr/>
        <p:txBody>
          <a:bodyPr/>
          <a:lstStyle/>
          <a:p>
            <a:pPr>
              <a:defRPr/>
            </a:pPr>
            <a:fld id="{0826631B-767C-471C-94C9-7882A1E965AC}" type="slidenum">
              <a:rPr lang="en-US" smtClean="0"/>
              <a:pPr>
                <a:defRPr/>
              </a:pPr>
              <a:t>26</a:t>
            </a:fld>
            <a:endParaRPr lang="en-US"/>
          </a:p>
        </p:txBody>
      </p:sp>
      <p:sp>
        <p:nvSpPr>
          <p:cNvPr id="6" name="Rectangle 5">
            <a:extLst>
              <a:ext uri="{FF2B5EF4-FFF2-40B4-BE49-F238E27FC236}">
                <a16:creationId xmlns:a16="http://schemas.microsoft.com/office/drawing/2014/main" id="{8842BC9D-98DF-294D-E84C-1265B03D555B}"/>
              </a:ext>
            </a:extLst>
          </p:cNvPr>
          <p:cNvSpPr/>
          <p:nvPr/>
        </p:nvSpPr>
        <p:spPr>
          <a:xfrm>
            <a:off x="14874" y="-58270"/>
            <a:ext cx="12192000" cy="899347"/>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TextBox 7">
            <a:extLst>
              <a:ext uri="{FF2B5EF4-FFF2-40B4-BE49-F238E27FC236}">
                <a16:creationId xmlns:a16="http://schemas.microsoft.com/office/drawing/2014/main" id="{84F7BE31-29B1-4DA4-2EDF-88C0388BBA94}"/>
              </a:ext>
            </a:extLst>
          </p:cNvPr>
          <p:cNvSpPr txBox="1"/>
          <p:nvPr/>
        </p:nvSpPr>
        <p:spPr>
          <a:xfrm>
            <a:off x="170268" y="73325"/>
            <a:ext cx="8634923" cy="646331"/>
          </a:xfrm>
          <a:prstGeom prst="rect">
            <a:avLst/>
          </a:prstGeom>
          <a:noFill/>
        </p:spPr>
        <p:txBody>
          <a:bodyPr wrap="square" rtlCol="0">
            <a:spAutoFit/>
          </a:bodyPr>
          <a:lstStyle/>
          <a:p>
            <a:r>
              <a:rPr lang="en-GB" sz="3600" b="1" kern="1200" spc="-5" dirty="0">
                <a:solidFill>
                  <a:srgbClr val="FFC000"/>
                </a:solidFill>
                <a:latin typeface="Calibri" panose="020F0502020204030204"/>
                <a:ea typeface="+mn-ea"/>
                <a:cs typeface="+mn-cs"/>
              </a:rPr>
              <a:t>Defining a Function</a:t>
            </a:r>
            <a:endParaRPr lang="en-US" sz="3600" b="1" kern="1200" spc="-5" dirty="0">
              <a:solidFill>
                <a:srgbClr val="FFC000"/>
              </a:solidFill>
              <a:latin typeface="Calibri" panose="020F0502020204030204"/>
              <a:ea typeface="+mn-ea"/>
              <a:cs typeface="+mn-cs"/>
            </a:endParaRPr>
          </a:p>
        </p:txBody>
      </p:sp>
      <p:pic>
        <p:nvPicPr>
          <p:cNvPr id="10" name="object 3">
            <a:extLst>
              <a:ext uri="{FF2B5EF4-FFF2-40B4-BE49-F238E27FC236}">
                <a16:creationId xmlns:a16="http://schemas.microsoft.com/office/drawing/2014/main" id="{DEF4AB04-F6ED-E101-5A97-AEC1ECE345A8}"/>
              </a:ext>
            </a:extLst>
          </p:cNvPr>
          <p:cNvPicPr/>
          <p:nvPr/>
        </p:nvPicPr>
        <p:blipFill>
          <a:blip r:embed="rId2" cstate="print"/>
          <a:stretch>
            <a:fillRect/>
          </a:stretch>
        </p:blipFill>
        <p:spPr>
          <a:xfrm>
            <a:off x="11162570" y="-92324"/>
            <a:ext cx="1029430" cy="1020942"/>
          </a:xfrm>
          <a:prstGeom prst="ellipse">
            <a:avLst/>
          </a:prstGeom>
          <a:ln>
            <a:noFill/>
          </a:ln>
          <a:effectLst>
            <a:softEdge rad="112500"/>
          </a:effectLst>
        </p:spPr>
      </p:pic>
    </p:spTree>
    <p:extLst>
      <p:ext uri="{BB962C8B-B14F-4D97-AF65-F5344CB8AC3E}">
        <p14:creationId xmlns:p14="http://schemas.microsoft.com/office/powerpoint/2010/main" val="2717401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70267" y="928618"/>
            <a:ext cx="11949845" cy="4488771"/>
          </a:xfrm>
        </p:spPr>
        <p:txBody>
          <a:bodyPr/>
          <a:lstStyle/>
          <a:p>
            <a:pPr marL="0" indent="0">
              <a:buFont typeface="Wingdings 3" panose="05040102010807070707" pitchFamily="18" charset="2"/>
              <a:buNone/>
            </a:pPr>
            <a:r>
              <a:rPr lang="en-US" altLang="en-US" sz="3200" dirty="0">
                <a:solidFill>
                  <a:srgbClr val="0070C0"/>
                </a:solidFill>
              </a:rPr>
              <a:t>function </a:t>
            </a:r>
            <a:r>
              <a:rPr lang="en-US" altLang="en-US" sz="3200" dirty="0" err="1">
                <a:solidFill>
                  <a:srgbClr val="0070C0"/>
                </a:solidFill>
              </a:rPr>
              <a:t>writeMsg</a:t>
            </a:r>
            <a:r>
              <a:rPr lang="en-US" altLang="en-US" sz="3200" dirty="0">
                <a:solidFill>
                  <a:srgbClr val="0070C0"/>
                </a:solidFill>
              </a:rPr>
              <a:t> ( ) {</a:t>
            </a:r>
            <a:br>
              <a:rPr lang="en-US" altLang="en-US" sz="3200" dirty="0">
                <a:solidFill>
                  <a:srgbClr val="0070C0"/>
                </a:solidFill>
              </a:rPr>
            </a:br>
            <a:r>
              <a:rPr lang="en-US" altLang="en-US" sz="3200" dirty="0">
                <a:solidFill>
                  <a:srgbClr val="0070C0"/>
                </a:solidFill>
              </a:rPr>
              <a:t>    echo "Hello world!";</a:t>
            </a:r>
            <a:br>
              <a:rPr lang="en-US" altLang="en-US" sz="3200" dirty="0">
                <a:solidFill>
                  <a:srgbClr val="0070C0"/>
                </a:solidFill>
              </a:rPr>
            </a:br>
            <a:r>
              <a:rPr lang="en-US" altLang="en-US" sz="3200" dirty="0">
                <a:solidFill>
                  <a:srgbClr val="0070C0"/>
                </a:solidFill>
              </a:rPr>
              <a:t>}</a:t>
            </a:r>
          </a:p>
          <a:p>
            <a:pPr marL="0" indent="0">
              <a:buNone/>
            </a:pPr>
            <a:r>
              <a:rPr lang="en-US" sz="3200" dirty="0"/>
              <a:t>To call the function, just write its name. </a:t>
            </a:r>
          </a:p>
          <a:p>
            <a:pPr marL="0" indent="0">
              <a:buNone/>
            </a:pPr>
            <a:r>
              <a:rPr lang="en-US" altLang="en-US" sz="3200" dirty="0" err="1">
                <a:solidFill>
                  <a:srgbClr val="0070C0"/>
                </a:solidFill>
              </a:rPr>
              <a:t>writeMsg</a:t>
            </a:r>
            <a:r>
              <a:rPr lang="en-US" altLang="en-US" sz="3200" dirty="0">
                <a:solidFill>
                  <a:srgbClr val="0070C0"/>
                </a:solidFill>
              </a:rPr>
              <a:t> ( ); // function call</a:t>
            </a:r>
            <a:br>
              <a:rPr lang="en-US" altLang="en-US" sz="3200" dirty="0">
                <a:solidFill>
                  <a:srgbClr val="0070C0"/>
                </a:solidFill>
              </a:rPr>
            </a:br>
            <a:endParaRPr lang="en-US" altLang="en-US" sz="3200" dirty="0">
              <a:solidFill>
                <a:srgbClr val="0070C0"/>
              </a:solidFill>
            </a:endParaRPr>
          </a:p>
          <a:p>
            <a:pPr marL="0" indent="0">
              <a:buNone/>
            </a:pPr>
            <a:r>
              <a:rPr lang="en-US" sz="3200" dirty="0"/>
              <a:t>You can call a function as many as you wish.</a:t>
            </a:r>
          </a:p>
          <a:p>
            <a:endParaRPr lang="en-US" sz="3200" dirty="0"/>
          </a:p>
        </p:txBody>
      </p:sp>
      <p:sp>
        <p:nvSpPr>
          <p:cNvPr id="4" name="Slide Number Placeholder 3"/>
          <p:cNvSpPr>
            <a:spLocks noGrp="1"/>
          </p:cNvSpPr>
          <p:nvPr>
            <p:ph type="sldNum" idx="12"/>
          </p:nvPr>
        </p:nvSpPr>
        <p:spPr/>
        <p:txBody>
          <a:bodyPr/>
          <a:lstStyle/>
          <a:p>
            <a:pPr>
              <a:defRPr/>
            </a:pPr>
            <a:fld id="{0826631B-767C-471C-94C9-7882A1E965AC}" type="slidenum">
              <a:rPr lang="en-US" smtClean="0"/>
              <a:pPr>
                <a:defRPr/>
              </a:pPr>
              <a:t>27</a:t>
            </a:fld>
            <a:endParaRPr lang="en-US"/>
          </a:p>
        </p:txBody>
      </p:sp>
      <p:sp>
        <p:nvSpPr>
          <p:cNvPr id="6" name="Rectangle 5">
            <a:extLst>
              <a:ext uri="{FF2B5EF4-FFF2-40B4-BE49-F238E27FC236}">
                <a16:creationId xmlns:a16="http://schemas.microsoft.com/office/drawing/2014/main" id="{BD4C8DAE-3017-2F73-5111-4FEC7925A7F3}"/>
              </a:ext>
            </a:extLst>
          </p:cNvPr>
          <p:cNvSpPr/>
          <p:nvPr/>
        </p:nvSpPr>
        <p:spPr>
          <a:xfrm>
            <a:off x="14874" y="-58270"/>
            <a:ext cx="12192000" cy="899347"/>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TextBox 7">
            <a:extLst>
              <a:ext uri="{FF2B5EF4-FFF2-40B4-BE49-F238E27FC236}">
                <a16:creationId xmlns:a16="http://schemas.microsoft.com/office/drawing/2014/main" id="{19D19745-423B-EFE0-FB92-07153769B677}"/>
              </a:ext>
            </a:extLst>
          </p:cNvPr>
          <p:cNvSpPr txBox="1"/>
          <p:nvPr/>
        </p:nvSpPr>
        <p:spPr>
          <a:xfrm>
            <a:off x="170268" y="73325"/>
            <a:ext cx="8634923" cy="646331"/>
          </a:xfrm>
          <a:prstGeom prst="rect">
            <a:avLst/>
          </a:prstGeom>
          <a:noFill/>
        </p:spPr>
        <p:txBody>
          <a:bodyPr wrap="square" rtlCol="0">
            <a:spAutoFit/>
          </a:bodyPr>
          <a:lstStyle/>
          <a:p>
            <a:r>
              <a:rPr lang="en-GB" sz="3600" b="1" kern="1200" spc="-5" dirty="0">
                <a:solidFill>
                  <a:srgbClr val="FFC000"/>
                </a:solidFill>
                <a:latin typeface="Calibri" panose="020F0502020204030204"/>
                <a:ea typeface="+mn-ea"/>
                <a:cs typeface="+mn-cs"/>
              </a:rPr>
              <a:t>Example of function creating</a:t>
            </a:r>
            <a:endParaRPr lang="en-US" sz="3600" b="1" kern="1200" spc="-5" dirty="0">
              <a:solidFill>
                <a:srgbClr val="FFC000"/>
              </a:solidFill>
              <a:latin typeface="Calibri" panose="020F0502020204030204"/>
              <a:ea typeface="+mn-ea"/>
              <a:cs typeface="+mn-cs"/>
            </a:endParaRPr>
          </a:p>
        </p:txBody>
      </p:sp>
      <p:pic>
        <p:nvPicPr>
          <p:cNvPr id="10" name="object 3">
            <a:extLst>
              <a:ext uri="{FF2B5EF4-FFF2-40B4-BE49-F238E27FC236}">
                <a16:creationId xmlns:a16="http://schemas.microsoft.com/office/drawing/2014/main" id="{1E35A1B7-F8DD-9FFC-B004-5C61E05A0423}"/>
              </a:ext>
            </a:extLst>
          </p:cNvPr>
          <p:cNvPicPr/>
          <p:nvPr/>
        </p:nvPicPr>
        <p:blipFill>
          <a:blip r:embed="rId2" cstate="print"/>
          <a:stretch>
            <a:fillRect/>
          </a:stretch>
        </p:blipFill>
        <p:spPr>
          <a:xfrm>
            <a:off x="11162570" y="-92324"/>
            <a:ext cx="1029430" cy="1020942"/>
          </a:xfrm>
          <a:prstGeom prst="ellipse">
            <a:avLst/>
          </a:prstGeom>
          <a:ln>
            <a:noFill/>
          </a:ln>
          <a:effectLst>
            <a:softEdge rad="112500"/>
          </a:effectLst>
        </p:spPr>
      </p:pic>
    </p:spTree>
    <p:extLst>
      <p:ext uri="{BB962C8B-B14F-4D97-AF65-F5344CB8AC3E}">
        <p14:creationId xmlns:p14="http://schemas.microsoft.com/office/powerpoint/2010/main" val="3079680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4874" y="841077"/>
            <a:ext cx="12162252" cy="4472795"/>
          </a:xfrm>
        </p:spPr>
        <p:txBody>
          <a:bodyPr>
            <a:normAutofit lnSpcReduction="10000"/>
          </a:bodyPr>
          <a:lstStyle/>
          <a:p>
            <a:pPr marL="0" indent="0">
              <a:buFont typeface="Wingdings 3" panose="05040102010807070707" pitchFamily="18" charset="2"/>
              <a:buNone/>
            </a:pPr>
            <a:r>
              <a:rPr lang="en-US" altLang="en-US" sz="3200" dirty="0">
                <a:solidFill>
                  <a:srgbClr val="0070C0"/>
                </a:solidFill>
              </a:rPr>
              <a:t>function factorial ($a) {</a:t>
            </a:r>
          </a:p>
          <a:p>
            <a:pPr marL="0" indent="0">
              <a:buFont typeface="Wingdings 3" panose="05040102010807070707" pitchFamily="18" charset="2"/>
              <a:buNone/>
            </a:pPr>
            <a:r>
              <a:rPr lang="en-US" altLang="en-US" sz="3200" dirty="0">
                <a:solidFill>
                  <a:srgbClr val="0070C0"/>
                </a:solidFill>
              </a:rPr>
              <a:t>	$result = 1;</a:t>
            </a:r>
          </a:p>
          <a:p>
            <a:pPr marL="0" indent="0">
              <a:buFont typeface="Wingdings 3" panose="05040102010807070707" pitchFamily="18" charset="2"/>
              <a:buNone/>
            </a:pPr>
            <a:r>
              <a:rPr lang="en-US" altLang="en-US" sz="3200" dirty="0">
                <a:solidFill>
                  <a:srgbClr val="0070C0"/>
                </a:solidFill>
              </a:rPr>
              <a:t>	for ($</a:t>
            </a:r>
            <a:r>
              <a:rPr lang="en-US" altLang="en-US" sz="3200" dirty="0" err="1">
                <a:solidFill>
                  <a:srgbClr val="0070C0"/>
                </a:solidFill>
              </a:rPr>
              <a:t>i</a:t>
            </a:r>
            <a:r>
              <a:rPr lang="en-US" altLang="en-US" sz="3200" dirty="0">
                <a:solidFill>
                  <a:srgbClr val="0070C0"/>
                </a:solidFill>
              </a:rPr>
              <a:t> = 1 ; $</a:t>
            </a:r>
            <a:r>
              <a:rPr lang="en-US" altLang="en-US" sz="3200" dirty="0" err="1">
                <a:solidFill>
                  <a:srgbClr val="0070C0"/>
                </a:solidFill>
              </a:rPr>
              <a:t>i</a:t>
            </a:r>
            <a:r>
              <a:rPr lang="en-US" altLang="en-US" sz="3200" dirty="0">
                <a:solidFill>
                  <a:srgbClr val="0070C0"/>
                </a:solidFill>
              </a:rPr>
              <a:t> &lt;= $a; $</a:t>
            </a:r>
            <a:r>
              <a:rPr lang="en-US" altLang="en-US" sz="3200" dirty="0" err="1">
                <a:solidFill>
                  <a:srgbClr val="0070C0"/>
                </a:solidFill>
              </a:rPr>
              <a:t>i</a:t>
            </a:r>
            <a:r>
              <a:rPr lang="en-US" altLang="en-US" sz="3200" dirty="0">
                <a:solidFill>
                  <a:srgbClr val="0070C0"/>
                </a:solidFill>
              </a:rPr>
              <a:t>++)</a:t>
            </a:r>
          </a:p>
          <a:p>
            <a:pPr marL="0" indent="0">
              <a:buFont typeface="Wingdings 3" panose="05040102010807070707" pitchFamily="18" charset="2"/>
              <a:buNone/>
            </a:pPr>
            <a:r>
              <a:rPr lang="en-US" altLang="en-US" sz="3200" dirty="0">
                <a:solidFill>
                  <a:srgbClr val="0070C0"/>
                </a:solidFill>
              </a:rPr>
              <a:t>		$result *= $</a:t>
            </a:r>
            <a:r>
              <a:rPr lang="en-US" altLang="en-US" sz="3200" dirty="0" err="1">
                <a:solidFill>
                  <a:srgbClr val="0070C0"/>
                </a:solidFill>
              </a:rPr>
              <a:t>i</a:t>
            </a:r>
            <a:r>
              <a:rPr lang="en-US" altLang="en-US" sz="3200" dirty="0">
                <a:solidFill>
                  <a:srgbClr val="0070C0"/>
                </a:solidFill>
              </a:rPr>
              <a:t>;</a:t>
            </a:r>
          </a:p>
          <a:p>
            <a:pPr marL="0" indent="0">
              <a:buFont typeface="Wingdings 3" panose="05040102010807070707" pitchFamily="18" charset="2"/>
              <a:buNone/>
            </a:pPr>
            <a:r>
              <a:rPr lang="en-US" altLang="en-US" sz="3200" dirty="0">
                <a:solidFill>
                  <a:srgbClr val="0070C0"/>
                </a:solidFill>
              </a:rPr>
              <a:t>	echo "&lt;</a:t>
            </a:r>
            <a:r>
              <a:rPr lang="en-US" altLang="en-US" sz="3200" dirty="0" err="1">
                <a:solidFill>
                  <a:srgbClr val="0070C0"/>
                </a:solidFill>
              </a:rPr>
              <a:t>br</a:t>
            </a:r>
            <a:r>
              <a:rPr lang="en-US" altLang="en-US" sz="3200" dirty="0">
                <a:solidFill>
                  <a:srgbClr val="0070C0"/>
                </a:solidFill>
              </a:rPr>
              <a:t>&gt;Factorial of $a is : $result";</a:t>
            </a:r>
          </a:p>
          <a:p>
            <a:pPr marL="0" indent="0">
              <a:buFont typeface="Wingdings 3" panose="05040102010807070707" pitchFamily="18" charset="2"/>
              <a:buNone/>
            </a:pPr>
            <a:r>
              <a:rPr lang="en-US" altLang="en-US" sz="3200" dirty="0">
                <a:solidFill>
                  <a:srgbClr val="0070C0"/>
                </a:solidFill>
              </a:rPr>
              <a:t>}</a:t>
            </a:r>
          </a:p>
          <a:p>
            <a:pPr marL="0" indent="0">
              <a:buFont typeface="Wingdings 3" panose="05040102010807070707" pitchFamily="18" charset="2"/>
              <a:buNone/>
            </a:pPr>
            <a:r>
              <a:rPr lang="en-US" altLang="en-US" sz="3200" dirty="0">
                <a:solidFill>
                  <a:srgbClr val="0070C0"/>
                </a:solidFill>
              </a:rPr>
              <a:t>factorial (5);</a:t>
            </a:r>
          </a:p>
          <a:p>
            <a:pPr marL="0" indent="0">
              <a:buFont typeface="Wingdings 3" panose="05040102010807070707" pitchFamily="18" charset="2"/>
              <a:buNone/>
            </a:pPr>
            <a:r>
              <a:rPr lang="en-US" altLang="en-US" sz="3200" b="1" dirty="0"/>
              <a:t>Output:</a:t>
            </a:r>
            <a:r>
              <a:rPr lang="en-US" altLang="en-US" sz="3200" dirty="0"/>
              <a:t> </a:t>
            </a:r>
            <a:r>
              <a:rPr lang="en-US" altLang="en-US" sz="3200" dirty="0">
                <a:solidFill>
                  <a:srgbClr val="C00000"/>
                </a:solidFill>
              </a:rPr>
              <a:t>Factorial of 5 is : 120</a:t>
            </a:r>
          </a:p>
        </p:txBody>
      </p:sp>
      <p:sp>
        <p:nvSpPr>
          <p:cNvPr id="5" name="Slide Number Placeholder 4"/>
          <p:cNvSpPr>
            <a:spLocks noGrp="1"/>
          </p:cNvSpPr>
          <p:nvPr>
            <p:ph type="sldNum" idx="12"/>
          </p:nvPr>
        </p:nvSpPr>
        <p:spPr/>
        <p:txBody>
          <a:bodyPr/>
          <a:lstStyle/>
          <a:p>
            <a:pPr>
              <a:defRPr/>
            </a:pPr>
            <a:fld id="{0826631B-767C-471C-94C9-7882A1E965AC}" type="slidenum">
              <a:rPr lang="en-US" smtClean="0"/>
              <a:pPr>
                <a:defRPr/>
              </a:pPr>
              <a:t>28</a:t>
            </a:fld>
            <a:endParaRPr lang="en-US"/>
          </a:p>
        </p:txBody>
      </p:sp>
      <p:sp>
        <p:nvSpPr>
          <p:cNvPr id="6" name="Rectangle 5">
            <a:extLst>
              <a:ext uri="{FF2B5EF4-FFF2-40B4-BE49-F238E27FC236}">
                <a16:creationId xmlns:a16="http://schemas.microsoft.com/office/drawing/2014/main" id="{709082EE-3C7C-E1B4-46DD-7C3D6023A9C3}"/>
              </a:ext>
            </a:extLst>
          </p:cNvPr>
          <p:cNvSpPr/>
          <p:nvPr/>
        </p:nvSpPr>
        <p:spPr>
          <a:xfrm>
            <a:off x="14874" y="-58270"/>
            <a:ext cx="12192000" cy="899347"/>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TextBox 7">
            <a:extLst>
              <a:ext uri="{FF2B5EF4-FFF2-40B4-BE49-F238E27FC236}">
                <a16:creationId xmlns:a16="http://schemas.microsoft.com/office/drawing/2014/main" id="{CE23711B-87A4-6F48-8DDC-A7EACFED0B89}"/>
              </a:ext>
            </a:extLst>
          </p:cNvPr>
          <p:cNvSpPr txBox="1"/>
          <p:nvPr/>
        </p:nvSpPr>
        <p:spPr>
          <a:xfrm>
            <a:off x="170268" y="73325"/>
            <a:ext cx="8634923" cy="646331"/>
          </a:xfrm>
          <a:prstGeom prst="rect">
            <a:avLst/>
          </a:prstGeom>
          <a:noFill/>
        </p:spPr>
        <p:txBody>
          <a:bodyPr wrap="square" rtlCol="0">
            <a:spAutoFit/>
          </a:bodyPr>
          <a:lstStyle/>
          <a:p>
            <a:r>
              <a:rPr lang="en-GB" sz="3600" b="1" kern="1200" spc="-5" dirty="0">
                <a:solidFill>
                  <a:srgbClr val="FFC000"/>
                </a:solidFill>
                <a:latin typeface="Calibri" panose="020F0502020204030204"/>
                <a:ea typeface="+mn-ea"/>
                <a:cs typeface="+mn-cs"/>
              </a:rPr>
              <a:t>Example factorial of number </a:t>
            </a:r>
            <a:endParaRPr lang="en-US" sz="3600" b="1" kern="1200" spc="-5" dirty="0">
              <a:solidFill>
                <a:srgbClr val="FFC000"/>
              </a:solidFill>
              <a:latin typeface="Calibri" panose="020F0502020204030204"/>
              <a:ea typeface="+mn-ea"/>
              <a:cs typeface="+mn-cs"/>
            </a:endParaRPr>
          </a:p>
        </p:txBody>
      </p:sp>
      <p:pic>
        <p:nvPicPr>
          <p:cNvPr id="10" name="object 3">
            <a:extLst>
              <a:ext uri="{FF2B5EF4-FFF2-40B4-BE49-F238E27FC236}">
                <a16:creationId xmlns:a16="http://schemas.microsoft.com/office/drawing/2014/main" id="{624020F6-A1DE-4DA2-C3FE-30ED2C488C5B}"/>
              </a:ext>
            </a:extLst>
          </p:cNvPr>
          <p:cNvPicPr/>
          <p:nvPr/>
        </p:nvPicPr>
        <p:blipFill>
          <a:blip r:embed="rId2" cstate="print"/>
          <a:stretch>
            <a:fillRect/>
          </a:stretch>
        </p:blipFill>
        <p:spPr>
          <a:xfrm>
            <a:off x="11162570" y="-92324"/>
            <a:ext cx="1029430" cy="1020942"/>
          </a:xfrm>
          <a:prstGeom prst="ellipse">
            <a:avLst/>
          </a:prstGeom>
          <a:ln>
            <a:noFill/>
          </a:ln>
          <a:effectLst>
            <a:softEdge rad="112500"/>
          </a:effectLst>
        </p:spPr>
      </p:pic>
    </p:spTree>
    <p:extLst>
      <p:ext uri="{BB962C8B-B14F-4D97-AF65-F5344CB8AC3E}">
        <p14:creationId xmlns:p14="http://schemas.microsoft.com/office/powerpoint/2010/main" val="4206801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0" y="875131"/>
            <a:ext cx="12192000" cy="5867292"/>
          </a:xfrm>
        </p:spPr>
        <p:txBody>
          <a:bodyPr>
            <a:normAutofit/>
          </a:bodyPr>
          <a:lstStyle/>
          <a:p>
            <a:r>
              <a:rPr lang="en-US" altLang="en-US" sz="2400" dirty="0"/>
              <a:t>Information can be passed to functions through </a:t>
            </a:r>
            <a:r>
              <a:rPr lang="en-US" altLang="en-US" sz="2400" dirty="0">
                <a:solidFill>
                  <a:srgbClr val="0070C0"/>
                </a:solidFill>
              </a:rPr>
              <a:t>arguments</a:t>
            </a:r>
            <a:r>
              <a:rPr lang="en-US" altLang="en-US" sz="2400" dirty="0"/>
              <a:t>. An argument is just like a value or variable.</a:t>
            </a:r>
          </a:p>
          <a:p>
            <a:r>
              <a:rPr lang="en-US" altLang="en-US" sz="2400" dirty="0"/>
              <a:t>Arguments are specified after the function name, inside the parentheses. You can add as many arguments as you want according to the parameters specified in the header of the functions, just separate them with a comma.</a:t>
            </a:r>
          </a:p>
          <a:p>
            <a:r>
              <a:rPr lang="en-US" altLang="en-US" sz="2400" dirty="0"/>
              <a:t>Differentiate between </a:t>
            </a:r>
            <a:r>
              <a:rPr lang="en-US" altLang="en-US" sz="2400" dirty="0">
                <a:solidFill>
                  <a:srgbClr val="C00000"/>
                </a:solidFill>
              </a:rPr>
              <a:t>parameters </a:t>
            </a:r>
            <a:r>
              <a:rPr lang="en-US" altLang="en-US" sz="2400" dirty="0"/>
              <a:t>and</a:t>
            </a:r>
            <a:r>
              <a:rPr lang="en-US" altLang="en-US" sz="2400" dirty="0">
                <a:solidFill>
                  <a:srgbClr val="C00000"/>
                </a:solidFill>
              </a:rPr>
              <a:t> </a:t>
            </a:r>
            <a:r>
              <a:rPr lang="en-US" altLang="en-US" sz="2400" dirty="0">
                <a:solidFill>
                  <a:srgbClr val="0070C0"/>
                </a:solidFill>
              </a:rPr>
              <a:t>arguments</a:t>
            </a:r>
            <a:r>
              <a:rPr lang="en-US" altLang="en-US" sz="2400" dirty="0"/>
              <a:t> .</a:t>
            </a:r>
          </a:p>
          <a:p>
            <a:pPr lvl="1"/>
            <a:r>
              <a:rPr lang="en-US" sz="2467" dirty="0">
                <a:solidFill>
                  <a:srgbClr val="C00000"/>
                </a:solidFill>
              </a:rPr>
              <a:t>Arguments </a:t>
            </a:r>
            <a:r>
              <a:rPr lang="en-US" sz="2467" dirty="0"/>
              <a:t>are values passed to a function.</a:t>
            </a:r>
          </a:p>
          <a:p>
            <a:pPr lvl="1"/>
            <a:r>
              <a:rPr lang="en-US" sz="2467" dirty="0">
                <a:solidFill>
                  <a:srgbClr val="C00000"/>
                </a:solidFill>
              </a:rPr>
              <a:t>Parameters</a:t>
            </a:r>
            <a:r>
              <a:rPr lang="en-US" sz="2467" dirty="0">
                <a:solidFill>
                  <a:srgbClr val="0070C0"/>
                </a:solidFill>
              </a:rPr>
              <a:t> </a:t>
            </a:r>
            <a:r>
              <a:rPr lang="en-US" sz="2467" dirty="0"/>
              <a:t>are the placeholders for </a:t>
            </a:r>
            <a:r>
              <a:rPr lang="en-US" sz="2467" dirty="0">
                <a:solidFill>
                  <a:srgbClr val="0070C0"/>
                </a:solidFill>
              </a:rPr>
              <a:t>arguments.</a:t>
            </a:r>
          </a:p>
          <a:p>
            <a:pPr marL="0" indent="0">
              <a:buFont typeface="Wingdings 3" panose="05040102010807070707" pitchFamily="18" charset="2"/>
              <a:buNone/>
            </a:pPr>
            <a:r>
              <a:rPr lang="en-US" altLang="en-US" sz="2400" dirty="0">
                <a:solidFill>
                  <a:srgbClr val="0070C0"/>
                </a:solidFill>
              </a:rPr>
              <a:t>function factorial ($a) {</a:t>
            </a:r>
          </a:p>
          <a:p>
            <a:pPr marL="0" indent="0">
              <a:buFont typeface="Wingdings 3" panose="05040102010807070707" pitchFamily="18" charset="2"/>
              <a:buNone/>
            </a:pPr>
            <a:r>
              <a:rPr lang="en-US" altLang="en-US" sz="2400" dirty="0">
                <a:solidFill>
                  <a:srgbClr val="0070C0"/>
                </a:solidFill>
              </a:rPr>
              <a:t>	</a:t>
            </a:r>
          </a:p>
          <a:p>
            <a:pPr marL="0" indent="0">
              <a:buFont typeface="Wingdings 3" panose="05040102010807070707" pitchFamily="18" charset="2"/>
              <a:buNone/>
            </a:pPr>
            <a:r>
              <a:rPr lang="en-US" altLang="en-US" sz="2400" dirty="0">
                <a:solidFill>
                  <a:srgbClr val="0070C0"/>
                </a:solidFill>
              </a:rPr>
              <a:t>}</a:t>
            </a:r>
          </a:p>
          <a:p>
            <a:pPr marL="0" indent="0">
              <a:buFont typeface="Wingdings 3" panose="05040102010807070707" pitchFamily="18" charset="2"/>
              <a:buNone/>
            </a:pPr>
            <a:r>
              <a:rPr lang="en-US" altLang="en-US" sz="2400" dirty="0">
                <a:solidFill>
                  <a:srgbClr val="0070C0"/>
                </a:solidFill>
              </a:rPr>
              <a:t>factorial (5);</a:t>
            </a:r>
          </a:p>
          <a:p>
            <a:endParaRPr lang="en-US" sz="2400" dirty="0"/>
          </a:p>
        </p:txBody>
      </p:sp>
      <p:sp>
        <p:nvSpPr>
          <p:cNvPr id="5" name="Slide Number Placeholder 4"/>
          <p:cNvSpPr>
            <a:spLocks noGrp="1"/>
          </p:cNvSpPr>
          <p:nvPr>
            <p:ph type="sldNum" idx="12"/>
          </p:nvPr>
        </p:nvSpPr>
        <p:spPr/>
        <p:txBody>
          <a:bodyPr/>
          <a:lstStyle/>
          <a:p>
            <a:pPr>
              <a:defRPr/>
            </a:pPr>
            <a:fld id="{0826631B-767C-471C-94C9-7882A1E965AC}" type="slidenum">
              <a:rPr lang="en-US" smtClean="0"/>
              <a:pPr>
                <a:defRPr/>
              </a:pPr>
              <a:t>29</a:t>
            </a:fld>
            <a:endParaRPr lang="en-US"/>
          </a:p>
        </p:txBody>
      </p:sp>
      <p:sp>
        <p:nvSpPr>
          <p:cNvPr id="6" name="Rectangle 5">
            <a:extLst>
              <a:ext uri="{FF2B5EF4-FFF2-40B4-BE49-F238E27FC236}">
                <a16:creationId xmlns:a16="http://schemas.microsoft.com/office/drawing/2014/main" id="{2E6820D9-E3AC-D4C0-F6BD-720811292CE0}"/>
              </a:ext>
            </a:extLst>
          </p:cNvPr>
          <p:cNvSpPr/>
          <p:nvPr/>
        </p:nvSpPr>
        <p:spPr>
          <a:xfrm>
            <a:off x="14874" y="-58270"/>
            <a:ext cx="12192000" cy="899347"/>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TextBox 7">
            <a:extLst>
              <a:ext uri="{FF2B5EF4-FFF2-40B4-BE49-F238E27FC236}">
                <a16:creationId xmlns:a16="http://schemas.microsoft.com/office/drawing/2014/main" id="{C9B5F36D-C144-4301-AFFF-DCF7297E3E23}"/>
              </a:ext>
            </a:extLst>
          </p:cNvPr>
          <p:cNvSpPr txBox="1"/>
          <p:nvPr/>
        </p:nvSpPr>
        <p:spPr>
          <a:xfrm>
            <a:off x="170268" y="73325"/>
            <a:ext cx="8634923" cy="646331"/>
          </a:xfrm>
          <a:prstGeom prst="rect">
            <a:avLst/>
          </a:prstGeom>
          <a:noFill/>
        </p:spPr>
        <p:txBody>
          <a:bodyPr wrap="square" rtlCol="0">
            <a:spAutoFit/>
          </a:bodyPr>
          <a:lstStyle/>
          <a:p>
            <a:r>
              <a:rPr lang="en-GB" sz="3600" b="1" kern="1200" spc="-5" dirty="0">
                <a:solidFill>
                  <a:srgbClr val="FFC000"/>
                </a:solidFill>
                <a:latin typeface="Calibri" panose="020F0502020204030204"/>
                <a:ea typeface="+mn-ea"/>
                <a:cs typeface="+mn-cs"/>
              </a:rPr>
              <a:t>Function Arguments</a:t>
            </a:r>
            <a:endParaRPr lang="en-US" sz="3600" b="1" kern="1200" spc="-5" dirty="0">
              <a:solidFill>
                <a:srgbClr val="FFC000"/>
              </a:solidFill>
              <a:latin typeface="Calibri" panose="020F0502020204030204"/>
              <a:ea typeface="+mn-ea"/>
              <a:cs typeface="+mn-cs"/>
            </a:endParaRPr>
          </a:p>
        </p:txBody>
      </p:sp>
      <p:pic>
        <p:nvPicPr>
          <p:cNvPr id="10" name="object 3">
            <a:extLst>
              <a:ext uri="{FF2B5EF4-FFF2-40B4-BE49-F238E27FC236}">
                <a16:creationId xmlns:a16="http://schemas.microsoft.com/office/drawing/2014/main" id="{25857867-AEAA-0BE1-2CB6-290104AD5959}"/>
              </a:ext>
            </a:extLst>
          </p:cNvPr>
          <p:cNvPicPr/>
          <p:nvPr/>
        </p:nvPicPr>
        <p:blipFill>
          <a:blip r:embed="rId2" cstate="print"/>
          <a:stretch>
            <a:fillRect/>
          </a:stretch>
        </p:blipFill>
        <p:spPr>
          <a:xfrm>
            <a:off x="11162570" y="-92324"/>
            <a:ext cx="1029430" cy="1020942"/>
          </a:xfrm>
          <a:prstGeom prst="ellipse">
            <a:avLst/>
          </a:prstGeom>
          <a:ln>
            <a:noFill/>
          </a:ln>
          <a:effectLst>
            <a:softEdge rad="112500"/>
          </a:effectLst>
        </p:spPr>
      </p:pic>
      <p:grpSp>
        <p:nvGrpSpPr>
          <p:cNvPr id="21" name="Group 20">
            <a:extLst>
              <a:ext uri="{FF2B5EF4-FFF2-40B4-BE49-F238E27FC236}">
                <a16:creationId xmlns:a16="http://schemas.microsoft.com/office/drawing/2014/main" id="{0D6D5950-E765-54E7-D7EB-B71293815346}"/>
              </a:ext>
            </a:extLst>
          </p:cNvPr>
          <p:cNvGrpSpPr/>
          <p:nvPr/>
        </p:nvGrpSpPr>
        <p:grpSpPr>
          <a:xfrm>
            <a:off x="3164940" y="4362870"/>
            <a:ext cx="3415864" cy="543420"/>
            <a:chOff x="4372303" y="3208773"/>
            <a:chExt cx="3415864" cy="543420"/>
          </a:xfrm>
        </p:grpSpPr>
        <p:sp>
          <p:nvSpPr>
            <p:cNvPr id="22" name="Rectangle 21">
              <a:extLst>
                <a:ext uri="{FF2B5EF4-FFF2-40B4-BE49-F238E27FC236}">
                  <a16:creationId xmlns:a16="http://schemas.microsoft.com/office/drawing/2014/main" id="{C26B4527-A6EE-6004-79D9-DC7A6333B056}"/>
                </a:ext>
              </a:extLst>
            </p:cNvPr>
            <p:cNvSpPr/>
            <p:nvPr/>
          </p:nvSpPr>
          <p:spPr>
            <a:xfrm>
              <a:off x="6169573" y="3208773"/>
              <a:ext cx="1618594" cy="54342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Parameter</a:t>
              </a:r>
            </a:p>
          </p:txBody>
        </p:sp>
        <p:cxnSp>
          <p:nvCxnSpPr>
            <p:cNvPr id="23" name="Straight Arrow Connector 22">
              <a:extLst>
                <a:ext uri="{FF2B5EF4-FFF2-40B4-BE49-F238E27FC236}">
                  <a16:creationId xmlns:a16="http://schemas.microsoft.com/office/drawing/2014/main" id="{978FE0D9-9C7A-E85C-ACC5-4E8D9E612851}"/>
                </a:ext>
              </a:extLst>
            </p:cNvPr>
            <p:cNvCxnSpPr/>
            <p:nvPr/>
          </p:nvCxnSpPr>
          <p:spPr>
            <a:xfrm>
              <a:off x="4372303" y="3429000"/>
              <a:ext cx="17972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4" name="Group 23">
            <a:extLst>
              <a:ext uri="{FF2B5EF4-FFF2-40B4-BE49-F238E27FC236}">
                <a16:creationId xmlns:a16="http://schemas.microsoft.com/office/drawing/2014/main" id="{F243D1CA-5D88-4C19-B465-03CA2D55BCAB}"/>
              </a:ext>
            </a:extLst>
          </p:cNvPr>
          <p:cNvGrpSpPr/>
          <p:nvPr/>
        </p:nvGrpSpPr>
        <p:grpSpPr>
          <a:xfrm>
            <a:off x="1655125" y="5552646"/>
            <a:ext cx="3962401" cy="543420"/>
            <a:chOff x="3111062" y="4710193"/>
            <a:chExt cx="3962401" cy="543420"/>
          </a:xfrm>
        </p:grpSpPr>
        <p:sp>
          <p:nvSpPr>
            <p:cNvPr id="25" name="Rectangle 24">
              <a:extLst>
                <a:ext uri="{FF2B5EF4-FFF2-40B4-BE49-F238E27FC236}">
                  <a16:creationId xmlns:a16="http://schemas.microsoft.com/office/drawing/2014/main" id="{D0149151-CE01-082D-76AF-3CD3B7FFB010}"/>
                </a:ext>
              </a:extLst>
            </p:cNvPr>
            <p:cNvSpPr/>
            <p:nvPr/>
          </p:nvSpPr>
          <p:spPr>
            <a:xfrm>
              <a:off x="5454869" y="4710193"/>
              <a:ext cx="1618594" cy="54342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Argument</a:t>
              </a:r>
            </a:p>
          </p:txBody>
        </p:sp>
        <p:cxnSp>
          <p:nvCxnSpPr>
            <p:cNvPr id="26" name="Straight Arrow Connector 25">
              <a:extLst>
                <a:ext uri="{FF2B5EF4-FFF2-40B4-BE49-F238E27FC236}">
                  <a16:creationId xmlns:a16="http://schemas.microsoft.com/office/drawing/2014/main" id="{18D2C123-713D-4440-C039-B80840D346BB}"/>
                </a:ext>
              </a:extLst>
            </p:cNvPr>
            <p:cNvCxnSpPr>
              <a:cxnSpLocks/>
            </p:cNvCxnSpPr>
            <p:nvPr/>
          </p:nvCxnSpPr>
          <p:spPr>
            <a:xfrm>
              <a:off x="3111062" y="4981903"/>
              <a:ext cx="23438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242106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0" y="875131"/>
            <a:ext cx="12192000" cy="5867292"/>
          </a:xfrm>
        </p:spPr>
        <p:txBody>
          <a:bodyPr>
            <a:normAutofit/>
          </a:bodyPr>
          <a:lstStyle/>
          <a:p>
            <a:pPr fontAlgn="auto">
              <a:spcAft>
                <a:spcPts val="0"/>
              </a:spcAft>
              <a:defRPr/>
            </a:pPr>
            <a:r>
              <a:rPr lang="en-US" sz="3200" dirty="0"/>
              <a:t>When a function completes its task, it may return a value (variable)</a:t>
            </a:r>
          </a:p>
          <a:p>
            <a:pPr fontAlgn="auto">
              <a:spcAft>
                <a:spcPts val="0"/>
              </a:spcAft>
              <a:defRPr/>
            </a:pPr>
            <a:r>
              <a:rPr lang="en-US" sz="3200" dirty="0"/>
              <a:t>To let a function return a value, use the return statement.</a:t>
            </a:r>
          </a:p>
          <a:p>
            <a:pPr marL="457200" lvl="1" indent="0" algn="ctr" fontAlgn="auto">
              <a:spcAft>
                <a:spcPts val="0"/>
              </a:spcAft>
              <a:buNone/>
              <a:defRPr/>
            </a:pPr>
            <a:r>
              <a:rPr lang="en-US" sz="3200" dirty="0">
                <a:solidFill>
                  <a:srgbClr val="0070C0"/>
                </a:solidFill>
              </a:rPr>
              <a:t>return $result;</a:t>
            </a:r>
          </a:p>
          <a:p>
            <a:pPr fontAlgn="auto">
              <a:spcAft>
                <a:spcPts val="0"/>
              </a:spcAft>
              <a:defRPr/>
            </a:pPr>
            <a:r>
              <a:rPr lang="en-US" sz="3200" dirty="0"/>
              <a:t>When calling a function that returns a value, you can assign the function result to a variable: </a:t>
            </a:r>
          </a:p>
          <a:p>
            <a:pPr marL="0" indent="0" algn="ctr" fontAlgn="auto">
              <a:spcAft>
                <a:spcPts val="0"/>
              </a:spcAft>
              <a:buNone/>
              <a:defRPr/>
            </a:pPr>
            <a:r>
              <a:rPr lang="en-US" sz="3200" dirty="0">
                <a:solidFill>
                  <a:srgbClr val="0070C0"/>
                </a:solidFill>
              </a:rPr>
              <a:t>$a = factorial (5);</a:t>
            </a:r>
          </a:p>
          <a:p>
            <a:pPr fontAlgn="auto">
              <a:spcAft>
                <a:spcPts val="0"/>
              </a:spcAft>
              <a:defRPr/>
            </a:pPr>
            <a:r>
              <a:rPr lang="en-US" sz="3200" dirty="0"/>
              <a:t>or use it as an argument when calling another function:</a:t>
            </a:r>
          </a:p>
          <a:p>
            <a:pPr marL="0" indent="0" algn="ctr" fontAlgn="auto">
              <a:spcAft>
                <a:spcPts val="0"/>
              </a:spcAft>
              <a:buNone/>
              <a:defRPr/>
            </a:pPr>
            <a:r>
              <a:rPr lang="en-US" sz="3200" dirty="0">
                <a:solidFill>
                  <a:srgbClr val="0070C0"/>
                </a:solidFill>
              </a:rPr>
              <a:t>echo (factorial (5));</a:t>
            </a:r>
          </a:p>
        </p:txBody>
      </p:sp>
      <p:sp>
        <p:nvSpPr>
          <p:cNvPr id="4" name="Slide Number Placeholder 3"/>
          <p:cNvSpPr>
            <a:spLocks noGrp="1"/>
          </p:cNvSpPr>
          <p:nvPr>
            <p:ph type="sldNum" idx="12"/>
          </p:nvPr>
        </p:nvSpPr>
        <p:spPr/>
        <p:txBody>
          <a:bodyPr/>
          <a:lstStyle/>
          <a:p>
            <a:pPr>
              <a:defRPr/>
            </a:pPr>
            <a:fld id="{0826631B-767C-471C-94C9-7882A1E965AC}" type="slidenum">
              <a:rPr lang="en-US" smtClean="0"/>
              <a:pPr>
                <a:defRPr/>
              </a:pPr>
              <a:t>30</a:t>
            </a:fld>
            <a:endParaRPr lang="en-US"/>
          </a:p>
        </p:txBody>
      </p:sp>
      <p:sp>
        <p:nvSpPr>
          <p:cNvPr id="6" name="Rectangle 5">
            <a:extLst>
              <a:ext uri="{FF2B5EF4-FFF2-40B4-BE49-F238E27FC236}">
                <a16:creationId xmlns:a16="http://schemas.microsoft.com/office/drawing/2014/main" id="{5A27A90A-20B0-5EFA-1814-9B28EE833493}"/>
              </a:ext>
            </a:extLst>
          </p:cNvPr>
          <p:cNvSpPr/>
          <p:nvPr/>
        </p:nvSpPr>
        <p:spPr>
          <a:xfrm>
            <a:off x="14874" y="-58270"/>
            <a:ext cx="12192000" cy="899347"/>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TextBox 7">
            <a:extLst>
              <a:ext uri="{FF2B5EF4-FFF2-40B4-BE49-F238E27FC236}">
                <a16:creationId xmlns:a16="http://schemas.microsoft.com/office/drawing/2014/main" id="{2D45EDF2-056B-91B5-97DF-824B72CF07CE}"/>
              </a:ext>
            </a:extLst>
          </p:cNvPr>
          <p:cNvSpPr txBox="1"/>
          <p:nvPr/>
        </p:nvSpPr>
        <p:spPr>
          <a:xfrm>
            <a:off x="170268" y="73325"/>
            <a:ext cx="8634923" cy="646331"/>
          </a:xfrm>
          <a:prstGeom prst="rect">
            <a:avLst/>
          </a:prstGeom>
          <a:noFill/>
        </p:spPr>
        <p:txBody>
          <a:bodyPr wrap="square" rtlCol="0">
            <a:spAutoFit/>
          </a:bodyPr>
          <a:lstStyle/>
          <a:p>
            <a:r>
              <a:rPr lang="en-GB" sz="3600" b="1" kern="1200" spc="-5" dirty="0">
                <a:solidFill>
                  <a:srgbClr val="FFC000"/>
                </a:solidFill>
                <a:latin typeface="Calibri" panose="020F0502020204030204"/>
                <a:ea typeface="+mn-ea"/>
                <a:cs typeface="+mn-cs"/>
              </a:rPr>
              <a:t>Returning a Value</a:t>
            </a:r>
            <a:endParaRPr lang="en-US" sz="3600" b="1" kern="1200" spc="-5" dirty="0">
              <a:solidFill>
                <a:srgbClr val="FFC000"/>
              </a:solidFill>
              <a:latin typeface="Calibri" panose="020F0502020204030204"/>
              <a:ea typeface="+mn-ea"/>
              <a:cs typeface="+mn-cs"/>
            </a:endParaRPr>
          </a:p>
        </p:txBody>
      </p:sp>
      <p:pic>
        <p:nvPicPr>
          <p:cNvPr id="10" name="object 3">
            <a:extLst>
              <a:ext uri="{FF2B5EF4-FFF2-40B4-BE49-F238E27FC236}">
                <a16:creationId xmlns:a16="http://schemas.microsoft.com/office/drawing/2014/main" id="{4D7059E2-2C89-B565-4737-E8CCB49F314F}"/>
              </a:ext>
            </a:extLst>
          </p:cNvPr>
          <p:cNvPicPr/>
          <p:nvPr/>
        </p:nvPicPr>
        <p:blipFill>
          <a:blip r:embed="rId2" cstate="print"/>
          <a:stretch>
            <a:fillRect/>
          </a:stretch>
        </p:blipFill>
        <p:spPr>
          <a:xfrm>
            <a:off x="11162570" y="-92324"/>
            <a:ext cx="1029430" cy="1020942"/>
          </a:xfrm>
          <a:prstGeom prst="ellipse">
            <a:avLst/>
          </a:prstGeom>
          <a:ln>
            <a:noFill/>
          </a:ln>
          <a:effectLst>
            <a:softEdge rad="112500"/>
          </a:effectLst>
        </p:spPr>
      </p:pic>
    </p:spTree>
    <p:extLst>
      <p:ext uri="{BB962C8B-B14F-4D97-AF65-F5344CB8AC3E}">
        <p14:creationId xmlns:p14="http://schemas.microsoft.com/office/powerpoint/2010/main" val="2526196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567"/>
            <a:ext cx="11360800" cy="763600"/>
          </a:xfrm>
        </p:spPr>
        <p:txBody>
          <a:bodyPr/>
          <a:lstStyle/>
          <a:p>
            <a:r>
              <a:rPr lang="en-US" dirty="0"/>
              <a:t>Example</a:t>
            </a:r>
          </a:p>
        </p:txBody>
      </p:sp>
      <p:sp>
        <p:nvSpPr>
          <p:cNvPr id="3" name="Content Placeholder 2"/>
          <p:cNvSpPr>
            <a:spLocks noGrp="1"/>
          </p:cNvSpPr>
          <p:nvPr>
            <p:ph type="body" idx="1"/>
          </p:nvPr>
        </p:nvSpPr>
        <p:spPr/>
        <p:txBody>
          <a:bodyPr>
            <a:normAutofit fontScale="77500" lnSpcReduction="20000"/>
          </a:bodyPr>
          <a:lstStyle/>
          <a:p>
            <a:pPr marL="0" indent="0">
              <a:buNone/>
            </a:pPr>
            <a:r>
              <a:rPr lang="en-US" sz="3200" dirty="0">
                <a:solidFill>
                  <a:srgbClr val="0070C0"/>
                </a:solidFill>
              </a:rPr>
              <a:t>function factorial ($a) {</a:t>
            </a:r>
          </a:p>
          <a:p>
            <a:pPr marL="0" indent="0">
              <a:buNone/>
            </a:pPr>
            <a:r>
              <a:rPr lang="en-US" sz="3200" dirty="0">
                <a:solidFill>
                  <a:srgbClr val="0070C0"/>
                </a:solidFill>
              </a:rPr>
              <a:t>	$result = 1;</a:t>
            </a:r>
          </a:p>
          <a:p>
            <a:pPr marL="0" indent="0">
              <a:buNone/>
            </a:pPr>
            <a:r>
              <a:rPr lang="en-US" sz="3200" dirty="0">
                <a:solidFill>
                  <a:srgbClr val="0070C0"/>
                </a:solidFill>
              </a:rPr>
              <a:t>	for ($</a:t>
            </a:r>
            <a:r>
              <a:rPr lang="en-US" sz="3200" dirty="0" err="1">
                <a:solidFill>
                  <a:srgbClr val="0070C0"/>
                </a:solidFill>
              </a:rPr>
              <a:t>i</a:t>
            </a:r>
            <a:r>
              <a:rPr lang="en-US" sz="3200" dirty="0">
                <a:solidFill>
                  <a:srgbClr val="0070C0"/>
                </a:solidFill>
              </a:rPr>
              <a:t> = 1; $</a:t>
            </a:r>
            <a:r>
              <a:rPr lang="en-US" sz="3200" dirty="0" err="1">
                <a:solidFill>
                  <a:srgbClr val="0070C0"/>
                </a:solidFill>
              </a:rPr>
              <a:t>i</a:t>
            </a:r>
            <a:r>
              <a:rPr lang="en-US" sz="3200" dirty="0">
                <a:solidFill>
                  <a:srgbClr val="0070C0"/>
                </a:solidFill>
              </a:rPr>
              <a:t> &lt;= $a; $</a:t>
            </a:r>
            <a:r>
              <a:rPr lang="en-US" sz="3200" dirty="0" err="1">
                <a:solidFill>
                  <a:srgbClr val="0070C0"/>
                </a:solidFill>
              </a:rPr>
              <a:t>i</a:t>
            </a:r>
            <a:r>
              <a:rPr lang="en-US" sz="3200" dirty="0">
                <a:solidFill>
                  <a:srgbClr val="0070C0"/>
                </a:solidFill>
              </a:rPr>
              <a:t>++)</a:t>
            </a:r>
          </a:p>
          <a:p>
            <a:pPr marL="0" indent="0">
              <a:buNone/>
            </a:pPr>
            <a:r>
              <a:rPr lang="en-US" sz="3200" dirty="0">
                <a:solidFill>
                  <a:srgbClr val="0070C0"/>
                </a:solidFill>
              </a:rPr>
              <a:t>		$result *= $</a:t>
            </a:r>
            <a:r>
              <a:rPr lang="en-US" sz="3200" dirty="0" err="1">
                <a:solidFill>
                  <a:srgbClr val="0070C0"/>
                </a:solidFill>
              </a:rPr>
              <a:t>i</a:t>
            </a:r>
            <a:r>
              <a:rPr lang="en-US" sz="3200" dirty="0">
                <a:solidFill>
                  <a:srgbClr val="0070C0"/>
                </a:solidFill>
              </a:rPr>
              <a:t>;</a:t>
            </a:r>
          </a:p>
          <a:p>
            <a:pPr marL="0" indent="0">
              <a:buNone/>
            </a:pPr>
            <a:r>
              <a:rPr lang="en-US" sz="3200" dirty="0">
                <a:solidFill>
                  <a:srgbClr val="0070C0"/>
                </a:solidFill>
              </a:rPr>
              <a:t>	return ("&lt;</a:t>
            </a:r>
            <a:r>
              <a:rPr lang="en-US" sz="3200" dirty="0" err="1">
                <a:solidFill>
                  <a:srgbClr val="0070C0"/>
                </a:solidFill>
              </a:rPr>
              <a:t>br</a:t>
            </a:r>
            <a:r>
              <a:rPr lang="en-US" sz="3200" dirty="0">
                <a:solidFill>
                  <a:srgbClr val="0070C0"/>
                </a:solidFill>
              </a:rPr>
              <a:t>&gt;Factorial of $a is : $result");</a:t>
            </a:r>
          </a:p>
          <a:p>
            <a:pPr marL="0" indent="0">
              <a:buNone/>
            </a:pPr>
            <a:r>
              <a:rPr lang="en-US" sz="3200" dirty="0">
                <a:solidFill>
                  <a:srgbClr val="0070C0"/>
                </a:solidFill>
              </a:rPr>
              <a:t>}</a:t>
            </a:r>
          </a:p>
          <a:p>
            <a:pPr marL="0" indent="0">
              <a:buNone/>
            </a:pPr>
            <a:r>
              <a:rPr lang="en-US" sz="3200" dirty="0">
                <a:solidFill>
                  <a:srgbClr val="0070C0"/>
                </a:solidFill>
              </a:rPr>
              <a:t>echo (factorial (5));</a:t>
            </a:r>
          </a:p>
          <a:p>
            <a:pPr marL="0" indent="0">
              <a:buNone/>
            </a:pPr>
            <a:endParaRPr lang="en-US" sz="2400" dirty="0">
              <a:solidFill>
                <a:srgbClr val="0070C0"/>
              </a:solidFill>
            </a:endParaRPr>
          </a:p>
          <a:p>
            <a:pPr marL="0" indent="0">
              <a:buNone/>
            </a:pPr>
            <a:r>
              <a:rPr lang="en-US" sz="4000" dirty="0"/>
              <a:t>Note: The </a:t>
            </a:r>
            <a:r>
              <a:rPr lang="en-US" sz="4000" dirty="0">
                <a:solidFill>
                  <a:srgbClr val="0070C0"/>
                </a:solidFill>
              </a:rPr>
              <a:t>return</a:t>
            </a:r>
            <a:r>
              <a:rPr lang="en-US" sz="4000" dirty="0"/>
              <a:t> statement terminates the code execution at that point, so </a:t>
            </a:r>
            <a:r>
              <a:rPr lang="en-US" sz="4000" dirty="0">
                <a:solidFill>
                  <a:srgbClr val="0070C0"/>
                </a:solidFill>
              </a:rPr>
              <a:t>any code within a function after an executed return will never run</a:t>
            </a:r>
            <a:r>
              <a:rPr lang="en-US" sz="4000" dirty="0"/>
              <a:t>.</a:t>
            </a:r>
          </a:p>
        </p:txBody>
      </p:sp>
      <p:sp>
        <p:nvSpPr>
          <p:cNvPr id="4" name="Slide Number Placeholder 3"/>
          <p:cNvSpPr>
            <a:spLocks noGrp="1"/>
          </p:cNvSpPr>
          <p:nvPr>
            <p:ph type="sldNum" idx="12"/>
          </p:nvPr>
        </p:nvSpPr>
        <p:spPr/>
        <p:txBody>
          <a:bodyPr/>
          <a:lstStyle/>
          <a:p>
            <a:pPr>
              <a:defRPr/>
            </a:pPr>
            <a:fld id="{0826631B-767C-471C-94C9-7882A1E965AC}" type="slidenum">
              <a:rPr lang="en-US" smtClean="0"/>
              <a:pPr>
                <a:defRPr/>
              </a:pPr>
              <a:t>31</a:t>
            </a:fld>
            <a:endParaRPr lang="en-US"/>
          </a:p>
        </p:txBody>
      </p:sp>
    </p:spTree>
    <p:extLst>
      <p:ext uri="{BB962C8B-B14F-4D97-AF65-F5344CB8AC3E}">
        <p14:creationId xmlns:p14="http://schemas.microsoft.com/office/powerpoint/2010/main" val="86525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wipe(down)">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wipe(down)">
                                      <p:cBhvr>
                                        <p:cTn id="34"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Returning an Array</a:t>
            </a:r>
          </a:p>
        </p:txBody>
      </p:sp>
      <p:sp>
        <p:nvSpPr>
          <p:cNvPr id="3" name="Content Placeholder 2"/>
          <p:cNvSpPr>
            <a:spLocks noGrp="1"/>
          </p:cNvSpPr>
          <p:nvPr>
            <p:ph type="body" idx="1"/>
          </p:nvPr>
        </p:nvSpPr>
        <p:spPr>
          <a:xfrm>
            <a:off x="415600" y="2302800"/>
            <a:ext cx="11360800" cy="4218316"/>
          </a:xfrm>
        </p:spPr>
        <p:txBody>
          <a:bodyPr>
            <a:normAutofit lnSpcReduction="10000"/>
          </a:bodyPr>
          <a:lstStyle/>
          <a:p>
            <a:pPr marL="0" indent="0">
              <a:lnSpc>
                <a:spcPct val="125000"/>
              </a:lnSpc>
              <a:buNone/>
            </a:pPr>
            <a:r>
              <a:rPr lang="en-US" sz="2400" dirty="0">
                <a:solidFill>
                  <a:srgbClr val="0070C0"/>
                </a:solidFill>
              </a:rPr>
              <a:t>$array1 = array (9, 2, 7, 5, 1, 6, 3, 8, 4);</a:t>
            </a:r>
          </a:p>
          <a:p>
            <a:pPr marL="0" indent="0">
              <a:lnSpc>
                <a:spcPct val="125000"/>
              </a:lnSpc>
              <a:buNone/>
            </a:pPr>
            <a:r>
              <a:rPr lang="en-US" sz="2400" dirty="0">
                <a:solidFill>
                  <a:srgbClr val="0070C0"/>
                </a:solidFill>
              </a:rPr>
              <a:t>function </a:t>
            </a:r>
            <a:r>
              <a:rPr lang="en-US" sz="2400" dirty="0" err="1">
                <a:solidFill>
                  <a:srgbClr val="0070C0"/>
                </a:solidFill>
              </a:rPr>
              <a:t>passingArray</a:t>
            </a:r>
            <a:r>
              <a:rPr lang="en-US" sz="2400" dirty="0">
                <a:solidFill>
                  <a:srgbClr val="0070C0"/>
                </a:solidFill>
              </a:rPr>
              <a:t> ($</a:t>
            </a:r>
            <a:r>
              <a:rPr lang="en-US" sz="2400" dirty="0" err="1">
                <a:solidFill>
                  <a:srgbClr val="0070C0"/>
                </a:solidFill>
              </a:rPr>
              <a:t>arr</a:t>
            </a:r>
            <a:r>
              <a:rPr lang="en-US" sz="2400" dirty="0">
                <a:solidFill>
                  <a:srgbClr val="0070C0"/>
                </a:solidFill>
              </a:rPr>
              <a:t>) {</a:t>
            </a:r>
          </a:p>
          <a:p>
            <a:pPr marL="0" indent="0">
              <a:lnSpc>
                <a:spcPct val="125000"/>
              </a:lnSpc>
              <a:buNone/>
            </a:pPr>
            <a:r>
              <a:rPr lang="en-US" sz="2400" dirty="0">
                <a:solidFill>
                  <a:srgbClr val="0070C0"/>
                </a:solidFill>
              </a:rPr>
              <a:t>    echo ("&lt;</a:t>
            </a:r>
            <a:r>
              <a:rPr lang="en-US" sz="2400" dirty="0" err="1">
                <a:solidFill>
                  <a:srgbClr val="0070C0"/>
                </a:solidFill>
              </a:rPr>
              <a:t>br</a:t>
            </a:r>
            <a:r>
              <a:rPr lang="en-US" sz="2400" dirty="0">
                <a:solidFill>
                  <a:srgbClr val="0070C0"/>
                </a:solidFill>
              </a:rPr>
              <a:t>&gt;Passed array elements are: ");</a:t>
            </a:r>
          </a:p>
          <a:p>
            <a:pPr marL="0" indent="0">
              <a:lnSpc>
                <a:spcPct val="125000"/>
              </a:lnSpc>
              <a:buNone/>
            </a:pPr>
            <a:r>
              <a:rPr lang="en-US" sz="2400" dirty="0">
                <a:solidFill>
                  <a:srgbClr val="0070C0"/>
                </a:solidFill>
              </a:rPr>
              <a:t>    for ($</a:t>
            </a:r>
            <a:r>
              <a:rPr lang="en-US" sz="2400" dirty="0" err="1">
                <a:solidFill>
                  <a:srgbClr val="0070C0"/>
                </a:solidFill>
              </a:rPr>
              <a:t>i</a:t>
            </a:r>
            <a:r>
              <a:rPr lang="en-US" sz="2400" dirty="0">
                <a:solidFill>
                  <a:srgbClr val="0070C0"/>
                </a:solidFill>
              </a:rPr>
              <a:t> = 0; $</a:t>
            </a:r>
            <a:r>
              <a:rPr lang="en-US" sz="2400" dirty="0" err="1">
                <a:solidFill>
                  <a:srgbClr val="0070C0"/>
                </a:solidFill>
              </a:rPr>
              <a:t>i</a:t>
            </a:r>
            <a:r>
              <a:rPr lang="en-US" sz="2400" dirty="0">
                <a:solidFill>
                  <a:srgbClr val="0070C0"/>
                </a:solidFill>
              </a:rPr>
              <a:t> &lt; count($</a:t>
            </a:r>
            <a:r>
              <a:rPr lang="en-US" sz="2400" dirty="0" err="1">
                <a:solidFill>
                  <a:srgbClr val="0070C0"/>
                </a:solidFill>
              </a:rPr>
              <a:t>arr</a:t>
            </a:r>
            <a:r>
              <a:rPr lang="en-US" sz="2400" dirty="0">
                <a:solidFill>
                  <a:srgbClr val="0070C0"/>
                </a:solidFill>
              </a:rPr>
              <a:t>); $</a:t>
            </a:r>
            <a:r>
              <a:rPr lang="en-US" sz="2400" dirty="0" err="1">
                <a:solidFill>
                  <a:srgbClr val="0070C0"/>
                </a:solidFill>
              </a:rPr>
              <a:t>i</a:t>
            </a:r>
            <a:r>
              <a:rPr lang="en-US" sz="2400" dirty="0">
                <a:solidFill>
                  <a:srgbClr val="0070C0"/>
                </a:solidFill>
              </a:rPr>
              <a:t>++) {</a:t>
            </a:r>
          </a:p>
          <a:p>
            <a:pPr marL="0" indent="0">
              <a:lnSpc>
                <a:spcPct val="125000"/>
              </a:lnSpc>
              <a:buNone/>
            </a:pPr>
            <a:r>
              <a:rPr lang="en-US" sz="2400" dirty="0">
                <a:solidFill>
                  <a:srgbClr val="0070C0"/>
                </a:solidFill>
              </a:rPr>
              <a:t>        echo ($</a:t>
            </a:r>
            <a:r>
              <a:rPr lang="en-US" sz="2400" dirty="0" err="1">
                <a:solidFill>
                  <a:srgbClr val="0070C0"/>
                </a:solidFill>
              </a:rPr>
              <a:t>arr</a:t>
            </a:r>
            <a:r>
              <a:rPr lang="en-US" sz="2400" dirty="0">
                <a:solidFill>
                  <a:srgbClr val="0070C0"/>
                </a:solidFill>
              </a:rPr>
              <a:t>[$</a:t>
            </a:r>
            <a:r>
              <a:rPr lang="en-US" sz="2400" dirty="0" err="1">
                <a:solidFill>
                  <a:srgbClr val="0070C0"/>
                </a:solidFill>
              </a:rPr>
              <a:t>i</a:t>
            </a:r>
            <a:r>
              <a:rPr lang="en-US" sz="2400" dirty="0">
                <a:solidFill>
                  <a:srgbClr val="0070C0"/>
                </a:solidFill>
              </a:rPr>
              <a:t>]. ", ");</a:t>
            </a:r>
          </a:p>
          <a:p>
            <a:pPr marL="0" indent="0">
              <a:lnSpc>
                <a:spcPct val="125000"/>
              </a:lnSpc>
              <a:buNone/>
            </a:pPr>
            <a:r>
              <a:rPr lang="en-US" sz="2400" dirty="0">
                <a:solidFill>
                  <a:srgbClr val="0070C0"/>
                </a:solidFill>
              </a:rPr>
              <a:t>        $</a:t>
            </a:r>
            <a:r>
              <a:rPr lang="en-US" sz="2400" dirty="0" err="1">
                <a:solidFill>
                  <a:srgbClr val="0070C0"/>
                </a:solidFill>
              </a:rPr>
              <a:t>arr</a:t>
            </a:r>
            <a:r>
              <a:rPr lang="en-US" sz="2400" dirty="0">
                <a:solidFill>
                  <a:srgbClr val="0070C0"/>
                </a:solidFill>
              </a:rPr>
              <a:t>[$</a:t>
            </a:r>
            <a:r>
              <a:rPr lang="en-US" sz="2400" dirty="0" err="1">
                <a:solidFill>
                  <a:srgbClr val="0070C0"/>
                </a:solidFill>
              </a:rPr>
              <a:t>i</a:t>
            </a:r>
            <a:r>
              <a:rPr lang="en-US" sz="2400" dirty="0">
                <a:solidFill>
                  <a:srgbClr val="0070C0"/>
                </a:solidFill>
              </a:rPr>
              <a:t>]++;</a:t>
            </a:r>
          </a:p>
          <a:p>
            <a:pPr marL="0" indent="0">
              <a:lnSpc>
                <a:spcPct val="125000"/>
              </a:lnSpc>
              <a:buNone/>
            </a:pPr>
            <a:r>
              <a:rPr lang="en-US" sz="2400" dirty="0">
                <a:solidFill>
                  <a:srgbClr val="0070C0"/>
                </a:solidFill>
              </a:rPr>
              <a:t>    }</a:t>
            </a:r>
          </a:p>
          <a:p>
            <a:pPr marL="0" indent="0">
              <a:lnSpc>
                <a:spcPct val="125000"/>
              </a:lnSpc>
              <a:buNone/>
            </a:pPr>
            <a:r>
              <a:rPr lang="en-US" sz="2400" dirty="0">
                <a:solidFill>
                  <a:srgbClr val="0070C0"/>
                </a:solidFill>
              </a:rPr>
              <a:t>    return $</a:t>
            </a:r>
            <a:r>
              <a:rPr lang="en-US" sz="2400" dirty="0" err="1">
                <a:solidFill>
                  <a:srgbClr val="0070C0"/>
                </a:solidFill>
              </a:rPr>
              <a:t>arr</a:t>
            </a:r>
            <a:r>
              <a:rPr lang="en-US" sz="2400" dirty="0">
                <a:solidFill>
                  <a:srgbClr val="0070C0"/>
                </a:solidFill>
              </a:rPr>
              <a:t>;</a:t>
            </a:r>
          </a:p>
          <a:p>
            <a:pPr marL="0" indent="0">
              <a:lnSpc>
                <a:spcPct val="125000"/>
              </a:lnSpc>
              <a:buNone/>
            </a:pPr>
            <a:r>
              <a:rPr lang="en-US" sz="2400" dirty="0">
                <a:solidFill>
                  <a:srgbClr val="0070C0"/>
                </a:solidFill>
              </a:rPr>
              <a:t>}</a:t>
            </a:r>
          </a:p>
        </p:txBody>
      </p:sp>
      <p:sp>
        <p:nvSpPr>
          <p:cNvPr id="4" name="Slide Number Placeholder 3"/>
          <p:cNvSpPr>
            <a:spLocks noGrp="1"/>
          </p:cNvSpPr>
          <p:nvPr>
            <p:ph type="sldNum" idx="12"/>
          </p:nvPr>
        </p:nvSpPr>
        <p:spPr/>
        <p:txBody>
          <a:bodyPr/>
          <a:lstStyle/>
          <a:p>
            <a:pPr>
              <a:defRPr/>
            </a:pPr>
            <a:fld id="{0826631B-767C-471C-94C9-7882A1E965AC}" type="slidenum">
              <a:rPr lang="en-US" smtClean="0"/>
              <a:pPr>
                <a:defRPr/>
              </a:pPr>
              <a:t>32</a:t>
            </a:fld>
            <a:endParaRPr lang="en-US"/>
          </a:p>
        </p:txBody>
      </p:sp>
      <p:sp>
        <p:nvSpPr>
          <p:cNvPr id="5" name="Content Placeholder 2">
            <a:extLst>
              <a:ext uri="{FF2B5EF4-FFF2-40B4-BE49-F238E27FC236}">
                <a16:creationId xmlns:a16="http://schemas.microsoft.com/office/drawing/2014/main" id="{2D31BFB7-7DEF-BD4E-964E-1FC5C57246A9}"/>
              </a:ext>
            </a:extLst>
          </p:cNvPr>
          <p:cNvSpPr txBox="1">
            <a:spLocks/>
          </p:cNvSpPr>
          <p:nvPr/>
        </p:nvSpPr>
        <p:spPr bwMode="auto">
          <a:xfrm>
            <a:off x="6793387" y="2207930"/>
            <a:ext cx="4869024" cy="4104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buFont typeface="Arial" panose="020B0604020202020204" pitchFamily="34" charset="0"/>
              <a:buNone/>
            </a:pPr>
            <a:r>
              <a:rPr lang="en-US" sz="2400" dirty="0">
                <a:solidFill>
                  <a:srgbClr val="0070C0"/>
                </a:solidFill>
              </a:rPr>
              <a:t>$b = </a:t>
            </a:r>
            <a:r>
              <a:rPr lang="en-US" sz="2400" dirty="0" err="1">
                <a:solidFill>
                  <a:srgbClr val="0070C0"/>
                </a:solidFill>
              </a:rPr>
              <a:t>passingArray</a:t>
            </a:r>
            <a:r>
              <a:rPr lang="en-US" sz="2400" dirty="0">
                <a:solidFill>
                  <a:srgbClr val="0070C0"/>
                </a:solidFill>
              </a:rPr>
              <a:t>($array1);</a:t>
            </a:r>
          </a:p>
          <a:p>
            <a:pPr marL="0" indent="0" eaLnBrk="1" hangingPunct="1">
              <a:buFont typeface="Arial" panose="020B0604020202020204" pitchFamily="34" charset="0"/>
              <a:buNone/>
            </a:pPr>
            <a:r>
              <a:rPr lang="en-US" sz="2400" dirty="0">
                <a:solidFill>
                  <a:srgbClr val="0070C0"/>
                </a:solidFill>
              </a:rPr>
              <a:t>echo ("&lt;</a:t>
            </a:r>
            <a:r>
              <a:rPr lang="en-US" sz="2400" dirty="0" err="1">
                <a:solidFill>
                  <a:srgbClr val="0070C0"/>
                </a:solidFill>
              </a:rPr>
              <a:t>br</a:t>
            </a:r>
            <a:r>
              <a:rPr lang="en-US" sz="2400" dirty="0">
                <a:solidFill>
                  <a:srgbClr val="0070C0"/>
                </a:solidFill>
              </a:rPr>
              <a:t>&gt;Returned array elements are: ");</a:t>
            </a:r>
          </a:p>
          <a:p>
            <a:pPr marL="0" indent="0" eaLnBrk="1" hangingPunct="1">
              <a:buFont typeface="Arial" panose="020B0604020202020204" pitchFamily="34" charset="0"/>
              <a:buNone/>
            </a:pPr>
            <a:r>
              <a:rPr lang="en-US" sz="2400" dirty="0">
                <a:solidFill>
                  <a:srgbClr val="0070C0"/>
                </a:solidFill>
              </a:rPr>
              <a:t>foreach ($b as $v)</a:t>
            </a:r>
          </a:p>
          <a:p>
            <a:pPr marL="0" indent="0" eaLnBrk="1" hangingPunct="1">
              <a:buFont typeface="Arial" panose="020B0604020202020204" pitchFamily="34" charset="0"/>
              <a:buNone/>
            </a:pPr>
            <a:r>
              <a:rPr lang="en-US" sz="2400" dirty="0">
                <a:solidFill>
                  <a:srgbClr val="0070C0"/>
                </a:solidFill>
              </a:rPr>
              <a:t>            echo ("$v, ");</a:t>
            </a:r>
          </a:p>
          <a:p>
            <a:pPr marL="0" indent="0" eaLnBrk="1" hangingPunct="1">
              <a:buFont typeface="Arial" panose="020B0604020202020204" pitchFamily="34" charset="0"/>
              <a:buNone/>
            </a:pPr>
            <a:r>
              <a:rPr lang="en-US" sz="2400" b="1" dirty="0">
                <a:solidFill>
                  <a:srgbClr val="0070C0"/>
                </a:solidFill>
              </a:rPr>
              <a:t>Output of the program:</a:t>
            </a:r>
          </a:p>
          <a:p>
            <a:pPr marL="0" indent="0" eaLnBrk="1" hangingPunct="1">
              <a:buFont typeface="Arial" panose="020B0604020202020204" pitchFamily="34" charset="0"/>
              <a:buNone/>
            </a:pPr>
            <a:r>
              <a:rPr lang="en-US" sz="2400" dirty="0">
                <a:solidFill>
                  <a:srgbClr val="C00000"/>
                </a:solidFill>
              </a:rPr>
              <a:t>Passed array elements are: 9, 2, 7, 5, 1, 6, 3, 8, 4, </a:t>
            </a:r>
          </a:p>
          <a:p>
            <a:pPr marL="0" indent="0" eaLnBrk="1" hangingPunct="1">
              <a:buFont typeface="Arial" panose="020B0604020202020204" pitchFamily="34" charset="0"/>
              <a:buNone/>
            </a:pPr>
            <a:r>
              <a:rPr lang="en-US" sz="2400" dirty="0">
                <a:solidFill>
                  <a:srgbClr val="C00000"/>
                </a:solidFill>
              </a:rPr>
              <a:t>Returned array elements are: 10, 3, 8, 6, 2, 7, 4, 9, 5, </a:t>
            </a:r>
          </a:p>
        </p:txBody>
      </p:sp>
      <p:sp>
        <p:nvSpPr>
          <p:cNvPr id="6" name="Content Placeholder 2">
            <a:extLst>
              <a:ext uri="{FF2B5EF4-FFF2-40B4-BE49-F238E27FC236}">
                <a16:creationId xmlns:a16="http://schemas.microsoft.com/office/drawing/2014/main" id="{9E53A56D-E4AB-8569-AE6B-73340088DF7A}"/>
              </a:ext>
            </a:extLst>
          </p:cNvPr>
          <p:cNvSpPr txBox="1">
            <a:spLocks/>
          </p:cNvSpPr>
          <p:nvPr/>
        </p:nvSpPr>
        <p:spPr bwMode="auto">
          <a:xfrm>
            <a:off x="415600" y="1356967"/>
            <a:ext cx="10515600" cy="96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buFont typeface="Arial" panose="020B0604020202020204" pitchFamily="34" charset="0"/>
              <a:buNone/>
            </a:pPr>
            <a:r>
              <a:rPr lang="en-US" sz="3200" dirty="0"/>
              <a:t>Returning an array from a function is a way of getting multiple values from a function.</a:t>
            </a:r>
          </a:p>
        </p:txBody>
      </p:sp>
    </p:spTree>
    <p:extLst>
      <p:ext uri="{BB962C8B-B14F-4D97-AF65-F5344CB8AC3E}">
        <p14:creationId xmlns:p14="http://schemas.microsoft.com/office/powerpoint/2010/main" val="422252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5">
                                            <p:txEl>
                                              <p:pRg st="0" end="0"/>
                                            </p:txEl>
                                          </p:spTgt>
                                        </p:tgtEl>
                                        <p:attrNameLst>
                                          <p:attrName>style.visibility</p:attrName>
                                        </p:attrNameLst>
                                      </p:cBhvr>
                                      <p:to>
                                        <p:strVal val="visible"/>
                                      </p:to>
                                    </p:set>
                                    <p:animEffect transition="in" filter="fade">
                                      <p:cBhvr>
                                        <p:cTn id="43" dur="500"/>
                                        <p:tgtEl>
                                          <p:spTgt spid="5">
                                            <p:txEl>
                                              <p:pRg st="0" end="0"/>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5">
                                            <p:txEl>
                                              <p:pRg st="1" end="1"/>
                                            </p:txEl>
                                          </p:spTgt>
                                        </p:tgtEl>
                                        <p:attrNameLst>
                                          <p:attrName>style.visibility</p:attrName>
                                        </p:attrNameLst>
                                      </p:cBhvr>
                                      <p:to>
                                        <p:strVal val="visible"/>
                                      </p:to>
                                    </p:set>
                                    <p:animEffect transition="in" filter="fade">
                                      <p:cBhvr>
                                        <p:cTn id="46" dur="500"/>
                                        <p:tgtEl>
                                          <p:spTgt spid="5">
                                            <p:txEl>
                                              <p:pRg st="1" end="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5">
                                            <p:txEl>
                                              <p:pRg st="4" end="4"/>
                                            </p:txEl>
                                          </p:spTgt>
                                        </p:tgtEl>
                                        <p:attrNameLst>
                                          <p:attrName>style.visibility</p:attrName>
                                        </p:attrNameLst>
                                      </p:cBhvr>
                                      <p:to>
                                        <p:strVal val="visible"/>
                                      </p:to>
                                    </p:set>
                                    <p:animEffect transition="in" filter="fade">
                                      <p:cBhvr>
                                        <p:cTn id="51" dur="500"/>
                                        <p:tgtEl>
                                          <p:spTgt spid="5">
                                            <p:txEl>
                                              <p:pRg st="4" end="4"/>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5">
                                            <p:txEl>
                                              <p:pRg st="5" end="5"/>
                                            </p:txEl>
                                          </p:spTgt>
                                        </p:tgtEl>
                                        <p:attrNameLst>
                                          <p:attrName>style.visibility</p:attrName>
                                        </p:attrNameLst>
                                      </p:cBhvr>
                                      <p:to>
                                        <p:strVal val="visible"/>
                                      </p:to>
                                    </p:set>
                                    <p:animEffect transition="in" filter="fade">
                                      <p:cBhvr>
                                        <p:cTn id="54" dur="500"/>
                                        <p:tgtEl>
                                          <p:spTgt spid="5">
                                            <p:txEl>
                                              <p:pRg st="5" end="5"/>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5">
                                            <p:txEl>
                                              <p:pRg st="2" end="2"/>
                                            </p:txEl>
                                          </p:spTgt>
                                        </p:tgtEl>
                                        <p:attrNameLst>
                                          <p:attrName>style.visibility</p:attrName>
                                        </p:attrNameLst>
                                      </p:cBhvr>
                                      <p:to>
                                        <p:strVal val="visible"/>
                                      </p:to>
                                    </p:set>
                                    <p:animEffect transition="in" filter="fade">
                                      <p:cBhvr>
                                        <p:cTn id="59" dur="500"/>
                                        <p:tgtEl>
                                          <p:spTgt spid="5">
                                            <p:txEl>
                                              <p:pRg st="2" end="2"/>
                                            </p:txEl>
                                          </p:spTgt>
                                        </p:tgtEl>
                                      </p:cBhvr>
                                    </p:animEffect>
                                  </p:childTnLst>
                                </p:cTn>
                              </p:par>
                              <p:par>
                                <p:cTn id="60" presetID="10" presetClass="entr" presetSubtype="0" fill="hold" nodeType="withEffect">
                                  <p:stCondLst>
                                    <p:cond delay="0"/>
                                  </p:stCondLst>
                                  <p:childTnLst>
                                    <p:set>
                                      <p:cBhvr>
                                        <p:cTn id="61" dur="1" fill="hold">
                                          <p:stCondLst>
                                            <p:cond delay="0"/>
                                          </p:stCondLst>
                                        </p:cTn>
                                        <p:tgtEl>
                                          <p:spTgt spid="5">
                                            <p:txEl>
                                              <p:pRg st="3" end="3"/>
                                            </p:txEl>
                                          </p:spTgt>
                                        </p:tgtEl>
                                        <p:attrNameLst>
                                          <p:attrName>style.visibility</p:attrName>
                                        </p:attrNameLst>
                                      </p:cBhvr>
                                      <p:to>
                                        <p:strVal val="visible"/>
                                      </p:to>
                                    </p:set>
                                    <p:animEffect transition="in" filter="fade">
                                      <p:cBhvr>
                                        <p:cTn id="62" dur="500"/>
                                        <p:tgtEl>
                                          <p:spTgt spid="5">
                                            <p:txEl>
                                              <p:pRg st="3" end="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5">
                                            <p:txEl>
                                              <p:pRg st="6" end="6"/>
                                            </p:txEl>
                                          </p:spTgt>
                                        </p:tgtEl>
                                        <p:attrNameLst>
                                          <p:attrName>style.visibility</p:attrName>
                                        </p:attrNameLst>
                                      </p:cBhvr>
                                      <p:to>
                                        <p:strVal val="visible"/>
                                      </p:to>
                                    </p:set>
                                    <p:animEffect transition="in" filter="fade">
                                      <p:cBhvr>
                                        <p:cTn id="67"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Passing By Value</a:t>
            </a:r>
            <a:endParaRPr lang="en-US" dirty="0"/>
          </a:p>
        </p:txBody>
      </p:sp>
      <p:sp>
        <p:nvSpPr>
          <p:cNvPr id="3" name="Content Placeholder 2"/>
          <p:cNvSpPr>
            <a:spLocks noGrp="1"/>
          </p:cNvSpPr>
          <p:nvPr>
            <p:ph type="body" idx="1"/>
          </p:nvPr>
        </p:nvSpPr>
        <p:spPr/>
        <p:txBody>
          <a:bodyPr/>
          <a:lstStyle/>
          <a:p>
            <a:r>
              <a:rPr lang="en-US" altLang="en-US" sz="3200" dirty="0"/>
              <a:t>Passing arguments by value is </a:t>
            </a:r>
            <a:r>
              <a:rPr lang="en-US" altLang="en-US" sz="3200" dirty="0">
                <a:solidFill>
                  <a:srgbClr val="0070C0"/>
                </a:solidFill>
              </a:rPr>
              <a:t>passing a copy of the argument, not the original value</a:t>
            </a:r>
            <a:r>
              <a:rPr lang="en-US" altLang="en-US" sz="3200" dirty="0"/>
              <a:t>. This method is the one we have already used in the previous examples.</a:t>
            </a:r>
          </a:p>
          <a:p>
            <a:r>
              <a:rPr lang="en-US" altLang="en-US" sz="3200" dirty="0"/>
              <a:t>No matter how we alter the value within the function, the value we have passed to it will remain the same.</a:t>
            </a:r>
          </a:p>
          <a:p>
            <a:r>
              <a:rPr lang="en-US" altLang="en-US" sz="3200" dirty="0"/>
              <a:t>This is the default process that you will use when passing variables to functions.</a:t>
            </a:r>
          </a:p>
        </p:txBody>
      </p:sp>
      <p:sp>
        <p:nvSpPr>
          <p:cNvPr id="4" name="Slide Number Placeholder 3"/>
          <p:cNvSpPr>
            <a:spLocks noGrp="1"/>
          </p:cNvSpPr>
          <p:nvPr>
            <p:ph type="sldNum" idx="12"/>
          </p:nvPr>
        </p:nvSpPr>
        <p:spPr/>
        <p:txBody>
          <a:bodyPr/>
          <a:lstStyle/>
          <a:p>
            <a:pPr>
              <a:defRPr/>
            </a:pPr>
            <a:fld id="{0826631B-767C-471C-94C9-7882A1E965AC}" type="slidenum">
              <a:rPr lang="en-US" smtClean="0"/>
              <a:pPr>
                <a:defRPr/>
              </a:pPr>
              <a:t>33</a:t>
            </a:fld>
            <a:endParaRPr lang="en-US"/>
          </a:p>
        </p:txBody>
      </p:sp>
    </p:spTree>
    <p:extLst>
      <p:ext uri="{BB962C8B-B14F-4D97-AF65-F5344CB8AC3E}">
        <p14:creationId xmlns:p14="http://schemas.microsoft.com/office/powerpoint/2010/main" val="322514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Passing By Reference</a:t>
            </a:r>
            <a:endParaRPr lang="en-US" dirty="0"/>
          </a:p>
        </p:txBody>
      </p:sp>
      <p:sp>
        <p:nvSpPr>
          <p:cNvPr id="3" name="Content Placeholder 2"/>
          <p:cNvSpPr>
            <a:spLocks noGrp="1"/>
          </p:cNvSpPr>
          <p:nvPr>
            <p:ph type="body" idx="1"/>
          </p:nvPr>
        </p:nvSpPr>
        <p:spPr/>
        <p:txBody>
          <a:bodyPr>
            <a:normAutofit lnSpcReduction="10000"/>
          </a:bodyPr>
          <a:lstStyle/>
          <a:p>
            <a:r>
              <a:rPr lang="en-US" altLang="en-US" sz="3200" dirty="0">
                <a:solidFill>
                  <a:srgbClr val="0070C0"/>
                </a:solidFill>
              </a:rPr>
              <a:t>Involves the passed value being changed inside the function.</a:t>
            </a:r>
          </a:p>
          <a:p>
            <a:r>
              <a:rPr lang="en-US" altLang="en-US" sz="3200" dirty="0"/>
              <a:t>To indicate to PHP that you wish to use this method, you add </a:t>
            </a:r>
            <a:r>
              <a:rPr lang="en-US" altLang="en-US" sz="3200" dirty="0">
                <a:solidFill>
                  <a:srgbClr val="0070C0"/>
                </a:solidFill>
              </a:rPr>
              <a:t>an ampersand (&amp;) </a:t>
            </a:r>
            <a:r>
              <a:rPr lang="en-US" altLang="en-US" sz="3200" dirty="0"/>
              <a:t>to the front of the variable you are passing to </a:t>
            </a:r>
            <a:r>
              <a:rPr lang="en-US" altLang="en-US" sz="3200"/>
              <a:t>(parameter).</a:t>
            </a:r>
            <a:endParaRPr lang="en-US" altLang="en-US" sz="3200" dirty="0"/>
          </a:p>
          <a:p>
            <a:r>
              <a:rPr lang="en-US" sz="3200" b="1" dirty="0">
                <a:solidFill>
                  <a:schemeClr val="accent5">
                    <a:lumMod val="75000"/>
                  </a:schemeClr>
                </a:solidFill>
              </a:rPr>
              <a:t>Note</a:t>
            </a:r>
            <a:r>
              <a:rPr lang="en-US" sz="3200" dirty="0"/>
              <a:t> that passing values by reference could be a security risk, and also a cause of tricky-to-track bugs. So, it is recommended not to use in PHP 5.4 and later versions.</a:t>
            </a:r>
          </a:p>
          <a:p>
            <a:endParaRPr lang="en-US" altLang="en-US" sz="3200" dirty="0"/>
          </a:p>
          <a:p>
            <a:endParaRPr lang="en-US" sz="3200" dirty="0"/>
          </a:p>
        </p:txBody>
      </p:sp>
      <p:sp>
        <p:nvSpPr>
          <p:cNvPr id="4" name="Slide Number Placeholder 3"/>
          <p:cNvSpPr>
            <a:spLocks noGrp="1"/>
          </p:cNvSpPr>
          <p:nvPr>
            <p:ph type="sldNum" idx="12"/>
          </p:nvPr>
        </p:nvSpPr>
        <p:spPr/>
        <p:txBody>
          <a:bodyPr/>
          <a:lstStyle/>
          <a:p>
            <a:pPr>
              <a:defRPr/>
            </a:pPr>
            <a:fld id="{0826631B-767C-471C-94C9-7882A1E965AC}" type="slidenum">
              <a:rPr lang="en-US" smtClean="0"/>
              <a:pPr>
                <a:defRPr/>
              </a:pPr>
              <a:t>34</a:t>
            </a:fld>
            <a:endParaRPr lang="en-US"/>
          </a:p>
        </p:txBody>
      </p:sp>
    </p:spTree>
    <p:extLst>
      <p:ext uri="{BB962C8B-B14F-4D97-AF65-F5344CB8AC3E}">
        <p14:creationId xmlns:p14="http://schemas.microsoft.com/office/powerpoint/2010/main" val="4188356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By reference example</a:t>
            </a:r>
          </a:p>
        </p:txBody>
      </p:sp>
      <p:sp>
        <p:nvSpPr>
          <p:cNvPr id="3" name="Content Placeholder 2"/>
          <p:cNvSpPr>
            <a:spLocks noGrp="1"/>
          </p:cNvSpPr>
          <p:nvPr>
            <p:ph type="body" idx="1"/>
          </p:nvPr>
        </p:nvSpPr>
        <p:spPr>
          <a:ln>
            <a:noFill/>
          </a:ln>
        </p:spPr>
        <p:txBody>
          <a:bodyPr>
            <a:noAutofit/>
          </a:bodyPr>
          <a:lstStyle/>
          <a:p>
            <a:pPr marL="0" indent="0">
              <a:buNone/>
            </a:pPr>
            <a:r>
              <a:rPr lang="en-US" sz="2800" dirty="0">
                <a:solidFill>
                  <a:srgbClr val="0070C0"/>
                </a:solidFill>
              </a:rPr>
              <a:t>$a = 5;</a:t>
            </a:r>
          </a:p>
          <a:p>
            <a:pPr marL="0" indent="0">
              <a:buNone/>
            </a:pPr>
            <a:r>
              <a:rPr lang="en-US" sz="2800" dirty="0">
                <a:solidFill>
                  <a:srgbClr val="0070C0"/>
                </a:solidFill>
              </a:rPr>
              <a:t>function factorial (</a:t>
            </a:r>
            <a:r>
              <a:rPr lang="en-US" sz="2800" dirty="0">
                <a:solidFill>
                  <a:srgbClr val="C00000"/>
                </a:solidFill>
              </a:rPr>
              <a:t>&amp;</a:t>
            </a:r>
            <a:r>
              <a:rPr lang="en-US" sz="2800" dirty="0">
                <a:solidFill>
                  <a:srgbClr val="0070C0"/>
                </a:solidFill>
              </a:rPr>
              <a:t>$x){</a:t>
            </a:r>
          </a:p>
          <a:p>
            <a:pPr marL="0" indent="0">
              <a:buNone/>
            </a:pPr>
            <a:r>
              <a:rPr lang="en-US" sz="2800" dirty="0">
                <a:solidFill>
                  <a:srgbClr val="0070C0"/>
                </a:solidFill>
              </a:rPr>
              <a:t>    echo ("&lt;</a:t>
            </a:r>
            <a:r>
              <a:rPr lang="en-US" sz="2800" dirty="0" err="1">
                <a:solidFill>
                  <a:srgbClr val="0070C0"/>
                </a:solidFill>
              </a:rPr>
              <a:t>br</a:t>
            </a:r>
            <a:r>
              <a:rPr lang="en-US" sz="2800" dirty="0">
                <a:solidFill>
                  <a:srgbClr val="0070C0"/>
                </a:solidFill>
              </a:rPr>
              <a:t>&gt;Factorial of $x = ");</a:t>
            </a:r>
          </a:p>
          <a:p>
            <a:pPr marL="0" indent="0">
              <a:buNone/>
            </a:pPr>
            <a:r>
              <a:rPr lang="en-US" sz="2800" dirty="0">
                <a:solidFill>
                  <a:srgbClr val="0070C0"/>
                </a:solidFill>
              </a:rPr>
              <a:t>    $result = 1;</a:t>
            </a:r>
          </a:p>
          <a:p>
            <a:pPr marL="0" indent="0">
              <a:buNone/>
            </a:pPr>
            <a:r>
              <a:rPr lang="en-US" sz="2800" dirty="0">
                <a:solidFill>
                  <a:srgbClr val="0070C0"/>
                </a:solidFill>
              </a:rPr>
              <a:t>    for ($</a:t>
            </a:r>
            <a:r>
              <a:rPr lang="en-US" sz="2800" dirty="0" err="1">
                <a:solidFill>
                  <a:srgbClr val="0070C0"/>
                </a:solidFill>
              </a:rPr>
              <a:t>i</a:t>
            </a:r>
            <a:r>
              <a:rPr lang="en-US" sz="2800" dirty="0">
                <a:solidFill>
                  <a:srgbClr val="0070C0"/>
                </a:solidFill>
              </a:rPr>
              <a:t> = 2; $</a:t>
            </a:r>
            <a:r>
              <a:rPr lang="en-US" sz="2800" dirty="0" err="1">
                <a:solidFill>
                  <a:srgbClr val="0070C0"/>
                </a:solidFill>
              </a:rPr>
              <a:t>i</a:t>
            </a:r>
            <a:r>
              <a:rPr lang="en-US" sz="2800" dirty="0">
                <a:solidFill>
                  <a:srgbClr val="0070C0"/>
                </a:solidFill>
              </a:rPr>
              <a:t> &lt;= $x; $</a:t>
            </a:r>
            <a:r>
              <a:rPr lang="en-US" sz="2800" dirty="0" err="1">
                <a:solidFill>
                  <a:srgbClr val="0070C0"/>
                </a:solidFill>
              </a:rPr>
              <a:t>i</a:t>
            </a:r>
            <a:r>
              <a:rPr lang="en-US" sz="2800" dirty="0">
                <a:solidFill>
                  <a:srgbClr val="0070C0"/>
                </a:solidFill>
              </a:rPr>
              <a:t>++)</a:t>
            </a:r>
          </a:p>
          <a:p>
            <a:pPr marL="0" indent="0">
              <a:buNone/>
            </a:pPr>
            <a:r>
              <a:rPr lang="en-US" sz="2800" dirty="0">
                <a:solidFill>
                  <a:srgbClr val="0070C0"/>
                </a:solidFill>
              </a:rPr>
              <a:t>        $result = $result * $</a:t>
            </a:r>
            <a:r>
              <a:rPr lang="en-US" sz="2800" dirty="0" err="1">
                <a:solidFill>
                  <a:srgbClr val="0070C0"/>
                </a:solidFill>
              </a:rPr>
              <a:t>i</a:t>
            </a:r>
            <a:r>
              <a:rPr lang="en-US" sz="2800" dirty="0">
                <a:solidFill>
                  <a:srgbClr val="0070C0"/>
                </a:solidFill>
              </a:rPr>
              <a:t>;</a:t>
            </a:r>
          </a:p>
          <a:p>
            <a:pPr marL="0" indent="0">
              <a:buNone/>
            </a:pPr>
            <a:r>
              <a:rPr lang="en-US" sz="2800" dirty="0">
                <a:solidFill>
                  <a:srgbClr val="0070C0"/>
                </a:solidFill>
              </a:rPr>
              <a:t>    $x++;</a:t>
            </a:r>
          </a:p>
          <a:p>
            <a:pPr marL="0" indent="0">
              <a:buNone/>
            </a:pPr>
            <a:r>
              <a:rPr lang="en-US" sz="2800" dirty="0">
                <a:solidFill>
                  <a:srgbClr val="0070C0"/>
                </a:solidFill>
              </a:rPr>
              <a:t>    echo ($result);</a:t>
            </a:r>
          </a:p>
          <a:p>
            <a:pPr marL="0" indent="0">
              <a:buNone/>
            </a:pPr>
            <a:r>
              <a:rPr lang="en-US" sz="2800" dirty="0">
                <a:solidFill>
                  <a:srgbClr val="0070C0"/>
                </a:solidFill>
              </a:rPr>
              <a:t>}</a:t>
            </a:r>
          </a:p>
        </p:txBody>
      </p:sp>
      <p:sp>
        <p:nvSpPr>
          <p:cNvPr id="4" name="Slide Number Placeholder 3"/>
          <p:cNvSpPr>
            <a:spLocks noGrp="1"/>
          </p:cNvSpPr>
          <p:nvPr>
            <p:ph type="sldNum" idx="12"/>
          </p:nvPr>
        </p:nvSpPr>
        <p:spPr/>
        <p:txBody>
          <a:bodyPr/>
          <a:lstStyle/>
          <a:p>
            <a:pPr>
              <a:defRPr/>
            </a:pPr>
            <a:fld id="{0826631B-767C-471C-94C9-7882A1E965AC}" type="slidenum">
              <a:rPr lang="en-US" smtClean="0"/>
              <a:pPr>
                <a:defRPr/>
              </a:pPr>
              <a:t>35</a:t>
            </a:fld>
            <a:endParaRPr lang="en-US"/>
          </a:p>
        </p:txBody>
      </p:sp>
      <p:sp>
        <p:nvSpPr>
          <p:cNvPr id="5" name="Content Placeholder 2"/>
          <p:cNvSpPr txBox="1">
            <a:spLocks/>
          </p:cNvSpPr>
          <p:nvPr/>
        </p:nvSpPr>
        <p:spPr bwMode="auto">
          <a:xfrm>
            <a:off x="7227572" y="1536633"/>
            <a:ext cx="4434839" cy="505355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buFont typeface="Arial" panose="020B0604020202020204" pitchFamily="34" charset="0"/>
              <a:buNone/>
            </a:pPr>
            <a:r>
              <a:rPr lang="en-US" b="1" dirty="0">
                <a:solidFill>
                  <a:srgbClr val="00B050"/>
                </a:solidFill>
              </a:rPr>
              <a:t>//Function calling:</a:t>
            </a:r>
          </a:p>
          <a:p>
            <a:pPr marL="0" indent="0" eaLnBrk="1" hangingPunct="1">
              <a:buFont typeface="Arial" panose="020B0604020202020204" pitchFamily="34" charset="0"/>
              <a:buNone/>
            </a:pPr>
            <a:r>
              <a:rPr lang="en-US" dirty="0">
                <a:solidFill>
                  <a:srgbClr val="0070C0"/>
                </a:solidFill>
              </a:rPr>
              <a:t>factorial($a);</a:t>
            </a:r>
          </a:p>
          <a:p>
            <a:pPr marL="0" indent="0" eaLnBrk="1" hangingPunct="1">
              <a:buFont typeface="Arial" panose="020B0604020202020204" pitchFamily="34" charset="0"/>
              <a:buNone/>
            </a:pPr>
            <a:r>
              <a:rPr lang="en-US" dirty="0">
                <a:solidFill>
                  <a:srgbClr val="0070C0"/>
                </a:solidFill>
              </a:rPr>
              <a:t>echo ("&lt;</a:t>
            </a:r>
            <a:r>
              <a:rPr lang="en-US" dirty="0" err="1">
                <a:solidFill>
                  <a:srgbClr val="0070C0"/>
                </a:solidFill>
              </a:rPr>
              <a:t>br</a:t>
            </a:r>
            <a:r>
              <a:rPr lang="en-US" dirty="0">
                <a:solidFill>
                  <a:srgbClr val="0070C0"/>
                </a:solidFill>
              </a:rPr>
              <a:t>&gt;Value of a = $a");</a:t>
            </a:r>
          </a:p>
          <a:p>
            <a:pPr marL="0" indent="0" eaLnBrk="1" hangingPunct="1">
              <a:buFont typeface="Arial" panose="020B0604020202020204" pitchFamily="34" charset="0"/>
              <a:buNone/>
            </a:pPr>
            <a:endParaRPr lang="en-US" dirty="0"/>
          </a:p>
          <a:p>
            <a:pPr marL="0" indent="0" eaLnBrk="1" hangingPunct="1">
              <a:buNone/>
            </a:pPr>
            <a:r>
              <a:rPr lang="en-US" b="1" dirty="0">
                <a:solidFill>
                  <a:srgbClr val="0070C0"/>
                </a:solidFill>
              </a:rPr>
              <a:t>The output:</a:t>
            </a:r>
            <a:br>
              <a:rPr lang="en-US" dirty="0"/>
            </a:br>
            <a:r>
              <a:rPr lang="en-US" dirty="0">
                <a:solidFill>
                  <a:srgbClr val="C00000"/>
                </a:solidFill>
              </a:rPr>
              <a:t>Factorial of 5 = 120</a:t>
            </a:r>
          </a:p>
          <a:p>
            <a:pPr marL="0" indent="0" eaLnBrk="1" hangingPunct="1">
              <a:buNone/>
            </a:pPr>
            <a:r>
              <a:rPr lang="en-US" dirty="0">
                <a:solidFill>
                  <a:srgbClr val="C00000"/>
                </a:solidFill>
              </a:rPr>
              <a:t>Value of a = 6</a:t>
            </a:r>
          </a:p>
        </p:txBody>
      </p:sp>
    </p:spTree>
    <p:extLst>
      <p:ext uri="{BB962C8B-B14F-4D97-AF65-F5344CB8AC3E}">
        <p14:creationId xmlns:p14="http://schemas.microsoft.com/office/powerpoint/2010/main" val="3145913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animEffect transition="in" filter="fade">
                                      <p:cBhvr>
                                        <p:cTn id="13" dur="500"/>
                                        <p:tgtEl>
                                          <p:spTgt spid="3">
                                            <p:txEl>
                                              <p:pRg st="8" end="8"/>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fade">
                                      <p:cBhvr>
                                        <p:cTn id="33" dur="500"/>
                                        <p:tgtEl>
                                          <p:spTgt spid="3">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5">
                                            <p:txEl>
                                              <p:pRg st="0" end="0"/>
                                            </p:txEl>
                                          </p:spTgt>
                                        </p:tgtEl>
                                        <p:attrNameLst>
                                          <p:attrName>style.visibility</p:attrName>
                                        </p:attrNameLst>
                                      </p:cBhvr>
                                      <p:to>
                                        <p:strVal val="visible"/>
                                      </p:to>
                                    </p:set>
                                    <p:animEffect transition="in" filter="fade">
                                      <p:cBhvr>
                                        <p:cTn id="38" dur="500"/>
                                        <p:tgtEl>
                                          <p:spTgt spid="5">
                                            <p:txEl>
                                              <p:pRg st="0" end="0"/>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5">
                                            <p:txEl>
                                              <p:pRg st="1" end="1"/>
                                            </p:txEl>
                                          </p:spTgt>
                                        </p:tgtEl>
                                        <p:attrNameLst>
                                          <p:attrName>style.visibility</p:attrName>
                                        </p:attrNameLst>
                                      </p:cBhvr>
                                      <p:to>
                                        <p:strVal val="visible"/>
                                      </p:to>
                                    </p:set>
                                    <p:animEffect transition="in" filter="fade">
                                      <p:cBhvr>
                                        <p:cTn id="41" dur="500"/>
                                        <p:tgtEl>
                                          <p:spTgt spid="5">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5">
                                            <p:txEl>
                                              <p:pRg st="4" end="4"/>
                                            </p:txEl>
                                          </p:spTgt>
                                        </p:tgtEl>
                                        <p:attrNameLst>
                                          <p:attrName>style.visibility</p:attrName>
                                        </p:attrNameLst>
                                      </p:cBhvr>
                                      <p:to>
                                        <p:strVal val="visible"/>
                                      </p:to>
                                    </p:set>
                                    <p:animEffect transition="in" filter="fade">
                                      <p:cBhvr>
                                        <p:cTn id="46" dur="500"/>
                                        <p:tgtEl>
                                          <p:spTgt spid="5">
                                            <p:txEl>
                                              <p:pRg st="4" end="4"/>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5">
                                            <p:txEl>
                                              <p:pRg st="2" end="2"/>
                                            </p:txEl>
                                          </p:spTgt>
                                        </p:tgtEl>
                                        <p:attrNameLst>
                                          <p:attrName>style.visibility</p:attrName>
                                        </p:attrNameLst>
                                      </p:cBhvr>
                                      <p:to>
                                        <p:strVal val="visible"/>
                                      </p:to>
                                    </p:set>
                                    <p:animEffect transition="in" filter="fade">
                                      <p:cBhvr>
                                        <p:cTn id="51" dur="500"/>
                                        <p:tgtEl>
                                          <p:spTgt spid="5">
                                            <p:txEl>
                                              <p:pRg st="2" end="2"/>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5">
                                            <p:txEl>
                                              <p:pRg st="5" end="5"/>
                                            </p:txEl>
                                          </p:spTgt>
                                        </p:tgtEl>
                                        <p:attrNameLst>
                                          <p:attrName>style.visibility</p:attrName>
                                        </p:attrNameLst>
                                      </p:cBhvr>
                                      <p:to>
                                        <p:strVal val="visible"/>
                                      </p:to>
                                    </p:set>
                                    <p:animEffect transition="in" filter="fade">
                                      <p:cBhvr>
                                        <p:cTn id="56"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Default Argument Value</a:t>
            </a:r>
            <a:endParaRPr lang="en-US" dirty="0"/>
          </a:p>
        </p:txBody>
      </p:sp>
      <p:sp>
        <p:nvSpPr>
          <p:cNvPr id="3" name="Content Placeholder 2"/>
          <p:cNvSpPr>
            <a:spLocks noGrp="1"/>
          </p:cNvSpPr>
          <p:nvPr>
            <p:ph type="body" idx="1"/>
          </p:nvPr>
        </p:nvSpPr>
        <p:spPr/>
        <p:txBody>
          <a:bodyPr/>
          <a:lstStyle/>
          <a:p>
            <a:r>
              <a:rPr lang="en-US" altLang="en-US" sz="3200" dirty="0"/>
              <a:t>You can set default argument to a function, just supply the default value in the parameter. </a:t>
            </a:r>
          </a:p>
          <a:p>
            <a:r>
              <a:rPr lang="en-US" altLang="en-US" sz="3200" dirty="0"/>
              <a:t>For example: </a:t>
            </a:r>
            <a:r>
              <a:rPr lang="en-US" altLang="en-US" sz="3200" dirty="0">
                <a:solidFill>
                  <a:srgbClr val="0070C0"/>
                </a:solidFill>
              </a:rPr>
              <a:t>function factorial ($a = 5)</a:t>
            </a:r>
          </a:p>
          <a:p>
            <a:r>
              <a:rPr lang="en-US" altLang="en-US" sz="3200" dirty="0"/>
              <a:t>When you call the function, you omit the argument like </a:t>
            </a:r>
            <a:r>
              <a:rPr lang="en-US" altLang="en-US" sz="3200" dirty="0">
                <a:solidFill>
                  <a:srgbClr val="0070C0"/>
                </a:solidFill>
              </a:rPr>
              <a:t>factorial ( ); </a:t>
            </a:r>
            <a:r>
              <a:rPr lang="en-US" altLang="en-US" sz="3200" dirty="0"/>
              <a:t>and it will take the default argument 5.</a:t>
            </a:r>
          </a:p>
          <a:p>
            <a:endParaRPr lang="en-US" sz="3200" dirty="0"/>
          </a:p>
        </p:txBody>
      </p:sp>
      <p:sp>
        <p:nvSpPr>
          <p:cNvPr id="4" name="Slide Number Placeholder 3"/>
          <p:cNvSpPr>
            <a:spLocks noGrp="1"/>
          </p:cNvSpPr>
          <p:nvPr>
            <p:ph type="sldNum" idx="12"/>
          </p:nvPr>
        </p:nvSpPr>
        <p:spPr/>
        <p:txBody>
          <a:bodyPr/>
          <a:lstStyle/>
          <a:p>
            <a:pPr>
              <a:defRPr/>
            </a:pPr>
            <a:fld id="{0826631B-767C-471C-94C9-7882A1E965AC}" type="slidenum">
              <a:rPr lang="en-US" smtClean="0"/>
              <a:pPr>
                <a:defRPr/>
              </a:pPr>
              <a:t>36</a:t>
            </a:fld>
            <a:endParaRPr lang="en-US"/>
          </a:p>
        </p:txBody>
      </p:sp>
    </p:spTree>
    <p:extLst>
      <p:ext uri="{BB962C8B-B14F-4D97-AF65-F5344CB8AC3E}">
        <p14:creationId xmlns:p14="http://schemas.microsoft.com/office/powerpoint/2010/main" val="3094968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Scope of Variables</a:t>
            </a:r>
          </a:p>
        </p:txBody>
      </p:sp>
      <p:sp>
        <p:nvSpPr>
          <p:cNvPr id="3" name="Content Placeholder 2"/>
          <p:cNvSpPr>
            <a:spLocks noGrp="1"/>
          </p:cNvSpPr>
          <p:nvPr>
            <p:ph type="body" idx="1"/>
          </p:nvPr>
        </p:nvSpPr>
        <p:spPr/>
        <p:txBody>
          <a:bodyPr>
            <a:normAutofit fontScale="92500" lnSpcReduction="10000"/>
          </a:bodyPr>
          <a:lstStyle/>
          <a:p>
            <a:r>
              <a:rPr lang="en-US" altLang="en-US" sz="3200" dirty="0"/>
              <a:t>The scope of a variable is the part of the script where the variable can be referenced/used.</a:t>
            </a:r>
          </a:p>
          <a:p>
            <a:r>
              <a:rPr lang="en-US" altLang="en-US" sz="3200" dirty="0"/>
              <a:t>A variable declared within a function has a LOCAL SCOPE and can only be accessed within that function.</a:t>
            </a:r>
          </a:p>
          <a:p>
            <a:r>
              <a:rPr lang="en-US" altLang="en-US" sz="3200" dirty="0"/>
              <a:t>A variable declared outside a function has a GLOBAL SCOPE and can only be accessed outside a function.</a:t>
            </a:r>
          </a:p>
          <a:p>
            <a:r>
              <a:rPr lang="en-US" altLang="en-US" sz="3200" dirty="0"/>
              <a:t>You can have local variables with the same name in different functions, because local variables are only recognized by the function in which they are declared.</a:t>
            </a:r>
          </a:p>
        </p:txBody>
      </p:sp>
      <p:sp>
        <p:nvSpPr>
          <p:cNvPr id="4" name="Slide Number Placeholder 3"/>
          <p:cNvSpPr>
            <a:spLocks noGrp="1"/>
          </p:cNvSpPr>
          <p:nvPr>
            <p:ph type="sldNum" idx="12"/>
          </p:nvPr>
        </p:nvSpPr>
        <p:spPr/>
        <p:txBody>
          <a:bodyPr/>
          <a:lstStyle/>
          <a:p>
            <a:pPr>
              <a:defRPr/>
            </a:pPr>
            <a:fld id="{0826631B-767C-471C-94C9-7882A1E965AC}" type="slidenum">
              <a:rPr lang="en-US" smtClean="0"/>
              <a:pPr>
                <a:defRPr/>
              </a:pPr>
              <a:t>37</a:t>
            </a:fld>
            <a:endParaRPr lang="en-US"/>
          </a:p>
        </p:txBody>
      </p:sp>
    </p:spTree>
    <p:extLst>
      <p:ext uri="{BB962C8B-B14F-4D97-AF65-F5344CB8AC3E}">
        <p14:creationId xmlns:p14="http://schemas.microsoft.com/office/powerpoint/2010/main" val="11851204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Global and Local Variables (</a:t>
            </a:r>
            <a:r>
              <a:rPr lang="en-US" dirty="0" err="1"/>
              <a:t>cont</a:t>
            </a:r>
            <a:r>
              <a:rPr lang="en-US" dirty="0"/>
              <a:t>…)</a:t>
            </a:r>
          </a:p>
        </p:txBody>
      </p:sp>
      <p:sp>
        <p:nvSpPr>
          <p:cNvPr id="3" name="Content Placeholder 2"/>
          <p:cNvSpPr>
            <a:spLocks noGrp="1"/>
          </p:cNvSpPr>
          <p:nvPr>
            <p:ph type="body" idx="1"/>
          </p:nvPr>
        </p:nvSpPr>
        <p:spPr/>
        <p:txBody>
          <a:bodyPr>
            <a:normAutofit lnSpcReduction="10000"/>
          </a:bodyPr>
          <a:lstStyle/>
          <a:p>
            <a:r>
              <a:rPr lang="en-US" altLang="en-US" sz="3200" dirty="0">
                <a:solidFill>
                  <a:srgbClr val="0070C0"/>
                </a:solidFill>
              </a:rPr>
              <a:t>The lifetime of a variable is the span from the moment a variable is created to the moment it ceases to exist.</a:t>
            </a:r>
            <a:endParaRPr lang="en-US" altLang="en-US" sz="3200" dirty="0"/>
          </a:p>
          <a:p>
            <a:r>
              <a:rPr lang="en-US" altLang="en-US" sz="3200" dirty="0"/>
              <a:t>What happens if we have a local variable inside the function with the same name as a global variable outside the function? </a:t>
            </a:r>
          </a:p>
          <a:p>
            <a:r>
              <a:rPr lang="en-US" altLang="en-US" sz="3200" dirty="0"/>
              <a:t>We must have some way of identifying global variables inside the function. The </a:t>
            </a:r>
            <a:r>
              <a:rPr lang="en-US" altLang="en-US" sz="3200" dirty="0">
                <a:solidFill>
                  <a:srgbClr val="0070C0"/>
                </a:solidFill>
              </a:rPr>
              <a:t>global</a:t>
            </a:r>
            <a:r>
              <a:rPr lang="en-US" altLang="en-US" sz="3200" dirty="0"/>
              <a:t> keyword is used to access a global variable from within a function.</a:t>
            </a:r>
          </a:p>
        </p:txBody>
      </p:sp>
      <p:sp>
        <p:nvSpPr>
          <p:cNvPr id="4" name="Slide Number Placeholder 3"/>
          <p:cNvSpPr>
            <a:spLocks noGrp="1"/>
          </p:cNvSpPr>
          <p:nvPr>
            <p:ph type="sldNum" idx="12"/>
          </p:nvPr>
        </p:nvSpPr>
        <p:spPr/>
        <p:txBody>
          <a:bodyPr/>
          <a:lstStyle/>
          <a:p>
            <a:pPr>
              <a:defRPr/>
            </a:pPr>
            <a:fld id="{0826631B-767C-471C-94C9-7882A1E965AC}" type="slidenum">
              <a:rPr lang="en-US" smtClean="0"/>
              <a:pPr>
                <a:defRPr/>
              </a:pPr>
              <a:t>38</a:t>
            </a:fld>
            <a:endParaRPr lang="en-US"/>
          </a:p>
        </p:txBody>
      </p:sp>
    </p:spTree>
    <p:extLst>
      <p:ext uri="{BB962C8B-B14F-4D97-AF65-F5344CB8AC3E}">
        <p14:creationId xmlns:p14="http://schemas.microsoft.com/office/powerpoint/2010/main" val="29787217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global or GLOBALS</a:t>
            </a:r>
          </a:p>
        </p:txBody>
      </p:sp>
      <p:sp>
        <p:nvSpPr>
          <p:cNvPr id="3" name="Content Placeholder 2"/>
          <p:cNvSpPr>
            <a:spLocks noGrp="1"/>
          </p:cNvSpPr>
          <p:nvPr>
            <p:ph type="body" idx="1"/>
          </p:nvPr>
        </p:nvSpPr>
        <p:spPr/>
        <p:txBody>
          <a:bodyPr>
            <a:normAutofit fontScale="92500" lnSpcReduction="20000"/>
          </a:bodyPr>
          <a:lstStyle/>
          <a:p>
            <a:pPr fontAlgn="auto">
              <a:spcAft>
                <a:spcPts val="0"/>
              </a:spcAft>
              <a:defRPr/>
            </a:pPr>
            <a:r>
              <a:rPr lang="en-US" sz="3200" dirty="0"/>
              <a:t>For example:</a:t>
            </a:r>
          </a:p>
          <a:p>
            <a:pPr marL="0" indent="0" fontAlgn="auto">
              <a:spcAft>
                <a:spcPts val="0"/>
              </a:spcAft>
              <a:buFont typeface="Wingdings 3" panose="05040102010807070707" pitchFamily="18" charset="2"/>
              <a:buNone/>
              <a:defRPr/>
            </a:pPr>
            <a:r>
              <a:rPr lang="en-US" sz="3200" dirty="0"/>
              <a:t>	</a:t>
            </a:r>
            <a:r>
              <a:rPr lang="en-US" sz="3200" dirty="0">
                <a:solidFill>
                  <a:srgbClr val="0070C0"/>
                </a:solidFill>
              </a:rPr>
              <a:t>global $a;</a:t>
            </a:r>
          </a:p>
          <a:p>
            <a:pPr marL="0" indent="0" fontAlgn="auto">
              <a:spcAft>
                <a:spcPts val="0"/>
              </a:spcAft>
              <a:buFont typeface="Wingdings 3" panose="05040102010807070707" pitchFamily="18" charset="2"/>
              <a:buNone/>
              <a:defRPr/>
            </a:pPr>
            <a:r>
              <a:rPr lang="en-US" sz="3200" dirty="0">
                <a:solidFill>
                  <a:srgbClr val="C00000"/>
                </a:solidFill>
              </a:rPr>
              <a:t>	</a:t>
            </a:r>
            <a:r>
              <a:rPr lang="en-US" sz="3200" dirty="0">
                <a:solidFill>
                  <a:srgbClr val="0070C0"/>
                </a:solidFill>
              </a:rPr>
              <a:t>echo $a; 	</a:t>
            </a:r>
            <a:r>
              <a:rPr lang="en-US" sz="3200" dirty="0">
                <a:solidFill>
                  <a:srgbClr val="00B050"/>
                </a:solidFill>
              </a:rPr>
              <a:t>// Prints value of global variable</a:t>
            </a:r>
          </a:p>
          <a:p>
            <a:r>
              <a:rPr lang="en-US" altLang="en-US" sz="3200" dirty="0"/>
              <a:t>PHP also stores all global variables in an array called $GLOBALS[index]. The index holds the name of the variable. This array is also accessible from within functions and can be used to update global variables directly. </a:t>
            </a:r>
            <a:endParaRPr lang="en-US" altLang="en-US" sz="3200" dirty="0">
              <a:solidFill>
                <a:srgbClr val="C00000"/>
              </a:solidFill>
            </a:endParaRPr>
          </a:p>
          <a:p>
            <a:pPr marL="0" indent="0">
              <a:buFont typeface="Wingdings 3" panose="05040102010807070707" pitchFamily="18" charset="2"/>
              <a:buNone/>
            </a:pPr>
            <a:r>
              <a:rPr lang="en-US" altLang="en-US" sz="3200" dirty="0">
                <a:solidFill>
                  <a:srgbClr val="C00000"/>
                </a:solidFill>
              </a:rPr>
              <a:t>	</a:t>
            </a:r>
            <a:r>
              <a:rPr lang="en-US" altLang="en-US" sz="3200" dirty="0">
                <a:solidFill>
                  <a:srgbClr val="0070C0"/>
                </a:solidFill>
              </a:rPr>
              <a:t>echo $GLOBALS["a"]; </a:t>
            </a:r>
            <a:r>
              <a:rPr lang="en-US" sz="3200" dirty="0">
                <a:solidFill>
                  <a:srgbClr val="00B050"/>
                </a:solidFill>
              </a:rPr>
              <a:t>// Prints value of global variable</a:t>
            </a:r>
            <a:endParaRPr lang="en-US" altLang="en-US" sz="3200" dirty="0">
              <a:solidFill>
                <a:srgbClr val="0070C0"/>
              </a:solidFill>
            </a:endParaRPr>
          </a:p>
          <a:p>
            <a:pPr marL="0" indent="0">
              <a:buNone/>
            </a:pPr>
            <a:r>
              <a:rPr lang="en-US" altLang="en-US" sz="3200" dirty="0"/>
              <a:t>The </a:t>
            </a:r>
            <a:r>
              <a:rPr lang="en-US" altLang="en-US" sz="3200" b="1" i="1" dirty="0">
                <a:solidFill>
                  <a:srgbClr val="0070C0"/>
                </a:solidFill>
              </a:rPr>
              <a:t>global</a:t>
            </a:r>
            <a:r>
              <a:rPr lang="en-US" altLang="en-US" sz="3200" dirty="0">
                <a:solidFill>
                  <a:srgbClr val="0070C0"/>
                </a:solidFill>
              </a:rPr>
              <a:t> </a:t>
            </a:r>
            <a:r>
              <a:rPr lang="en-US" altLang="en-US" sz="3200" dirty="0"/>
              <a:t>keyword is very simple to understand, but the $GLOBALS array is slightly less so. </a:t>
            </a:r>
          </a:p>
        </p:txBody>
      </p:sp>
      <p:sp>
        <p:nvSpPr>
          <p:cNvPr id="4" name="Slide Number Placeholder 3"/>
          <p:cNvSpPr>
            <a:spLocks noGrp="1"/>
          </p:cNvSpPr>
          <p:nvPr>
            <p:ph type="sldNum" idx="12"/>
          </p:nvPr>
        </p:nvSpPr>
        <p:spPr/>
        <p:txBody>
          <a:bodyPr/>
          <a:lstStyle/>
          <a:p>
            <a:pPr>
              <a:defRPr/>
            </a:pPr>
            <a:fld id="{0826631B-767C-471C-94C9-7882A1E965AC}" type="slidenum">
              <a:rPr lang="en-US" smtClean="0"/>
              <a:pPr>
                <a:defRPr/>
              </a:pPr>
              <a:t>39</a:t>
            </a:fld>
            <a:endParaRPr lang="en-US"/>
          </a:p>
        </p:txBody>
      </p:sp>
    </p:spTree>
    <p:extLst>
      <p:ext uri="{BB962C8B-B14F-4D97-AF65-F5344CB8AC3E}">
        <p14:creationId xmlns:p14="http://schemas.microsoft.com/office/powerpoint/2010/main" val="2195028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C62AF-43B7-4DAF-A474-51995A010A3D}"/>
              </a:ext>
            </a:extLst>
          </p:cNvPr>
          <p:cNvSpPr>
            <a:spLocks noGrp="1"/>
          </p:cNvSpPr>
          <p:nvPr>
            <p:ph type="title"/>
          </p:nvPr>
        </p:nvSpPr>
        <p:spPr/>
        <p:txBody>
          <a:bodyPr/>
          <a:lstStyle/>
          <a:p>
            <a:r>
              <a:rPr lang="en-GB" dirty="0"/>
              <a:t>Variable Scope</a:t>
            </a:r>
            <a:r>
              <a:rPr lang="en-PK" dirty="0"/>
              <a:t> - </a:t>
            </a:r>
            <a:r>
              <a:rPr lang="en-GB" dirty="0" err="1"/>
              <a:t>Superglobal</a:t>
            </a:r>
            <a:r>
              <a:rPr lang="en-GB" dirty="0"/>
              <a:t> variables</a:t>
            </a:r>
            <a:endParaRPr lang="en-PK" dirty="0"/>
          </a:p>
        </p:txBody>
      </p:sp>
      <p:sp>
        <p:nvSpPr>
          <p:cNvPr id="3" name="Content Placeholder 2">
            <a:extLst>
              <a:ext uri="{FF2B5EF4-FFF2-40B4-BE49-F238E27FC236}">
                <a16:creationId xmlns:a16="http://schemas.microsoft.com/office/drawing/2014/main" id="{A398ED3F-D67D-4C1F-9846-281B4E176851}"/>
              </a:ext>
            </a:extLst>
          </p:cNvPr>
          <p:cNvSpPr>
            <a:spLocks noGrp="1"/>
          </p:cNvSpPr>
          <p:nvPr>
            <p:ph type="body" idx="1"/>
          </p:nvPr>
        </p:nvSpPr>
        <p:spPr/>
        <p:txBody>
          <a:bodyPr>
            <a:normAutofit/>
          </a:bodyPr>
          <a:lstStyle/>
          <a:p>
            <a:r>
              <a:rPr lang="en-GB" sz="2800" dirty="0"/>
              <a:t>Several predefined variables provided by the PHP environment. </a:t>
            </a:r>
          </a:p>
          <a:p>
            <a:r>
              <a:rPr lang="en-GB" sz="2800" dirty="0"/>
              <a:t>Global within the program, accessible absolutely everywhere.</a:t>
            </a:r>
          </a:p>
          <a:p>
            <a:r>
              <a:rPr lang="en-GB" sz="2800" dirty="0"/>
              <a:t>Contain lots of useful information about the currently running program and its environment.</a:t>
            </a:r>
          </a:p>
          <a:p>
            <a:pPr marL="152396" indent="0">
              <a:buNone/>
            </a:pPr>
            <a:r>
              <a:rPr lang="en-GB" sz="2800" b="1" dirty="0">
                <a:solidFill>
                  <a:srgbClr val="0070C0"/>
                </a:solidFill>
              </a:rPr>
              <a:t>    </a:t>
            </a:r>
            <a:r>
              <a:rPr lang="en-GB" sz="3000" b="1" dirty="0">
                <a:solidFill>
                  <a:srgbClr val="0070C0"/>
                </a:solidFill>
              </a:rPr>
              <a:t>$_GET</a:t>
            </a:r>
            <a:r>
              <a:rPr lang="en-PK" sz="3000" b="1" dirty="0">
                <a:solidFill>
                  <a:srgbClr val="0070C0"/>
                </a:solidFill>
              </a:rPr>
              <a:t>   </a:t>
            </a:r>
            <a:r>
              <a:rPr lang="en-GB" sz="3000" b="1" dirty="0">
                <a:solidFill>
                  <a:srgbClr val="0070C0"/>
                </a:solidFill>
              </a:rPr>
              <a:t>$_</a:t>
            </a:r>
            <a:r>
              <a:rPr lang="en-PK" sz="3000" b="1" dirty="0">
                <a:solidFill>
                  <a:srgbClr val="0070C0"/>
                </a:solidFill>
              </a:rPr>
              <a:t>S</a:t>
            </a:r>
            <a:r>
              <a:rPr lang="en-GB" sz="3000" b="1" dirty="0">
                <a:solidFill>
                  <a:srgbClr val="0070C0"/>
                </a:solidFill>
              </a:rPr>
              <a:t>E</a:t>
            </a:r>
            <a:r>
              <a:rPr lang="en-PK" sz="3000" b="1" dirty="0">
                <a:solidFill>
                  <a:srgbClr val="0070C0"/>
                </a:solidFill>
              </a:rPr>
              <a:t>SSION   </a:t>
            </a:r>
            <a:r>
              <a:rPr lang="en-GB" sz="3000" b="1" dirty="0">
                <a:solidFill>
                  <a:srgbClr val="0070C0"/>
                </a:solidFill>
              </a:rPr>
              <a:t>$_</a:t>
            </a:r>
            <a:r>
              <a:rPr lang="en-PK" sz="3000" b="1" dirty="0">
                <a:solidFill>
                  <a:srgbClr val="0070C0"/>
                </a:solidFill>
              </a:rPr>
              <a:t>F</a:t>
            </a:r>
            <a:r>
              <a:rPr lang="en-GB" sz="3000" b="1" dirty="0">
                <a:solidFill>
                  <a:srgbClr val="0070C0"/>
                </a:solidFill>
              </a:rPr>
              <a:t>I</a:t>
            </a:r>
            <a:r>
              <a:rPr lang="en-PK" sz="3000" b="1" dirty="0">
                <a:solidFill>
                  <a:srgbClr val="0070C0"/>
                </a:solidFill>
              </a:rPr>
              <a:t>L</a:t>
            </a:r>
            <a:r>
              <a:rPr lang="en-GB" sz="3000" b="1" dirty="0">
                <a:solidFill>
                  <a:srgbClr val="0070C0"/>
                </a:solidFill>
              </a:rPr>
              <a:t>E</a:t>
            </a:r>
            <a:r>
              <a:rPr lang="en-PK" sz="3000" b="1" dirty="0">
                <a:solidFill>
                  <a:srgbClr val="0070C0"/>
                </a:solidFill>
              </a:rPr>
              <a:t>S</a:t>
            </a:r>
            <a:r>
              <a:rPr lang="en-US" sz="3000" b="1" dirty="0">
                <a:solidFill>
                  <a:srgbClr val="0070C0"/>
                </a:solidFill>
              </a:rPr>
              <a:t>  $_SERVER   $GLOBALS </a:t>
            </a:r>
            <a:endParaRPr lang="en-GB" sz="3200" b="1" dirty="0"/>
          </a:p>
          <a:p>
            <a:r>
              <a:rPr lang="en-US" sz="3200" dirty="0"/>
              <a:t>$GLOBALS is a PHP super global variable which is used to access global variables from anywhere in the PHP script (also from within functions or methods).</a:t>
            </a:r>
            <a:endParaRPr lang="en-PK" sz="3000" b="1" dirty="0">
              <a:solidFill>
                <a:srgbClr val="0070C0"/>
              </a:solidFill>
            </a:endParaRPr>
          </a:p>
        </p:txBody>
      </p:sp>
      <p:sp>
        <p:nvSpPr>
          <p:cNvPr id="4" name="Slide Number Placeholder 3">
            <a:extLst>
              <a:ext uri="{FF2B5EF4-FFF2-40B4-BE49-F238E27FC236}">
                <a16:creationId xmlns:a16="http://schemas.microsoft.com/office/drawing/2014/main" id="{6E7A0254-62D6-4764-AC47-1EB801D3B025}"/>
              </a:ext>
            </a:extLst>
          </p:cNvPr>
          <p:cNvSpPr>
            <a:spLocks noGrp="1"/>
          </p:cNvSpPr>
          <p:nvPr>
            <p:ph type="sldNum" idx="12"/>
          </p:nvPr>
        </p:nvSpPr>
        <p:spPr/>
        <p:txBody>
          <a:bodyPr/>
          <a:lstStyle/>
          <a:p>
            <a:fld id="{FA6D1DC9-C721-4D5F-A7A1-DF55DAF8C7D9}" type="slidenum">
              <a:rPr lang="en-US" smtClean="0"/>
              <a:t>40</a:t>
            </a:fld>
            <a:endParaRPr lang="en-US"/>
          </a:p>
        </p:txBody>
      </p:sp>
    </p:spTree>
    <p:extLst>
      <p:ext uri="{BB962C8B-B14F-4D97-AF65-F5344CB8AC3E}">
        <p14:creationId xmlns:p14="http://schemas.microsoft.com/office/powerpoint/2010/main" val="15277356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example</a:t>
            </a:r>
          </a:p>
        </p:txBody>
      </p:sp>
      <p:sp>
        <p:nvSpPr>
          <p:cNvPr id="3" name="Content Placeholder 2"/>
          <p:cNvSpPr>
            <a:spLocks noGrp="1"/>
          </p:cNvSpPr>
          <p:nvPr>
            <p:ph type="body" idx="1"/>
          </p:nvPr>
        </p:nvSpPr>
        <p:spPr/>
        <p:txBody>
          <a:bodyPr>
            <a:normAutofit/>
          </a:bodyPr>
          <a:lstStyle/>
          <a:p>
            <a:pPr marL="0" indent="0">
              <a:buNone/>
            </a:pPr>
            <a:r>
              <a:rPr lang="en-US" sz="2400" dirty="0">
                <a:solidFill>
                  <a:srgbClr val="0070C0"/>
                </a:solidFill>
              </a:rPr>
              <a:t>$a = 5; </a:t>
            </a:r>
            <a:r>
              <a:rPr lang="en-US" sz="2400" dirty="0">
                <a:solidFill>
                  <a:srgbClr val="00B050"/>
                </a:solidFill>
              </a:rPr>
              <a:t>//global variable</a:t>
            </a:r>
          </a:p>
          <a:p>
            <a:pPr marL="0" indent="0">
              <a:buNone/>
            </a:pPr>
            <a:r>
              <a:rPr lang="en-US" sz="2400" dirty="0">
                <a:solidFill>
                  <a:srgbClr val="0070C0"/>
                </a:solidFill>
              </a:rPr>
              <a:t>function factorial ($x) </a:t>
            </a:r>
            <a:r>
              <a:rPr lang="en-US" sz="2400" dirty="0">
                <a:solidFill>
                  <a:srgbClr val="C00000"/>
                </a:solidFill>
              </a:rPr>
              <a:t>{</a:t>
            </a:r>
          </a:p>
          <a:p>
            <a:pPr marL="0" indent="0">
              <a:buNone/>
            </a:pPr>
            <a:r>
              <a:rPr lang="en-US" sz="2400" dirty="0">
                <a:solidFill>
                  <a:srgbClr val="0070C0"/>
                </a:solidFill>
              </a:rPr>
              <a:t>    $a = 10; </a:t>
            </a:r>
            <a:r>
              <a:rPr lang="en-US" sz="2400" dirty="0">
                <a:solidFill>
                  <a:srgbClr val="00B050"/>
                </a:solidFill>
              </a:rPr>
              <a:t>//local variable</a:t>
            </a:r>
          </a:p>
          <a:p>
            <a:pPr marL="0" indent="0">
              <a:buNone/>
            </a:pPr>
            <a:r>
              <a:rPr lang="en-US" sz="2400" dirty="0">
                <a:solidFill>
                  <a:srgbClr val="0070C0"/>
                </a:solidFill>
              </a:rPr>
              <a:t>    echo ("&lt;</a:t>
            </a:r>
            <a:r>
              <a:rPr lang="en-US" sz="2400" dirty="0" err="1">
                <a:solidFill>
                  <a:srgbClr val="0070C0"/>
                </a:solidFill>
              </a:rPr>
              <a:t>br</a:t>
            </a:r>
            <a:r>
              <a:rPr lang="en-US" sz="2400" dirty="0">
                <a:solidFill>
                  <a:srgbClr val="0070C0"/>
                </a:solidFill>
              </a:rPr>
              <a:t>&gt;Factorial of $x = ");</a:t>
            </a:r>
          </a:p>
          <a:p>
            <a:pPr marL="0" indent="0">
              <a:buNone/>
            </a:pPr>
            <a:r>
              <a:rPr lang="en-US" sz="2400" dirty="0">
                <a:solidFill>
                  <a:srgbClr val="0070C0"/>
                </a:solidFill>
              </a:rPr>
              <a:t>    $result = 1;</a:t>
            </a:r>
          </a:p>
          <a:p>
            <a:pPr marL="0" indent="0">
              <a:buNone/>
            </a:pPr>
            <a:r>
              <a:rPr lang="en-US" sz="2400" dirty="0">
                <a:solidFill>
                  <a:srgbClr val="0070C0"/>
                </a:solidFill>
              </a:rPr>
              <a:t>    for ($</a:t>
            </a:r>
            <a:r>
              <a:rPr lang="en-US" sz="2400" dirty="0" err="1">
                <a:solidFill>
                  <a:srgbClr val="0070C0"/>
                </a:solidFill>
              </a:rPr>
              <a:t>i</a:t>
            </a:r>
            <a:r>
              <a:rPr lang="en-US" sz="2400" dirty="0">
                <a:solidFill>
                  <a:srgbClr val="0070C0"/>
                </a:solidFill>
              </a:rPr>
              <a:t> = 2; $</a:t>
            </a:r>
            <a:r>
              <a:rPr lang="en-US" sz="2400" dirty="0" err="1">
                <a:solidFill>
                  <a:srgbClr val="0070C0"/>
                </a:solidFill>
              </a:rPr>
              <a:t>i</a:t>
            </a:r>
            <a:r>
              <a:rPr lang="en-US" sz="2400" dirty="0">
                <a:solidFill>
                  <a:srgbClr val="0070C0"/>
                </a:solidFill>
              </a:rPr>
              <a:t> &lt;= $x; $</a:t>
            </a:r>
            <a:r>
              <a:rPr lang="en-US" sz="2400" dirty="0" err="1">
                <a:solidFill>
                  <a:srgbClr val="0070C0"/>
                </a:solidFill>
              </a:rPr>
              <a:t>i</a:t>
            </a:r>
            <a:r>
              <a:rPr lang="en-US" sz="2400" dirty="0">
                <a:solidFill>
                  <a:srgbClr val="0070C0"/>
                </a:solidFill>
              </a:rPr>
              <a:t>++)</a:t>
            </a:r>
          </a:p>
          <a:p>
            <a:pPr marL="0" indent="0">
              <a:buNone/>
            </a:pPr>
            <a:r>
              <a:rPr lang="en-US" sz="2400" dirty="0">
                <a:solidFill>
                  <a:srgbClr val="0070C0"/>
                </a:solidFill>
              </a:rPr>
              <a:t>        $result = $result * $</a:t>
            </a:r>
            <a:r>
              <a:rPr lang="en-US" sz="2400" dirty="0" err="1">
                <a:solidFill>
                  <a:srgbClr val="0070C0"/>
                </a:solidFill>
              </a:rPr>
              <a:t>i</a:t>
            </a:r>
            <a:r>
              <a:rPr lang="en-US" sz="2400" dirty="0">
                <a:solidFill>
                  <a:srgbClr val="0070C0"/>
                </a:solidFill>
              </a:rPr>
              <a:t>;</a:t>
            </a:r>
          </a:p>
          <a:p>
            <a:pPr marL="0" indent="0">
              <a:buNone/>
            </a:pPr>
            <a:r>
              <a:rPr lang="en-US" sz="2400" dirty="0">
                <a:solidFill>
                  <a:srgbClr val="0070C0"/>
                </a:solidFill>
              </a:rPr>
              <a:t>    echo ($result);</a:t>
            </a:r>
          </a:p>
        </p:txBody>
      </p:sp>
      <p:sp>
        <p:nvSpPr>
          <p:cNvPr id="4" name="Slide Number Placeholder 3"/>
          <p:cNvSpPr>
            <a:spLocks noGrp="1"/>
          </p:cNvSpPr>
          <p:nvPr>
            <p:ph type="sldNum" idx="12"/>
          </p:nvPr>
        </p:nvSpPr>
        <p:spPr/>
        <p:txBody>
          <a:bodyPr/>
          <a:lstStyle/>
          <a:p>
            <a:pPr>
              <a:defRPr/>
            </a:pPr>
            <a:fld id="{0826631B-767C-471C-94C9-7882A1E965AC}" type="slidenum">
              <a:rPr lang="en-US" smtClean="0"/>
              <a:pPr>
                <a:defRPr/>
              </a:pPr>
              <a:t>41</a:t>
            </a:fld>
            <a:endParaRPr lang="en-US" dirty="0"/>
          </a:p>
        </p:txBody>
      </p:sp>
      <p:sp>
        <p:nvSpPr>
          <p:cNvPr id="5" name="Content Placeholder 2"/>
          <p:cNvSpPr txBox="1">
            <a:spLocks/>
          </p:cNvSpPr>
          <p:nvPr/>
        </p:nvSpPr>
        <p:spPr bwMode="auto">
          <a:xfrm>
            <a:off x="5701434" y="1536634"/>
            <a:ext cx="6326777" cy="3784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buFont typeface="Arial" panose="020B0604020202020204" pitchFamily="34" charset="0"/>
              <a:buNone/>
            </a:pPr>
            <a:r>
              <a:rPr lang="en-US" dirty="0">
                <a:solidFill>
                  <a:srgbClr val="00B050"/>
                </a:solidFill>
              </a:rPr>
              <a:t>//To print local variable:</a:t>
            </a:r>
          </a:p>
          <a:p>
            <a:pPr marL="0" indent="0" eaLnBrk="1" hangingPunct="1">
              <a:buFont typeface="Arial" panose="020B0604020202020204" pitchFamily="34" charset="0"/>
              <a:buNone/>
            </a:pPr>
            <a:r>
              <a:rPr lang="en-US" dirty="0">
                <a:solidFill>
                  <a:srgbClr val="0070C0"/>
                </a:solidFill>
              </a:rPr>
              <a:t>echo ("&lt;</a:t>
            </a:r>
            <a:r>
              <a:rPr lang="en-US" dirty="0" err="1">
                <a:solidFill>
                  <a:srgbClr val="0070C0"/>
                </a:solidFill>
              </a:rPr>
              <a:t>br</a:t>
            </a:r>
            <a:r>
              <a:rPr lang="en-US" dirty="0">
                <a:solidFill>
                  <a:srgbClr val="0070C0"/>
                </a:solidFill>
              </a:rPr>
              <a:t>&gt;Value of local a = $a");</a:t>
            </a:r>
          </a:p>
          <a:p>
            <a:pPr marL="0" indent="0" eaLnBrk="1" hangingPunct="1">
              <a:buNone/>
            </a:pPr>
            <a:r>
              <a:rPr lang="en-US" dirty="0">
                <a:solidFill>
                  <a:srgbClr val="00B050"/>
                </a:solidFill>
              </a:rPr>
              <a:t>//To print global variable:</a:t>
            </a:r>
          </a:p>
          <a:p>
            <a:pPr marL="0" indent="0" eaLnBrk="1" hangingPunct="1">
              <a:buFont typeface="Arial" panose="020B0604020202020204" pitchFamily="34" charset="0"/>
              <a:buNone/>
            </a:pPr>
            <a:r>
              <a:rPr lang="en-US" dirty="0">
                <a:solidFill>
                  <a:srgbClr val="0070C0"/>
                </a:solidFill>
              </a:rPr>
              <a:t>echo ("&lt;</a:t>
            </a:r>
            <a:r>
              <a:rPr lang="en-US" dirty="0" err="1">
                <a:solidFill>
                  <a:srgbClr val="0070C0"/>
                </a:solidFill>
              </a:rPr>
              <a:t>br</a:t>
            </a:r>
            <a:r>
              <a:rPr lang="en-US" dirty="0">
                <a:solidFill>
                  <a:srgbClr val="0070C0"/>
                </a:solidFill>
              </a:rPr>
              <a:t>&gt;Value of global a = ". $GLOBALS["a"]);</a:t>
            </a:r>
          </a:p>
          <a:p>
            <a:pPr marL="0" indent="0" eaLnBrk="1" hangingPunct="1">
              <a:buFont typeface="Arial" panose="020B0604020202020204" pitchFamily="34" charset="0"/>
              <a:buNone/>
            </a:pPr>
            <a:r>
              <a:rPr lang="en-US" dirty="0">
                <a:solidFill>
                  <a:srgbClr val="C00000"/>
                </a:solidFill>
              </a:rPr>
              <a:t>}</a:t>
            </a:r>
          </a:p>
          <a:p>
            <a:pPr marL="0" indent="0" eaLnBrk="1" hangingPunct="1">
              <a:buFont typeface="Arial" panose="020B0604020202020204" pitchFamily="34" charset="0"/>
              <a:buNone/>
            </a:pPr>
            <a:r>
              <a:rPr lang="en-US" dirty="0">
                <a:solidFill>
                  <a:srgbClr val="0070C0"/>
                </a:solidFill>
              </a:rPr>
              <a:t>factorial($a); </a:t>
            </a:r>
            <a:r>
              <a:rPr lang="en-US" dirty="0">
                <a:solidFill>
                  <a:srgbClr val="00B050"/>
                </a:solidFill>
              </a:rPr>
              <a:t>// $a = 5</a:t>
            </a:r>
          </a:p>
        </p:txBody>
      </p:sp>
      <p:sp>
        <p:nvSpPr>
          <p:cNvPr id="6" name="Rectangle 5"/>
          <p:cNvSpPr/>
          <p:nvPr/>
        </p:nvSpPr>
        <p:spPr>
          <a:xfrm>
            <a:off x="979714" y="5376635"/>
            <a:ext cx="9914709" cy="979715"/>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solidFill>
                  <a:schemeClr val="tx1"/>
                </a:solidFill>
              </a:rPr>
              <a:t>Factorial of 5 = 120</a:t>
            </a:r>
          </a:p>
          <a:p>
            <a:pPr algn="ctr"/>
            <a:r>
              <a:rPr lang="en-US" sz="2000" dirty="0">
                <a:solidFill>
                  <a:schemeClr val="tx1"/>
                </a:solidFill>
              </a:rPr>
              <a:t>Value of local a = 10</a:t>
            </a:r>
          </a:p>
          <a:p>
            <a:pPr algn="ctr"/>
            <a:r>
              <a:rPr lang="en-US" sz="2000" dirty="0">
                <a:solidFill>
                  <a:schemeClr val="tx1"/>
                </a:solidFill>
              </a:rPr>
              <a:t>Value of global a = 5</a:t>
            </a:r>
          </a:p>
        </p:txBody>
      </p:sp>
    </p:spTree>
    <p:extLst>
      <p:ext uri="{BB962C8B-B14F-4D97-AF65-F5344CB8AC3E}">
        <p14:creationId xmlns:p14="http://schemas.microsoft.com/office/powerpoint/2010/main" val="4197379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5">
                                            <p:txEl>
                                              <p:pRg st="4" end="4"/>
                                            </p:txEl>
                                          </p:spTgt>
                                        </p:tgtEl>
                                        <p:attrNameLst>
                                          <p:attrName>style.visibility</p:attrName>
                                        </p:attrNameLst>
                                      </p:cBhvr>
                                      <p:to>
                                        <p:strVal val="visible"/>
                                      </p:to>
                                    </p:set>
                                    <p:animEffect transition="in" filter="fade">
                                      <p:cBhvr>
                                        <p:cTn id="33" dur="500"/>
                                        <p:tgtEl>
                                          <p:spTgt spid="5">
                                            <p:txEl>
                                              <p:pRg st="4" end="4"/>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5">
                                            <p:txEl>
                                              <p:pRg st="5" end="5"/>
                                            </p:txEl>
                                          </p:spTgt>
                                        </p:tgtEl>
                                        <p:attrNameLst>
                                          <p:attrName>style.visibility</p:attrName>
                                        </p:attrNameLst>
                                      </p:cBhvr>
                                      <p:to>
                                        <p:strVal val="visible"/>
                                      </p:to>
                                    </p:set>
                                    <p:animEffect transition="in" filter="fade">
                                      <p:cBhvr>
                                        <p:cTn id="36" dur="500"/>
                                        <p:tgtEl>
                                          <p:spTgt spid="5">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6">
                                            <p:txEl>
                                              <p:pRg st="0" end="0"/>
                                            </p:txEl>
                                          </p:spTgt>
                                        </p:tgtEl>
                                        <p:attrNameLst>
                                          <p:attrName>style.visibility</p:attrName>
                                        </p:attrNameLst>
                                      </p:cBhvr>
                                      <p:to>
                                        <p:strVal val="visible"/>
                                      </p:to>
                                    </p:set>
                                    <p:animEffect transition="in" filter="fade">
                                      <p:cBhvr>
                                        <p:cTn id="41" dur="500"/>
                                        <p:tgtEl>
                                          <p:spTgt spid="6">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5">
                                            <p:txEl>
                                              <p:pRg st="0" end="0"/>
                                            </p:txEl>
                                          </p:spTgt>
                                        </p:tgtEl>
                                        <p:attrNameLst>
                                          <p:attrName>style.visibility</p:attrName>
                                        </p:attrNameLst>
                                      </p:cBhvr>
                                      <p:to>
                                        <p:strVal val="visible"/>
                                      </p:to>
                                    </p:set>
                                    <p:animEffect transition="in" filter="fade">
                                      <p:cBhvr>
                                        <p:cTn id="46" dur="500"/>
                                        <p:tgtEl>
                                          <p:spTgt spid="5">
                                            <p:txEl>
                                              <p:pRg st="0" end="0"/>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5">
                                            <p:txEl>
                                              <p:pRg st="1" end="1"/>
                                            </p:txEl>
                                          </p:spTgt>
                                        </p:tgtEl>
                                        <p:attrNameLst>
                                          <p:attrName>style.visibility</p:attrName>
                                        </p:attrNameLst>
                                      </p:cBhvr>
                                      <p:to>
                                        <p:strVal val="visible"/>
                                      </p:to>
                                    </p:set>
                                    <p:animEffect transition="in" filter="fade">
                                      <p:cBhvr>
                                        <p:cTn id="49" dur="500"/>
                                        <p:tgtEl>
                                          <p:spTgt spid="5">
                                            <p:txEl>
                                              <p:pRg st="1" end="1"/>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6">
                                            <p:txEl>
                                              <p:pRg st="1" end="1"/>
                                            </p:txEl>
                                          </p:spTgt>
                                        </p:tgtEl>
                                        <p:attrNameLst>
                                          <p:attrName>style.visibility</p:attrName>
                                        </p:attrNameLst>
                                      </p:cBhvr>
                                      <p:to>
                                        <p:strVal val="visible"/>
                                      </p:to>
                                    </p:set>
                                    <p:animEffect transition="in" filter="fade">
                                      <p:cBhvr>
                                        <p:cTn id="54" dur="500"/>
                                        <p:tgtEl>
                                          <p:spTgt spid="6">
                                            <p:txEl>
                                              <p:pRg st="1" end="1"/>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5">
                                            <p:txEl>
                                              <p:pRg st="2" end="2"/>
                                            </p:txEl>
                                          </p:spTgt>
                                        </p:tgtEl>
                                        <p:attrNameLst>
                                          <p:attrName>style.visibility</p:attrName>
                                        </p:attrNameLst>
                                      </p:cBhvr>
                                      <p:to>
                                        <p:strVal val="visible"/>
                                      </p:to>
                                    </p:set>
                                    <p:animEffect transition="in" filter="fade">
                                      <p:cBhvr>
                                        <p:cTn id="59" dur="500"/>
                                        <p:tgtEl>
                                          <p:spTgt spid="5">
                                            <p:txEl>
                                              <p:pRg st="2" end="2"/>
                                            </p:txEl>
                                          </p:spTgt>
                                        </p:tgtEl>
                                      </p:cBhvr>
                                    </p:animEffect>
                                  </p:childTnLst>
                                </p:cTn>
                              </p:par>
                              <p:par>
                                <p:cTn id="60" presetID="10" presetClass="entr" presetSubtype="0" fill="hold" nodeType="withEffect">
                                  <p:stCondLst>
                                    <p:cond delay="0"/>
                                  </p:stCondLst>
                                  <p:childTnLst>
                                    <p:set>
                                      <p:cBhvr>
                                        <p:cTn id="61" dur="1" fill="hold">
                                          <p:stCondLst>
                                            <p:cond delay="0"/>
                                          </p:stCondLst>
                                        </p:cTn>
                                        <p:tgtEl>
                                          <p:spTgt spid="5">
                                            <p:txEl>
                                              <p:pRg st="3" end="3"/>
                                            </p:txEl>
                                          </p:spTgt>
                                        </p:tgtEl>
                                        <p:attrNameLst>
                                          <p:attrName>style.visibility</p:attrName>
                                        </p:attrNameLst>
                                      </p:cBhvr>
                                      <p:to>
                                        <p:strVal val="visible"/>
                                      </p:to>
                                    </p:set>
                                    <p:animEffect transition="in" filter="fade">
                                      <p:cBhvr>
                                        <p:cTn id="62" dur="500"/>
                                        <p:tgtEl>
                                          <p:spTgt spid="5">
                                            <p:txEl>
                                              <p:pRg st="3" end="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
                                            <p:txEl>
                                              <p:pRg st="2" end="2"/>
                                            </p:txEl>
                                          </p:spTgt>
                                        </p:tgtEl>
                                        <p:attrNameLst>
                                          <p:attrName>style.visibility</p:attrName>
                                        </p:attrNameLst>
                                      </p:cBhvr>
                                      <p:to>
                                        <p:strVal val="visible"/>
                                      </p:to>
                                    </p:set>
                                    <p:animEffect transition="in" filter="fade">
                                      <p:cBhvr>
                                        <p:cTn id="6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Recap of Variable Scope</a:t>
            </a:r>
          </a:p>
        </p:txBody>
      </p:sp>
      <p:sp>
        <p:nvSpPr>
          <p:cNvPr id="3" name="Content Placeholder 2"/>
          <p:cNvSpPr>
            <a:spLocks noGrp="1"/>
          </p:cNvSpPr>
          <p:nvPr>
            <p:ph type="body" idx="1"/>
          </p:nvPr>
        </p:nvSpPr>
        <p:spPr/>
        <p:txBody>
          <a:bodyPr>
            <a:normAutofit fontScale="92500" lnSpcReduction="10000"/>
          </a:bodyPr>
          <a:lstStyle/>
          <a:p>
            <a:r>
              <a:rPr lang="en-US" sz="3200" dirty="0"/>
              <a:t>Local variables are accessible </a:t>
            </a:r>
            <a:r>
              <a:rPr lang="en-US" sz="3200" dirty="0">
                <a:solidFill>
                  <a:srgbClr val="0070C0"/>
                </a:solidFill>
              </a:rPr>
              <a:t>just from the part of code where you define them</a:t>
            </a:r>
            <a:r>
              <a:rPr lang="en-US" sz="3200" dirty="0"/>
              <a:t>. </a:t>
            </a:r>
          </a:p>
          <a:p>
            <a:r>
              <a:rPr lang="en-US" sz="3200" dirty="0"/>
              <a:t>Global variables are accessible </a:t>
            </a:r>
            <a:r>
              <a:rPr lang="en-US" sz="3200" dirty="0">
                <a:solidFill>
                  <a:srgbClr val="0070C0"/>
                </a:solidFill>
              </a:rPr>
              <a:t>from all parts of your code</a:t>
            </a:r>
            <a:r>
              <a:rPr lang="en-US" sz="3200" dirty="0"/>
              <a:t>.</a:t>
            </a:r>
          </a:p>
          <a:p>
            <a:r>
              <a:rPr lang="en-US" sz="3200" dirty="0">
                <a:solidFill>
                  <a:srgbClr val="0070C0"/>
                </a:solidFill>
              </a:rPr>
              <a:t>Static variables </a:t>
            </a:r>
            <a:r>
              <a:rPr lang="en-US" sz="3200" dirty="0"/>
              <a:t>are accessible only within the function that declared them but </a:t>
            </a:r>
            <a:r>
              <a:rPr lang="en-US" sz="3200" dirty="0">
                <a:solidFill>
                  <a:srgbClr val="0070C0"/>
                </a:solidFill>
              </a:rPr>
              <a:t>retain their value over multiple calls</a:t>
            </a:r>
            <a:r>
              <a:rPr lang="en-US" sz="3200" dirty="0"/>
              <a:t>.</a:t>
            </a:r>
          </a:p>
          <a:p>
            <a:r>
              <a:rPr lang="en-US" sz="3200" dirty="0"/>
              <a:t>Generally, try to make as many of your variables local as possible. </a:t>
            </a:r>
            <a:r>
              <a:rPr lang="en-US" sz="3200"/>
              <a:t>The only time you really need a global variable is when you want some information to be used in multiple functions.</a:t>
            </a:r>
            <a:endParaRPr lang="en-US" sz="3200" dirty="0"/>
          </a:p>
        </p:txBody>
      </p:sp>
      <p:sp>
        <p:nvSpPr>
          <p:cNvPr id="4" name="Slide Number Placeholder 3"/>
          <p:cNvSpPr>
            <a:spLocks noGrp="1"/>
          </p:cNvSpPr>
          <p:nvPr>
            <p:ph type="sldNum" idx="12"/>
          </p:nvPr>
        </p:nvSpPr>
        <p:spPr/>
        <p:txBody>
          <a:bodyPr/>
          <a:lstStyle/>
          <a:p>
            <a:pPr>
              <a:defRPr/>
            </a:pPr>
            <a:fld id="{0826631B-767C-471C-94C9-7882A1E965AC}" type="slidenum">
              <a:rPr lang="en-US" smtClean="0"/>
              <a:pPr>
                <a:defRPr/>
              </a:pPr>
              <a:t>42</a:t>
            </a:fld>
            <a:endParaRPr lang="en-US"/>
          </a:p>
        </p:txBody>
      </p:sp>
    </p:spTree>
    <p:extLst>
      <p:ext uri="{BB962C8B-B14F-4D97-AF65-F5344CB8AC3E}">
        <p14:creationId xmlns:p14="http://schemas.microsoft.com/office/powerpoint/2010/main" val="2800175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Including Files in PHP</a:t>
            </a:r>
          </a:p>
        </p:txBody>
      </p:sp>
      <p:sp>
        <p:nvSpPr>
          <p:cNvPr id="3" name="Content Placeholder 2"/>
          <p:cNvSpPr>
            <a:spLocks noGrp="1"/>
          </p:cNvSpPr>
          <p:nvPr>
            <p:ph type="body" idx="1"/>
          </p:nvPr>
        </p:nvSpPr>
        <p:spPr/>
        <p:txBody>
          <a:bodyPr>
            <a:normAutofit fontScale="85000" lnSpcReduction="20000"/>
          </a:bodyPr>
          <a:lstStyle/>
          <a:p>
            <a:r>
              <a:rPr lang="en-US" sz="3200" dirty="0"/>
              <a:t>It is possible to insert the content of one file (html or </a:t>
            </a:r>
            <a:r>
              <a:rPr lang="en-US" sz="3200" dirty="0" err="1"/>
              <a:t>php</a:t>
            </a:r>
            <a:r>
              <a:rPr lang="en-US" sz="3200" dirty="0"/>
              <a:t>) into another PHP file (before the server executes it), with the </a:t>
            </a:r>
            <a:r>
              <a:rPr lang="en-US" sz="3200" dirty="0">
                <a:solidFill>
                  <a:srgbClr val="0070C0"/>
                </a:solidFill>
              </a:rPr>
              <a:t>include</a:t>
            </a:r>
            <a:r>
              <a:rPr lang="en-US" sz="3200" dirty="0"/>
              <a:t> or </a:t>
            </a:r>
            <a:r>
              <a:rPr lang="en-US" sz="3200" dirty="0">
                <a:solidFill>
                  <a:srgbClr val="0070C0"/>
                </a:solidFill>
              </a:rPr>
              <a:t>require</a:t>
            </a:r>
            <a:r>
              <a:rPr lang="en-US" sz="3200" dirty="0"/>
              <a:t> statement.</a:t>
            </a:r>
          </a:p>
          <a:p>
            <a:r>
              <a:rPr lang="en-US" sz="3200" dirty="0"/>
              <a:t>As you progress in your use of PHP programming, you are likely to start building a library of functions that you think you will need again. You will also probably start using libraries created by other programmers.</a:t>
            </a:r>
          </a:p>
          <a:p>
            <a:r>
              <a:rPr lang="en-US" sz="3200" dirty="0"/>
              <a:t>There is no need to copy and paste these functions into your code. You can </a:t>
            </a:r>
            <a:r>
              <a:rPr lang="en-US" sz="3200" dirty="0">
                <a:solidFill>
                  <a:srgbClr val="0070C0"/>
                </a:solidFill>
              </a:rPr>
              <a:t>save them in separate files </a:t>
            </a:r>
            <a:r>
              <a:rPr lang="en-US" sz="3200" dirty="0"/>
              <a:t>and use commands to pull them in. There are two types of commands to perform this action: </a:t>
            </a:r>
            <a:r>
              <a:rPr lang="en-US" sz="3200" dirty="0">
                <a:solidFill>
                  <a:srgbClr val="0070C0"/>
                </a:solidFill>
              </a:rPr>
              <a:t>include</a:t>
            </a:r>
            <a:r>
              <a:rPr lang="en-US" sz="3200" dirty="0"/>
              <a:t> and </a:t>
            </a:r>
            <a:r>
              <a:rPr lang="en-US" sz="3200" dirty="0">
                <a:solidFill>
                  <a:srgbClr val="0070C0"/>
                </a:solidFill>
              </a:rPr>
              <a:t>require</a:t>
            </a:r>
            <a:r>
              <a:rPr lang="en-US" sz="3200" dirty="0"/>
              <a:t>.</a:t>
            </a:r>
          </a:p>
        </p:txBody>
      </p:sp>
      <p:sp>
        <p:nvSpPr>
          <p:cNvPr id="4" name="Slide Number Placeholder 3"/>
          <p:cNvSpPr>
            <a:spLocks noGrp="1"/>
          </p:cNvSpPr>
          <p:nvPr>
            <p:ph type="sldNum" idx="12"/>
          </p:nvPr>
        </p:nvSpPr>
        <p:spPr/>
        <p:txBody>
          <a:bodyPr/>
          <a:lstStyle/>
          <a:p>
            <a:pPr>
              <a:defRPr/>
            </a:pPr>
            <a:fld id="{0826631B-767C-471C-94C9-7882A1E965AC}" type="slidenum">
              <a:rPr lang="en-US" smtClean="0"/>
              <a:pPr>
                <a:defRPr/>
              </a:pPr>
              <a:t>43</a:t>
            </a:fld>
            <a:endParaRPr lang="en-US"/>
          </a:p>
        </p:txBody>
      </p:sp>
    </p:spTree>
    <p:extLst>
      <p:ext uri="{BB962C8B-B14F-4D97-AF65-F5344CB8AC3E}">
        <p14:creationId xmlns:p14="http://schemas.microsoft.com/office/powerpoint/2010/main" val="794161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include Statement</a:t>
            </a:r>
          </a:p>
        </p:txBody>
      </p:sp>
      <p:sp>
        <p:nvSpPr>
          <p:cNvPr id="3" name="Content Placeholder 2"/>
          <p:cNvSpPr>
            <a:spLocks noGrp="1"/>
          </p:cNvSpPr>
          <p:nvPr>
            <p:ph type="body" idx="1"/>
          </p:nvPr>
        </p:nvSpPr>
        <p:spPr/>
        <p:txBody>
          <a:bodyPr>
            <a:normAutofit fontScale="92500" lnSpcReduction="10000"/>
          </a:bodyPr>
          <a:lstStyle/>
          <a:p>
            <a:r>
              <a:rPr lang="en-US" sz="3200" dirty="0"/>
              <a:t>Using </a:t>
            </a:r>
            <a:r>
              <a:rPr lang="en-US" sz="3200" dirty="0">
                <a:solidFill>
                  <a:srgbClr val="0070C0"/>
                </a:solidFill>
              </a:rPr>
              <a:t>include</a:t>
            </a:r>
            <a:r>
              <a:rPr lang="en-US" sz="3200" dirty="0"/>
              <a:t>, you can tell PHP to fetch a particular file and load all its contents. It is as if you pasted the included file into the current file at the insertion point.</a:t>
            </a:r>
          </a:p>
          <a:p>
            <a:r>
              <a:rPr lang="en-US" sz="3200" dirty="0"/>
              <a:t>The following example shows how you would include a file called </a:t>
            </a:r>
            <a:r>
              <a:rPr lang="en-US" sz="3200" dirty="0" err="1"/>
              <a:t>library.php</a:t>
            </a:r>
            <a:r>
              <a:rPr lang="en-US" sz="3200" dirty="0"/>
              <a:t>.</a:t>
            </a:r>
          </a:p>
          <a:p>
            <a:pPr marL="0" indent="0">
              <a:buNone/>
            </a:pPr>
            <a:r>
              <a:rPr lang="en-US" sz="3200" dirty="0">
                <a:solidFill>
                  <a:srgbClr val="0070C0"/>
                </a:solidFill>
              </a:rPr>
              <a:t>&lt;?</a:t>
            </a:r>
            <a:r>
              <a:rPr lang="en-US" sz="3200" dirty="0" err="1">
                <a:solidFill>
                  <a:srgbClr val="0070C0"/>
                </a:solidFill>
              </a:rPr>
              <a:t>php</a:t>
            </a:r>
            <a:endParaRPr lang="en-US" sz="3200" dirty="0">
              <a:solidFill>
                <a:srgbClr val="0070C0"/>
              </a:solidFill>
            </a:endParaRPr>
          </a:p>
          <a:p>
            <a:pPr marL="457200" lvl="1" indent="0">
              <a:buNone/>
            </a:pPr>
            <a:r>
              <a:rPr lang="en-US" sz="3200" dirty="0">
                <a:solidFill>
                  <a:srgbClr val="0070C0"/>
                </a:solidFill>
              </a:rPr>
              <a:t>include "</a:t>
            </a:r>
            <a:r>
              <a:rPr lang="en-US" sz="3200" dirty="0" err="1">
                <a:solidFill>
                  <a:srgbClr val="0070C0"/>
                </a:solidFill>
              </a:rPr>
              <a:t>library.php</a:t>
            </a:r>
            <a:r>
              <a:rPr lang="en-US" sz="3200" dirty="0">
                <a:solidFill>
                  <a:srgbClr val="0070C0"/>
                </a:solidFill>
              </a:rPr>
              <a:t>";</a:t>
            </a:r>
          </a:p>
          <a:p>
            <a:pPr marL="457200" lvl="1" indent="0">
              <a:buNone/>
            </a:pPr>
            <a:r>
              <a:rPr lang="en-US" sz="3200" dirty="0">
                <a:solidFill>
                  <a:srgbClr val="00B050"/>
                </a:solidFill>
              </a:rPr>
              <a:t>// Your code goes here</a:t>
            </a:r>
          </a:p>
          <a:p>
            <a:pPr marL="0" indent="0">
              <a:buNone/>
            </a:pPr>
            <a:r>
              <a:rPr lang="en-US" sz="3200" dirty="0">
                <a:solidFill>
                  <a:srgbClr val="0070C0"/>
                </a:solidFill>
              </a:rPr>
              <a:t>?&gt;</a:t>
            </a:r>
          </a:p>
        </p:txBody>
      </p:sp>
      <p:sp>
        <p:nvSpPr>
          <p:cNvPr id="4" name="Slide Number Placeholder 3"/>
          <p:cNvSpPr>
            <a:spLocks noGrp="1"/>
          </p:cNvSpPr>
          <p:nvPr>
            <p:ph type="sldNum" idx="12"/>
          </p:nvPr>
        </p:nvSpPr>
        <p:spPr/>
        <p:txBody>
          <a:bodyPr/>
          <a:lstStyle/>
          <a:p>
            <a:pPr>
              <a:defRPr/>
            </a:pPr>
            <a:fld id="{0826631B-767C-471C-94C9-7882A1E965AC}" type="slidenum">
              <a:rPr lang="en-US" smtClean="0"/>
              <a:pPr>
                <a:defRPr/>
              </a:pPr>
              <a:t>44</a:t>
            </a:fld>
            <a:endParaRPr lang="en-US"/>
          </a:p>
        </p:txBody>
      </p:sp>
    </p:spTree>
    <p:extLst>
      <p:ext uri="{BB962C8B-B14F-4D97-AF65-F5344CB8AC3E}">
        <p14:creationId xmlns:p14="http://schemas.microsoft.com/office/powerpoint/2010/main" val="2831149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include Statement (</a:t>
            </a:r>
            <a:r>
              <a:rPr lang="en-US" dirty="0" err="1"/>
              <a:t>cont</a:t>
            </a:r>
            <a:r>
              <a:rPr lang="en-US" dirty="0"/>
              <a:t>…)</a:t>
            </a:r>
          </a:p>
        </p:txBody>
      </p:sp>
      <p:sp>
        <p:nvSpPr>
          <p:cNvPr id="3" name="Content Placeholder 2"/>
          <p:cNvSpPr>
            <a:spLocks noGrp="1"/>
          </p:cNvSpPr>
          <p:nvPr>
            <p:ph type="body" idx="1"/>
          </p:nvPr>
        </p:nvSpPr>
        <p:spPr/>
        <p:txBody>
          <a:bodyPr/>
          <a:lstStyle/>
          <a:p>
            <a:r>
              <a:rPr lang="en-US" altLang="en-US" sz="3200" dirty="0"/>
              <a:t>You can use include files to include text, HTML code, or PHP script.</a:t>
            </a:r>
          </a:p>
          <a:p>
            <a:r>
              <a:rPr lang="en-US" sz="3200" dirty="0"/>
              <a:t>Including files saves a lot of work. </a:t>
            </a:r>
            <a:r>
              <a:rPr lang="en-US" sz="3200" dirty="0">
                <a:solidFill>
                  <a:srgbClr val="0070C0"/>
                </a:solidFill>
              </a:rPr>
              <a:t>This means that you can create a standard header, footer, or menu file for all your web pages</a:t>
            </a:r>
            <a:r>
              <a:rPr lang="en-US" sz="3200" dirty="0"/>
              <a:t>. Then, when the header needs to be updated, you can only update the header file.</a:t>
            </a:r>
          </a:p>
          <a:p>
            <a:endParaRPr lang="en-US" altLang="en-US" sz="3200" dirty="0"/>
          </a:p>
        </p:txBody>
      </p:sp>
      <p:sp>
        <p:nvSpPr>
          <p:cNvPr id="4" name="Slide Number Placeholder 3"/>
          <p:cNvSpPr>
            <a:spLocks noGrp="1"/>
          </p:cNvSpPr>
          <p:nvPr>
            <p:ph type="sldNum" idx="12"/>
          </p:nvPr>
        </p:nvSpPr>
        <p:spPr/>
        <p:txBody>
          <a:bodyPr/>
          <a:lstStyle/>
          <a:p>
            <a:pPr>
              <a:defRPr/>
            </a:pPr>
            <a:fld id="{0826631B-767C-471C-94C9-7882A1E965AC}" type="slidenum">
              <a:rPr lang="en-US" smtClean="0"/>
              <a:pPr>
                <a:defRPr/>
              </a:pPr>
              <a:t>45</a:t>
            </a:fld>
            <a:endParaRPr lang="en-US"/>
          </a:p>
        </p:txBody>
      </p:sp>
    </p:spTree>
    <p:extLst>
      <p:ext uri="{BB962C8B-B14F-4D97-AF65-F5344CB8AC3E}">
        <p14:creationId xmlns:p14="http://schemas.microsoft.com/office/powerpoint/2010/main" val="1551363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a:t>
            </a:r>
            <a:r>
              <a:rPr lang="en-US" dirty="0" err="1"/>
              <a:t>include_once</a:t>
            </a:r>
            <a:endParaRPr lang="en-US" dirty="0"/>
          </a:p>
        </p:txBody>
      </p:sp>
      <p:sp>
        <p:nvSpPr>
          <p:cNvPr id="3" name="Content Placeholder 2"/>
          <p:cNvSpPr>
            <a:spLocks noGrp="1"/>
          </p:cNvSpPr>
          <p:nvPr>
            <p:ph type="body" idx="1"/>
          </p:nvPr>
        </p:nvSpPr>
        <p:spPr/>
        <p:txBody>
          <a:bodyPr>
            <a:normAutofit lnSpcReduction="10000"/>
          </a:bodyPr>
          <a:lstStyle/>
          <a:p>
            <a:r>
              <a:rPr lang="en-US" altLang="en-US" sz="3200" dirty="0"/>
              <a:t>The </a:t>
            </a:r>
            <a:r>
              <a:rPr lang="en-US" altLang="en-US" sz="3200" dirty="0" err="1">
                <a:solidFill>
                  <a:srgbClr val="0070C0"/>
                </a:solidFill>
              </a:rPr>
              <a:t>include_once</a:t>
            </a:r>
            <a:r>
              <a:rPr lang="en-US" altLang="en-US" sz="3200" dirty="0">
                <a:solidFill>
                  <a:srgbClr val="0070C0"/>
                </a:solidFill>
              </a:rPr>
              <a:t> ( ) </a:t>
            </a:r>
            <a:r>
              <a:rPr lang="en-US" altLang="en-US" sz="3200" dirty="0"/>
              <a:t>statement includes and evaluates the specified file during the execution of the script. This is a behavior similar to the </a:t>
            </a:r>
            <a:r>
              <a:rPr lang="en-US" altLang="en-US" sz="3200" dirty="0">
                <a:solidFill>
                  <a:srgbClr val="0070C0"/>
                </a:solidFill>
              </a:rPr>
              <a:t>include ( ) </a:t>
            </a:r>
            <a:r>
              <a:rPr lang="en-US" altLang="en-US" sz="3200" dirty="0"/>
              <a:t>statement and as the name suggests, it will be included just once. </a:t>
            </a:r>
          </a:p>
          <a:p>
            <a:pPr marL="0" indent="0">
              <a:buNone/>
            </a:pPr>
            <a:r>
              <a:rPr lang="en-US" sz="3200" dirty="0">
                <a:solidFill>
                  <a:srgbClr val="0070C0"/>
                </a:solidFill>
              </a:rPr>
              <a:t>&lt;?</a:t>
            </a:r>
            <a:r>
              <a:rPr lang="en-US" sz="3200" dirty="0" err="1">
                <a:solidFill>
                  <a:srgbClr val="0070C0"/>
                </a:solidFill>
              </a:rPr>
              <a:t>php</a:t>
            </a:r>
            <a:endParaRPr lang="en-US" sz="3200" dirty="0">
              <a:solidFill>
                <a:srgbClr val="0070C0"/>
              </a:solidFill>
            </a:endParaRPr>
          </a:p>
          <a:p>
            <a:pPr marL="457200" lvl="1" indent="0">
              <a:buNone/>
            </a:pPr>
            <a:r>
              <a:rPr lang="en-US" sz="3200" dirty="0" err="1">
                <a:solidFill>
                  <a:srgbClr val="0070C0"/>
                </a:solidFill>
              </a:rPr>
              <a:t>include_once</a:t>
            </a:r>
            <a:r>
              <a:rPr lang="en-US" sz="3200" dirty="0">
                <a:solidFill>
                  <a:srgbClr val="0070C0"/>
                </a:solidFill>
              </a:rPr>
              <a:t> "</a:t>
            </a:r>
            <a:r>
              <a:rPr lang="en-US" sz="3200" dirty="0" err="1">
                <a:solidFill>
                  <a:srgbClr val="0070C0"/>
                </a:solidFill>
              </a:rPr>
              <a:t>library.php</a:t>
            </a:r>
            <a:r>
              <a:rPr lang="en-US" sz="3200" dirty="0">
                <a:solidFill>
                  <a:srgbClr val="0070C0"/>
                </a:solidFill>
              </a:rPr>
              <a:t>";</a:t>
            </a:r>
          </a:p>
          <a:p>
            <a:pPr marL="457200" lvl="1" indent="0">
              <a:buNone/>
            </a:pPr>
            <a:r>
              <a:rPr lang="en-US" sz="3200" dirty="0">
                <a:solidFill>
                  <a:srgbClr val="00B050"/>
                </a:solidFill>
              </a:rPr>
              <a:t>// Your code goes here</a:t>
            </a:r>
          </a:p>
          <a:p>
            <a:pPr marL="0" indent="0">
              <a:buNone/>
            </a:pPr>
            <a:r>
              <a:rPr lang="en-US" sz="3200" dirty="0">
                <a:solidFill>
                  <a:srgbClr val="0070C0"/>
                </a:solidFill>
              </a:rPr>
              <a:t>?&gt;</a:t>
            </a:r>
          </a:p>
          <a:p>
            <a:endParaRPr lang="en-US" altLang="en-US" sz="3200" dirty="0"/>
          </a:p>
        </p:txBody>
      </p:sp>
      <p:sp>
        <p:nvSpPr>
          <p:cNvPr id="4" name="Slide Number Placeholder 3"/>
          <p:cNvSpPr>
            <a:spLocks noGrp="1"/>
          </p:cNvSpPr>
          <p:nvPr>
            <p:ph type="sldNum" idx="12"/>
          </p:nvPr>
        </p:nvSpPr>
        <p:spPr/>
        <p:txBody>
          <a:bodyPr/>
          <a:lstStyle/>
          <a:p>
            <a:pPr>
              <a:defRPr/>
            </a:pPr>
            <a:fld id="{0826631B-767C-471C-94C9-7882A1E965AC}" type="slidenum">
              <a:rPr lang="en-US" smtClean="0"/>
              <a:pPr>
                <a:defRPr/>
              </a:pPr>
              <a:t>46</a:t>
            </a:fld>
            <a:endParaRPr lang="en-US"/>
          </a:p>
        </p:txBody>
      </p:sp>
    </p:spTree>
    <p:extLst>
      <p:ext uri="{BB962C8B-B14F-4D97-AF65-F5344CB8AC3E}">
        <p14:creationId xmlns:p14="http://schemas.microsoft.com/office/powerpoint/2010/main" val="3729648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require and </a:t>
            </a:r>
            <a:r>
              <a:rPr lang="en-US" dirty="0" err="1"/>
              <a:t>require_once</a:t>
            </a:r>
            <a:endParaRPr lang="en-US" dirty="0"/>
          </a:p>
        </p:txBody>
      </p:sp>
      <p:sp>
        <p:nvSpPr>
          <p:cNvPr id="3" name="Content Placeholder 2"/>
          <p:cNvSpPr>
            <a:spLocks noGrp="1"/>
          </p:cNvSpPr>
          <p:nvPr>
            <p:ph type="body" idx="1"/>
          </p:nvPr>
        </p:nvSpPr>
        <p:spPr/>
        <p:txBody>
          <a:bodyPr>
            <a:normAutofit/>
          </a:bodyPr>
          <a:lstStyle/>
          <a:p>
            <a:r>
              <a:rPr lang="en-US" sz="3200" dirty="0"/>
              <a:t>A potential problem with </a:t>
            </a:r>
            <a:r>
              <a:rPr lang="en-US" sz="3200" dirty="0">
                <a:solidFill>
                  <a:srgbClr val="0070C0"/>
                </a:solidFill>
              </a:rPr>
              <a:t>include</a:t>
            </a:r>
            <a:r>
              <a:rPr lang="en-US" sz="3200" dirty="0"/>
              <a:t> and </a:t>
            </a:r>
            <a:r>
              <a:rPr lang="en-US" sz="3200" dirty="0" err="1">
                <a:solidFill>
                  <a:srgbClr val="0070C0"/>
                </a:solidFill>
              </a:rPr>
              <a:t>include_once</a:t>
            </a:r>
            <a:r>
              <a:rPr lang="en-US" sz="3200" dirty="0"/>
              <a:t> is that PHP will only attempt to include the requested file. Program execution continues even if the file is not found.</a:t>
            </a:r>
          </a:p>
          <a:p>
            <a:r>
              <a:rPr lang="en-US" sz="3200" dirty="0"/>
              <a:t>When it is absolutely essential to include a file, use </a:t>
            </a:r>
            <a:r>
              <a:rPr lang="en-US" sz="3200" dirty="0">
                <a:solidFill>
                  <a:srgbClr val="0070C0"/>
                </a:solidFill>
              </a:rPr>
              <a:t>require</a:t>
            </a:r>
            <a:r>
              <a:rPr lang="en-US" sz="3200" dirty="0"/>
              <a:t> statement. For the same reasons of using </a:t>
            </a:r>
            <a:r>
              <a:rPr lang="en-US" sz="3200" dirty="0" err="1">
                <a:solidFill>
                  <a:srgbClr val="0070C0"/>
                </a:solidFill>
              </a:rPr>
              <a:t>include_once</a:t>
            </a:r>
            <a:r>
              <a:rPr lang="en-US" sz="3200" dirty="0"/>
              <a:t>, it is recommended that you generally stick with </a:t>
            </a:r>
            <a:r>
              <a:rPr lang="en-US" sz="3200" dirty="0" err="1">
                <a:solidFill>
                  <a:srgbClr val="0070C0"/>
                </a:solidFill>
              </a:rPr>
              <a:t>require_once</a:t>
            </a:r>
            <a:r>
              <a:rPr lang="en-US" sz="3200" dirty="0"/>
              <a:t> whenever you need to require a file.</a:t>
            </a:r>
          </a:p>
        </p:txBody>
      </p:sp>
      <p:sp>
        <p:nvSpPr>
          <p:cNvPr id="4" name="Slide Number Placeholder 3"/>
          <p:cNvSpPr>
            <a:spLocks noGrp="1"/>
          </p:cNvSpPr>
          <p:nvPr>
            <p:ph type="sldNum" idx="12"/>
          </p:nvPr>
        </p:nvSpPr>
        <p:spPr/>
        <p:txBody>
          <a:bodyPr/>
          <a:lstStyle/>
          <a:p>
            <a:pPr>
              <a:defRPr/>
            </a:pPr>
            <a:fld id="{0826631B-767C-471C-94C9-7882A1E965AC}" type="slidenum">
              <a:rPr lang="en-US" smtClean="0"/>
              <a:pPr>
                <a:defRPr/>
              </a:pPr>
              <a:t>47</a:t>
            </a:fld>
            <a:endParaRPr lang="en-US"/>
          </a:p>
        </p:txBody>
      </p:sp>
    </p:spTree>
    <p:extLst>
      <p:ext uri="{BB962C8B-B14F-4D97-AF65-F5344CB8AC3E}">
        <p14:creationId xmlns:p14="http://schemas.microsoft.com/office/powerpoint/2010/main" val="1494120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include vs require</a:t>
            </a:r>
          </a:p>
        </p:txBody>
      </p:sp>
      <p:sp>
        <p:nvSpPr>
          <p:cNvPr id="3" name="Content Placeholder 2"/>
          <p:cNvSpPr>
            <a:spLocks noGrp="1"/>
          </p:cNvSpPr>
          <p:nvPr>
            <p:ph type="body" idx="1"/>
          </p:nvPr>
        </p:nvSpPr>
        <p:spPr/>
        <p:txBody>
          <a:bodyPr/>
          <a:lstStyle/>
          <a:p>
            <a:r>
              <a:rPr lang="en-US" sz="3200" dirty="0"/>
              <a:t>The include and require statements are identical, except upon failure:</a:t>
            </a:r>
          </a:p>
          <a:p>
            <a:pPr lvl="1"/>
            <a:r>
              <a:rPr lang="en-US" sz="3200" dirty="0"/>
              <a:t>require will produce a </a:t>
            </a:r>
            <a:r>
              <a:rPr lang="en-US" sz="3200" dirty="0">
                <a:solidFill>
                  <a:srgbClr val="0070C0"/>
                </a:solidFill>
              </a:rPr>
              <a:t>fatal error </a:t>
            </a:r>
            <a:r>
              <a:rPr lang="en-US" sz="3200" dirty="0"/>
              <a:t>(E_COMPILE_ERROR) and stop the script</a:t>
            </a:r>
          </a:p>
          <a:p>
            <a:pPr lvl="1"/>
            <a:r>
              <a:rPr lang="en-US" sz="3200" dirty="0"/>
              <a:t>include will only produce a </a:t>
            </a:r>
            <a:r>
              <a:rPr lang="en-US" sz="3200" dirty="0">
                <a:solidFill>
                  <a:srgbClr val="0070C0"/>
                </a:solidFill>
              </a:rPr>
              <a:t>warning</a:t>
            </a:r>
            <a:r>
              <a:rPr lang="en-US" sz="3200" dirty="0"/>
              <a:t> (E_WARNING) and the script will continue</a:t>
            </a:r>
          </a:p>
        </p:txBody>
      </p:sp>
      <p:sp>
        <p:nvSpPr>
          <p:cNvPr id="4" name="Slide Number Placeholder 3"/>
          <p:cNvSpPr>
            <a:spLocks noGrp="1"/>
          </p:cNvSpPr>
          <p:nvPr>
            <p:ph type="sldNum" idx="12"/>
          </p:nvPr>
        </p:nvSpPr>
        <p:spPr/>
        <p:txBody>
          <a:bodyPr/>
          <a:lstStyle/>
          <a:p>
            <a:pPr>
              <a:defRPr/>
            </a:pPr>
            <a:fld id="{0826631B-767C-471C-94C9-7882A1E965AC}" type="slidenum">
              <a:rPr lang="en-US" smtClean="0"/>
              <a:pPr>
                <a:defRPr/>
              </a:pPr>
              <a:t>48</a:t>
            </a:fld>
            <a:endParaRPr lang="en-US"/>
          </a:p>
        </p:txBody>
      </p:sp>
    </p:spTree>
    <p:extLst>
      <p:ext uri="{BB962C8B-B14F-4D97-AF65-F5344CB8AC3E}">
        <p14:creationId xmlns:p14="http://schemas.microsoft.com/office/powerpoint/2010/main" val="41019317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Check for function existence</a:t>
            </a:r>
          </a:p>
        </p:txBody>
      </p:sp>
      <p:sp>
        <p:nvSpPr>
          <p:cNvPr id="3" name="Content Placeholder 2"/>
          <p:cNvSpPr>
            <a:spLocks noGrp="1"/>
          </p:cNvSpPr>
          <p:nvPr>
            <p:ph type="body" idx="1"/>
          </p:nvPr>
        </p:nvSpPr>
        <p:spPr/>
        <p:txBody>
          <a:bodyPr/>
          <a:lstStyle/>
          <a:p>
            <a:r>
              <a:rPr lang="en-US" sz="3200" dirty="0"/>
              <a:t>If you need to check whether a particular function is available to your code, you can use the </a:t>
            </a:r>
            <a:r>
              <a:rPr lang="en-US" sz="3200" dirty="0" err="1">
                <a:solidFill>
                  <a:srgbClr val="0070C0"/>
                </a:solidFill>
              </a:rPr>
              <a:t>function_exists</a:t>
            </a:r>
            <a:r>
              <a:rPr lang="en-US" sz="3200" dirty="0"/>
              <a:t> function, which checks all predefined and user-created functions.</a:t>
            </a:r>
          </a:p>
          <a:p>
            <a:r>
              <a:rPr lang="en-US" sz="3200" dirty="0"/>
              <a:t>For example:</a:t>
            </a:r>
          </a:p>
          <a:p>
            <a:pPr marL="457200" lvl="1" indent="0">
              <a:buNone/>
            </a:pPr>
            <a:r>
              <a:rPr lang="en-US" sz="3200" dirty="0">
                <a:solidFill>
                  <a:srgbClr val="0070C0"/>
                </a:solidFill>
              </a:rPr>
              <a:t>if (</a:t>
            </a:r>
            <a:r>
              <a:rPr lang="en-US" sz="3200" dirty="0" err="1">
                <a:solidFill>
                  <a:srgbClr val="0070C0"/>
                </a:solidFill>
              </a:rPr>
              <a:t>function_exists</a:t>
            </a:r>
            <a:r>
              <a:rPr lang="en-US" sz="3200" dirty="0">
                <a:solidFill>
                  <a:srgbClr val="0070C0"/>
                </a:solidFill>
              </a:rPr>
              <a:t>("factorial"))</a:t>
            </a:r>
          </a:p>
          <a:p>
            <a:pPr marL="457200" lvl="1" indent="0">
              <a:buNone/>
            </a:pPr>
            <a:r>
              <a:rPr lang="en-US" sz="3200" dirty="0">
                <a:solidFill>
                  <a:srgbClr val="0070C0"/>
                </a:solidFill>
              </a:rPr>
              <a:t>    echo ("&lt;</a:t>
            </a:r>
            <a:r>
              <a:rPr lang="en-US" sz="3200" dirty="0" err="1">
                <a:solidFill>
                  <a:srgbClr val="0070C0"/>
                </a:solidFill>
              </a:rPr>
              <a:t>br</a:t>
            </a:r>
            <a:r>
              <a:rPr lang="en-US" sz="3200" dirty="0">
                <a:solidFill>
                  <a:srgbClr val="0070C0"/>
                </a:solidFill>
              </a:rPr>
              <a:t>&gt;This function exists");</a:t>
            </a:r>
          </a:p>
        </p:txBody>
      </p:sp>
      <p:sp>
        <p:nvSpPr>
          <p:cNvPr id="4" name="Slide Number Placeholder 3"/>
          <p:cNvSpPr>
            <a:spLocks noGrp="1"/>
          </p:cNvSpPr>
          <p:nvPr>
            <p:ph type="sldNum" idx="12"/>
          </p:nvPr>
        </p:nvSpPr>
        <p:spPr/>
        <p:txBody>
          <a:bodyPr/>
          <a:lstStyle/>
          <a:p>
            <a:pPr>
              <a:defRPr/>
            </a:pPr>
            <a:fld id="{0826631B-767C-471C-94C9-7882A1E965AC}" type="slidenum">
              <a:rPr lang="en-US" smtClean="0"/>
              <a:pPr>
                <a:defRPr/>
              </a:pPr>
              <a:t>49</a:t>
            </a:fld>
            <a:endParaRPr lang="en-US"/>
          </a:p>
        </p:txBody>
      </p:sp>
    </p:spTree>
    <p:extLst>
      <p:ext uri="{BB962C8B-B14F-4D97-AF65-F5344CB8AC3E}">
        <p14:creationId xmlns:p14="http://schemas.microsoft.com/office/powerpoint/2010/main" val="907910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Paths</a:t>
            </a:r>
          </a:p>
        </p:txBody>
      </p:sp>
      <p:sp>
        <p:nvSpPr>
          <p:cNvPr id="3" name="Content Placeholder 2"/>
          <p:cNvSpPr>
            <a:spLocks noGrp="1"/>
          </p:cNvSpPr>
          <p:nvPr>
            <p:ph type="body" idx="1"/>
          </p:nvPr>
        </p:nvSpPr>
        <p:spPr/>
        <p:txBody>
          <a:bodyPr>
            <a:normAutofit fontScale="92500" lnSpcReduction="10000"/>
          </a:bodyPr>
          <a:lstStyle/>
          <a:p>
            <a:r>
              <a:rPr lang="en-US" altLang="en-US" sz="3200" dirty="0"/>
              <a:t>There are a few things that all developers should consider when including files. If you develop your website on your local machine and you define the full path of the included files, you may run into problems on the live server if your paths are different. </a:t>
            </a:r>
          </a:p>
          <a:p>
            <a:r>
              <a:rPr lang="en-US" altLang="en-US" sz="3200" dirty="0"/>
              <a:t>For example:</a:t>
            </a:r>
          </a:p>
          <a:p>
            <a:pPr marL="0" indent="0">
              <a:buNone/>
            </a:pPr>
            <a:r>
              <a:rPr lang="en-US" altLang="en-US" sz="3200" dirty="0">
                <a:solidFill>
                  <a:srgbClr val="0070C0"/>
                </a:solidFill>
              </a:rPr>
              <a:t>	</a:t>
            </a:r>
            <a:r>
              <a:rPr lang="en-US" altLang="en-US" sz="3200" dirty="0" err="1">
                <a:solidFill>
                  <a:srgbClr val="0070C0"/>
                </a:solidFill>
              </a:rPr>
              <a:t>require_once</a:t>
            </a:r>
            <a:r>
              <a:rPr lang="en-US" altLang="en-US" sz="3200" dirty="0">
                <a:solidFill>
                  <a:srgbClr val="0070C0"/>
                </a:solidFill>
              </a:rPr>
              <a:t> ("../</a:t>
            </a:r>
            <a:r>
              <a:rPr lang="en-US" altLang="en-US" sz="3200" dirty="0" err="1">
                <a:solidFill>
                  <a:srgbClr val="0070C0"/>
                </a:solidFill>
              </a:rPr>
              <a:t>abc</a:t>
            </a:r>
            <a:r>
              <a:rPr lang="en-US" altLang="en-US" sz="3200" dirty="0">
                <a:solidFill>
                  <a:srgbClr val="0070C0"/>
                </a:solidFill>
              </a:rPr>
              <a:t>/</a:t>
            </a:r>
            <a:r>
              <a:rPr lang="en-US" altLang="en-US" sz="3200" dirty="0" err="1">
                <a:solidFill>
                  <a:srgbClr val="0070C0"/>
                </a:solidFill>
              </a:rPr>
              <a:t>include.php</a:t>
            </a:r>
            <a:r>
              <a:rPr lang="en-US" altLang="en-US" sz="3200" dirty="0">
                <a:solidFill>
                  <a:srgbClr val="0070C0"/>
                </a:solidFill>
              </a:rPr>
              <a:t>");</a:t>
            </a:r>
          </a:p>
          <a:p>
            <a:pPr marL="0" indent="0">
              <a:buNone/>
            </a:pPr>
            <a:r>
              <a:rPr lang="en-US" altLang="en-US" sz="3200">
                <a:solidFill>
                  <a:srgbClr val="0070C0"/>
                </a:solidFill>
              </a:rPr>
              <a:t>../</a:t>
            </a:r>
            <a:r>
              <a:rPr lang="en-US" altLang="en-US" sz="3200"/>
              <a:t> is a </a:t>
            </a:r>
            <a:r>
              <a:rPr lang="en-US" altLang="en-US" sz="3200" dirty="0"/>
              <a:t>relative path to a file in a directory starting from the current directory.</a:t>
            </a:r>
          </a:p>
        </p:txBody>
      </p:sp>
      <p:sp>
        <p:nvSpPr>
          <p:cNvPr id="4" name="Slide Number Placeholder 3"/>
          <p:cNvSpPr>
            <a:spLocks noGrp="1"/>
          </p:cNvSpPr>
          <p:nvPr>
            <p:ph type="sldNum" idx="12"/>
          </p:nvPr>
        </p:nvSpPr>
        <p:spPr/>
        <p:txBody>
          <a:bodyPr/>
          <a:lstStyle/>
          <a:p>
            <a:pPr>
              <a:defRPr/>
            </a:pPr>
            <a:fld id="{0826631B-767C-471C-94C9-7882A1E965AC}" type="slidenum">
              <a:rPr lang="en-US" smtClean="0"/>
              <a:pPr>
                <a:defRPr/>
              </a:pPr>
              <a:t>50</a:t>
            </a:fld>
            <a:endParaRPr lang="en-US"/>
          </a:p>
        </p:txBody>
      </p:sp>
    </p:spTree>
    <p:extLst>
      <p:ext uri="{BB962C8B-B14F-4D97-AF65-F5344CB8AC3E}">
        <p14:creationId xmlns:p14="http://schemas.microsoft.com/office/powerpoint/2010/main" val="426952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3EDF1-041E-D0C5-0E24-27FDC02D009B}"/>
              </a:ext>
            </a:extLst>
          </p:cNvPr>
          <p:cNvSpPr>
            <a:spLocks noGrp="1"/>
          </p:cNvSpPr>
          <p:nvPr>
            <p:ph type="title"/>
          </p:nvPr>
        </p:nvSpPr>
        <p:spPr/>
        <p:txBody>
          <a:bodyPr/>
          <a:lstStyle/>
          <a:p>
            <a:r>
              <a:rPr lang="en-US" dirty="0"/>
              <a:t> </a:t>
            </a:r>
          </a:p>
        </p:txBody>
      </p:sp>
      <p:sp>
        <p:nvSpPr>
          <p:cNvPr id="19459" name="Content Placeholder 2"/>
          <p:cNvSpPr>
            <a:spLocks noGrp="1"/>
          </p:cNvSpPr>
          <p:nvPr>
            <p:ph type="body" idx="1"/>
          </p:nvPr>
        </p:nvSpPr>
        <p:spPr/>
        <p:txBody>
          <a:bodyPr/>
          <a:lstStyle/>
          <a:p>
            <a:pPr marL="0" indent="0" algn="ctr">
              <a:buFont typeface="Wingdings 3" panose="05040102010807070707" pitchFamily="18" charset="2"/>
              <a:buNone/>
            </a:pPr>
            <a:r>
              <a:rPr lang="en-US" altLang="en-US" sz="19900" b="1" dirty="0"/>
              <a:t>END!!</a:t>
            </a:r>
          </a:p>
        </p:txBody>
      </p:sp>
      <p:sp>
        <p:nvSpPr>
          <p:cNvPr id="19460"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753D3251-A80C-46D3-81C8-67A1BE96476E}" type="slidenum">
              <a:rPr lang="en-US" altLang="en-US" sz="1200">
                <a:solidFill>
                  <a:srgbClr val="FEFFFF"/>
                </a:solidFill>
                <a:latin typeface="Tw Cen MT" panose="020B0602020104020603" pitchFamily="34" charset="0"/>
              </a:rPr>
              <a:pPr fontAlgn="base">
                <a:lnSpc>
                  <a:spcPct val="100000"/>
                </a:lnSpc>
                <a:spcBef>
                  <a:spcPct val="0"/>
                </a:spcBef>
                <a:spcAft>
                  <a:spcPct val="0"/>
                </a:spcAft>
                <a:buFontTx/>
                <a:buNone/>
              </a:pPr>
              <a:t>51</a:t>
            </a:fld>
            <a:endParaRPr lang="en-US" altLang="en-US" sz="1200">
              <a:solidFill>
                <a:srgbClr val="FEFFFF"/>
              </a:solidFill>
              <a:latin typeface="Tw Cen MT" panose="020B0602020104020603" pitchFamily="34" charset="0"/>
            </a:endParaRPr>
          </a:p>
        </p:txBody>
      </p:sp>
    </p:spTree>
    <p:extLst>
      <p:ext uri="{BB962C8B-B14F-4D97-AF65-F5344CB8AC3E}">
        <p14:creationId xmlns:p14="http://schemas.microsoft.com/office/powerpoint/2010/main" val="103250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randombar(horizontal)">
                                      <p:cBhvr>
                                        <p:cTn id="7" dur="500"/>
                                        <p:tgtEl>
                                          <p:spTgt spid="1945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eme2">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2" id="{D2612592-04CC-4053-9B11-086E32D5ACB5}" vid="{648281CD-C754-4835-96AB-8141A78396C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22425</TotalTime>
  <Words>4853</Words>
  <Application>Microsoft Office PowerPoint</Application>
  <PresentationFormat>Widescreen</PresentationFormat>
  <Paragraphs>526</Paragraphs>
  <Slides>51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51</vt:i4>
      </vt:variant>
    </vt:vector>
  </HeadingPairs>
  <TitlesOfParts>
    <vt:vector size="60" baseType="lpstr">
      <vt:lpstr>Arial</vt:lpstr>
      <vt:lpstr>Calibri</vt:lpstr>
      <vt:lpstr>Consolas</vt:lpstr>
      <vt:lpstr>Popin</vt:lpstr>
      <vt:lpstr>Proxima Nova</vt:lpstr>
      <vt:lpstr>Times New Roman</vt:lpstr>
      <vt:lpstr>Tw Cen MT</vt:lpstr>
      <vt:lpstr>Wingdings 3</vt:lpstr>
      <vt:lpstr>Theme2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vt:lpstr>
      <vt:lpstr>Returning an Array</vt:lpstr>
      <vt:lpstr>Passing By Value</vt:lpstr>
      <vt:lpstr>Passing By Reference</vt:lpstr>
      <vt:lpstr>By reference example</vt:lpstr>
      <vt:lpstr>Default Argument Value</vt:lpstr>
      <vt:lpstr>Scope of Variables</vt:lpstr>
      <vt:lpstr>Global and Local Variables (cont…)</vt:lpstr>
      <vt:lpstr>Using global or GLOBALS</vt:lpstr>
      <vt:lpstr>Variable Scope - Superglobal variables</vt:lpstr>
      <vt:lpstr>Full example</vt:lpstr>
      <vt:lpstr>Recap of Variable Scope</vt:lpstr>
      <vt:lpstr>Including Files in PHP</vt:lpstr>
      <vt:lpstr>The include Statement</vt:lpstr>
      <vt:lpstr>The include Statement (cont…)</vt:lpstr>
      <vt:lpstr>Using include_once</vt:lpstr>
      <vt:lpstr>Using require and require_once</vt:lpstr>
      <vt:lpstr>include vs require</vt:lpstr>
      <vt:lpstr>Check for function existence</vt:lpstr>
      <vt:lpstr>Understanding Paths</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Php &amp; mYSQL</dc:title>
  <dc:creator>JARANE</dc:creator>
  <cp:lastModifiedBy>Yahye Isse</cp:lastModifiedBy>
  <cp:revision>286</cp:revision>
  <dcterms:created xsi:type="dcterms:W3CDTF">2016-02-22T11:17:51Z</dcterms:created>
  <dcterms:modified xsi:type="dcterms:W3CDTF">2026-09-21T13:30:25Z</dcterms:modified>
</cp:coreProperties>
</file>